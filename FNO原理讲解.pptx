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7" r:id="rId22"/>
    <p:sldId id="278" r:id="rId23"/>
    <p:sldId id="279" r:id="rId24"/>
    <p:sldId id="280" r:id="rId25"/>
    <p:sldId id="276" r:id="rId26"/>
    <p:sldId id="282" r:id="rId27"/>
    <p:sldId id="284" r:id="rId28"/>
    <p:sldId id="287" r:id="rId29"/>
    <p:sldId id="289" r:id="rId30"/>
    <p:sldId id="290" r:id="rId3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61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D08071-1BDE-4D68-BC34-A61BBA3F7470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F21204-56C5-4544-A125-5A4C60D45E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83810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物理学的说法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F21204-56C5-4544-A125-5A4C60D45EF2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66205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维度的名字来自图片数据，算是</a:t>
            </a:r>
            <a:r>
              <a:rPr lang="en-US" altLang="zh-CN" dirty="0"/>
              <a:t>AI</a:t>
            </a:r>
            <a:r>
              <a:rPr lang="zh-CN" altLang="en-US" dirty="0"/>
              <a:t>的传统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F21204-56C5-4544-A125-5A4C60D45EF2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33363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维度的名字来自图片数据，算是</a:t>
            </a:r>
            <a:r>
              <a:rPr lang="en-US" altLang="zh-CN" dirty="0"/>
              <a:t>AI</a:t>
            </a:r>
            <a:r>
              <a:rPr lang="zh-CN" altLang="en-US" dirty="0"/>
              <a:t>的传统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F21204-56C5-4544-A125-5A4C60D45EF2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72565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维度的名字来自图片数据，算是</a:t>
            </a:r>
            <a:r>
              <a:rPr lang="en-US" altLang="zh-CN" dirty="0"/>
              <a:t>AI</a:t>
            </a:r>
            <a:r>
              <a:rPr lang="zh-CN" altLang="en-US" dirty="0"/>
              <a:t>的传统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F21204-56C5-4544-A125-5A4C60D45EF2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00559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维度的名字来自图片数据，算是</a:t>
            </a:r>
            <a:r>
              <a:rPr lang="en-US" altLang="zh-CN" dirty="0"/>
              <a:t>AI</a:t>
            </a:r>
            <a:r>
              <a:rPr lang="zh-CN" altLang="en-US" dirty="0"/>
              <a:t>的传统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F21204-56C5-4544-A125-5A4C60D45EF2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26890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维度的名字来自图片数据，算是</a:t>
            </a:r>
            <a:r>
              <a:rPr lang="en-US" altLang="zh-CN" dirty="0"/>
              <a:t>AI</a:t>
            </a:r>
            <a:r>
              <a:rPr lang="zh-CN" altLang="en-US" dirty="0"/>
              <a:t>的传统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F21204-56C5-4544-A125-5A4C60D45EF2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36200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维度的名字来自图片数据，算是</a:t>
            </a:r>
            <a:r>
              <a:rPr lang="en-US" altLang="zh-CN" dirty="0"/>
              <a:t>AI</a:t>
            </a:r>
            <a:r>
              <a:rPr lang="zh-CN" altLang="en-US" dirty="0"/>
              <a:t>的传统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F21204-56C5-4544-A125-5A4C60D45EF2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88172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维度的名字来自图片数据，算是</a:t>
            </a:r>
            <a:r>
              <a:rPr lang="en-US" altLang="zh-CN" dirty="0"/>
              <a:t>AI</a:t>
            </a:r>
            <a:r>
              <a:rPr lang="zh-CN" altLang="en-US" dirty="0"/>
              <a:t>的传统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F21204-56C5-4544-A125-5A4C60D45EF2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28292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维度的名字来自图片数据，算是</a:t>
            </a:r>
            <a:r>
              <a:rPr lang="en-US" altLang="zh-CN" dirty="0"/>
              <a:t>AI</a:t>
            </a:r>
            <a:r>
              <a:rPr lang="zh-CN" altLang="en-US" dirty="0"/>
              <a:t>的传统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F21204-56C5-4544-A125-5A4C60D45EF2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9245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维度的名字来自图片数据，算是</a:t>
            </a:r>
            <a:r>
              <a:rPr lang="en-US" altLang="zh-CN" dirty="0"/>
              <a:t>AI</a:t>
            </a:r>
            <a:r>
              <a:rPr lang="zh-CN" altLang="en-US" dirty="0"/>
              <a:t>的传统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F21204-56C5-4544-A125-5A4C60D45EF2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64447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维度的名字来自图片数据，算是</a:t>
            </a:r>
            <a:r>
              <a:rPr lang="en-US" altLang="zh-CN" dirty="0"/>
              <a:t>AI</a:t>
            </a:r>
            <a:r>
              <a:rPr lang="zh-CN" altLang="en-US" dirty="0"/>
              <a:t>的传统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F21204-56C5-4544-A125-5A4C60D45EF2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058012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维度的名字来自图片数据，算是</a:t>
            </a:r>
            <a:r>
              <a:rPr lang="en-US" altLang="zh-CN" dirty="0"/>
              <a:t>AI</a:t>
            </a:r>
            <a:r>
              <a:rPr lang="zh-CN" altLang="en-US" dirty="0"/>
              <a:t>的传统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F21204-56C5-4544-A125-5A4C60D45EF2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840377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维度的名字来自图片数据，算是</a:t>
            </a:r>
            <a:r>
              <a:rPr lang="en-US" altLang="zh-CN" dirty="0"/>
              <a:t>AI</a:t>
            </a:r>
            <a:r>
              <a:rPr lang="zh-CN" altLang="en-US" dirty="0"/>
              <a:t>的传统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F21204-56C5-4544-A125-5A4C60D45EF2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932279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维度的名字来自图片数据，算是</a:t>
            </a:r>
            <a:r>
              <a:rPr lang="en-US" altLang="zh-CN" dirty="0"/>
              <a:t>AI</a:t>
            </a:r>
            <a:r>
              <a:rPr lang="zh-CN" altLang="en-US" dirty="0"/>
              <a:t>的传统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F21204-56C5-4544-A125-5A4C60D45EF2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946390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维度的名字来自图片数据，算是</a:t>
            </a:r>
            <a:r>
              <a:rPr lang="en-US" altLang="zh-CN" dirty="0"/>
              <a:t>AI</a:t>
            </a:r>
            <a:r>
              <a:rPr lang="zh-CN" altLang="en-US" dirty="0"/>
              <a:t>的传统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F21204-56C5-4544-A125-5A4C60D45EF2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176965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维度的名字来自图片数据，算是</a:t>
            </a:r>
            <a:r>
              <a:rPr lang="en-US" altLang="zh-CN" dirty="0"/>
              <a:t>AI</a:t>
            </a:r>
            <a:r>
              <a:rPr lang="zh-CN" altLang="en-US" dirty="0"/>
              <a:t>的传统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F21204-56C5-4544-A125-5A4C60D45EF2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858924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维度的名字来自图片数据，算是</a:t>
            </a:r>
            <a:r>
              <a:rPr lang="en-US" altLang="zh-CN" dirty="0"/>
              <a:t>AI</a:t>
            </a:r>
            <a:r>
              <a:rPr lang="zh-CN" altLang="en-US" dirty="0"/>
              <a:t>的传统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F21204-56C5-4544-A125-5A4C60D45EF2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102302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维度的名字来自图片数据，算是</a:t>
            </a:r>
            <a:r>
              <a:rPr lang="en-US" altLang="zh-CN" dirty="0"/>
              <a:t>AI</a:t>
            </a:r>
            <a:r>
              <a:rPr lang="zh-CN" altLang="en-US" dirty="0"/>
              <a:t>的传统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F21204-56C5-4544-A125-5A4C60D45EF2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214274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维度的名字来自图片数据，算是</a:t>
            </a:r>
            <a:r>
              <a:rPr lang="en-US" altLang="zh-CN" dirty="0"/>
              <a:t>AI</a:t>
            </a:r>
            <a:r>
              <a:rPr lang="zh-CN" altLang="en-US" dirty="0"/>
              <a:t>的传统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F21204-56C5-4544-A125-5A4C60D45EF2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419295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维度的名字来自图片数据，算是</a:t>
            </a:r>
            <a:r>
              <a:rPr lang="en-US" altLang="zh-CN" dirty="0"/>
              <a:t>AI</a:t>
            </a:r>
            <a:r>
              <a:rPr lang="zh-CN" altLang="en-US" dirty="0"/>
              <a:t>的传统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F21204-56C5-4544-A125-5A4C60D45EF2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357348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维度的名字来自图片数据，算是</a:t>
            </a:r>
            <a:r>
              <a:rPr lang="en-US" altLang="zh-CN" dirty="0"/>
              <a:t>AI</a:t>
            </a:r>
            <a:r>
              <a:rPr lang="zh-CN" altLang="en-US" dirty="0"/>
              <a:t>的传统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F21204-56C5-4544-A125-5A4C60D45EF2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577234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维度的名字来自图片数据，算是</a:t>
            </a:r>
            <a:r>
              <a:rPr lang="en-US" altLang="zh-CN" dirty="0"/>
              <a:t>AI</a:t>
            </a:r>
            <a:r>
              <a:rPr lang="zh-CN" altLang="en-US" dirty="0"/>
              <a:t>的传统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F21204-56C5-4544-A125-5A4C60D45EF2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455142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维度的名字来自图片数据，算是</a:t>
            </a:r>
            <a:r>
              <a:rPr lang="en-US" altLang="zh-CN" dirty="0"/>
              <a:t>AI</a:t>
            </a:r>
            <a:r>
              <a:rPr lang="zh-CN" altLang="en-US" dirty="0"/>
              <a:t>的传统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F21204-56C5-4544-A125-5A4C60D45EF2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442307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维度的名字来自图片数据，算是</a:t>
            </a:r>
            <a:r>
              <a:rPr lang="en-US" altLang="zh-CN" dirty="0"/>
              <a:t>AI</a:t>
            </a:r>
            <a:r>
              <a:rPr lang="zh-CN" altLang="en-US" dirty="0"/>
              <a:t>的传统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F21204-56C5-4544-A125-5A4C60D45EF2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848507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维度的名字来自图片数据，算是</a:t>
            </a:r>
            <a:r>
              <a:rPr lang="en-US" altLang="zh-CN" dirty="0"/>
              <a:t>AI</a:t>
            </a:r>
            <a:r>
              <a:rPr lang="zh-CN" altLang="en-US" dirty="0"/>
              <a:t>的传统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F21204-56C5-4544-A125-5A4C60D45EF2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949159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维度的名字来自图片数据，算是</a:t>
            </a:r>
            <a:r>
              <a:rPr lang="en-US" altLang="zh-CN" dirty="0"/>
              <a:t>AI</a:t>
            </a:r>
            <a:r>
              <a:rPr lang="zh-CN" altLang="en-US" dirty="0"/>
              <a:t>的传统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F21204-56C5-4544-A125-5A4C60D45EF2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760392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维度的名字来自图片数据，算是</a:t>
            </a:r>
            <a:r>
              <a:rPr lang="en-US" altLang="zh-CN" dirty="0"/>
              <a:t>AI</a:t>
            </a:r>
            <a:r>
              <a:rPr lang="zh-CN" altLang="en-US" dirty="0"/>
              <a:t>的传统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F21204-56C5-4544-A125-5A4C60D45EF2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41987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FBA78F-E2D2-49CF-BD85-4ED48C6808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AAE4E3A-C20E-4BDD-A094-63D230E394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0F4F827-F945-404F-B01B-6F8000A90A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1781F-4AB4-4FD3-9B1E-07560239941A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ADBCF43-C368-4F2B-9AFA-1BF6A58678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8BA5D72-BB7E-4C2E-9261-193E2076D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CBB7D-83E0-4AB6-A398-9DD1AB89ED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29828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4CFBED-A506-472E-B50A-0598BAE69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631A824-A243-48BE-9353-CB455E545F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06B3B8A-9136-4F0F-BFE9-360D5F7D05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1781F-4AB4-4FD3-9B1E-07560239941A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7DA3A52-F103-4222-B73A-34913B2E1E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8078328-F352-4DC1-8A86-3D50831B5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CBB7D-83E0-4AB6-A398-9DD1AB89ED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97536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715F04-FF7F-4364-8AA8-DFD703F14A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F4FCB85-4A86-489D-AE72-E8EC468BA2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003C09D-48C1-400A-9D9B-C4AB98127C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1781F-4AB4-4FD3-9B1E-07560239941A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EB3BC87-BA7C-426F-BE56-FC368E022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0B6FED1-8C2B-4495-A42F-67BE12A9A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CBB7D-83E0-4AB6-A398-9DD1AB89ED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17493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6B15B2-5F9D-4039-B952-D6A1C4DD2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1AA3B8-D5A4-414D-8480-9F454DD082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7CA8EA5-6D0B-410A-9C5F-0689386517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29E19F9-1CEF-454D-A011-0D9860F245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1781F-4AB4-4FD3-9B1E-07560239941A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0C565A3-FC31-48BC-87DF-C7DC18900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F434F0B-CABF-4F14-B492-15475345E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CBB7D-83E0-4AB6-A398-9DD1AB89ED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92864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75FBCE-57A5-4069-8EB8-8F7E3F30DC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0E9D54F-3465-4266-9E29-6866ABC675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B521C2F-596E-4F8A-9ACF-D75623E048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9629A31-5EB1-4C80-9A1E-347C5A4A17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56FD660-CD92-4E88-8CEC-BA85B09B50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9D29977-C8C3-45AA-91CD-CD78952455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1781F-4AB4-4FD3-9B1E-07560239941A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A7AC6A8-FB2A-4F89-93E9-41A0A4A3E2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29F26AE-3CF9-4906-9E18-21F4D6E8E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CBB7D-83E0-4AB6-A398-9DD1AB89ED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26685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96D8B8-455B-48ED-9865-519CFF3912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94F18CC-659C-4B9F-B623-DC5ECBCBE7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1781F-4AB4-4FD3-9B1E-07560239941A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26F41FD-9F8A-4803-963C-2C475FBBA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11CD828-3070-450A-A856-6FB2F45BE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CBB7D-83E0-4AB6-A398-9DD1AB89ED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76902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601FE6F-FC13-46AD-870F-BCB06D5BED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1781F-4AB4-4FD3-9B1E-07560239941A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949B521-0BC7-415D-AB2D-AA606EC01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A7C12E-A70D-4649-9D84-B654CC2DF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CBB7D-83E0-4AB6-A398-9DD1AB89ED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02567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4B44DA-2726-4792-A86C-7661A5A18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D13FC09-2F7B-4AD4-90D2-5C473928D7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DD48FFB-CA34-4C39-9FDF-BD2D3AC1BF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DBE8D4F-526A-4383-8C1D-C2617BC5AD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1781F-4AB4-4FD3-9B1E-07560239941A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FD6F395-1345-4C3B-98FC-DBCA67673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DDAB785-EA16-4B1B-A451-E6873F9BC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CBB7D-83E0-4AB6-A398-9DD1AB89ED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16945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45E581-8458-4894-9C6F-3CC71083BE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0890A5A-E952-42A5-AA51-B8E5AE65EC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2001E47-5F30-41C9-A489-7FD08E21C5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FDDFBF5-830A-46D0-9523-7B62F718D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1781F-4AB4-4FD3-9B1E-07560239941A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43AB235-E581-4C32-9CC3-9D90A0268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2D645F4-1B15-4AF6-AC89-97EA7F98FC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CBB7D-83E0-4AB6-A398-9DD1AB89ED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56098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13ED29-D081-4D84-A5A4-DCBCC2958E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25D7DD5-BFE0-420F-AD24-C3577FAB03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7A5090A-E6DC-4700-ABA0-D0DE0F69FA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1781F-4AB4-4FD3-9B1E-07560239941A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C5D3FD7-BE68-4872-8C69-FE49AC2EA1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3F17BE6-D62A-492B-9BB2-9C985E337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CBB7D-83E0-4AB6-A398-9DD1AB89ED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38517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CDFB5C1-17BD-4471-8014-A92AE7A7F3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626C6A8-2DC8-4F47-975D-1A85D51B94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09032AF-8F35-486C-BCBD-76FB524E3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1781F-4AB4-4FD3-9B1E-07560239941A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FA02774-5E5E-416E-A91F-0033E0E84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BD7B102-AC24-4AFC-9A09-72B68B747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CBB7D-83E0-4AB6-A398-9DD1AB89ED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83129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15AD7C8-428C-4762-A91E-B6E194CFED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8B0BF10-026D-4822-B5C4-2907CC4DE0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1A28F95-0E65-4029-97BE-E4C3CC033B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91781F-4AB4-4FD3-9B1E-07560239941A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B57C898-2457-4D4C-984D-E70F0166F0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0C10F41-6127-4120-8ED1-C24F239260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4CBB7D-83E0-4AB6-A398-9DD1AB89ED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05199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AD8ED8AA-956F-4513-BEFE-B522C3C504C2}"/>
              </a:ext>
            </a:extLst>
          </p:cNvPr>
          <p:cNvSpPr txBox="1"/>
          <p:nvPr/>
        </p:nvSpPr>
        <p:spPr>
          <a:xfrm>
            <a:off x="4251365" y="1941615"/>
            <a:ext cx="43641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b="1" dirty="0"/>
              <a:t>FNO </a:t>
            </a:r>
            <a:r>
              <a:rPr lang="zh-CN" altLang="en-US" sz="3600" b="1" dirty="0"/>
              <a:t>原理详解</a:t>
            </a:r>
          </a:p>
        </p:txBody>
      </p:sp>
    </p:spTree>
    <p:extLst>
      <p:ext uri="{BB962C8B-B14F-4D97-AF65-F5344CB8AC3E}">
        <p14:creationId xmlns:p14="http://schemas.microsoft.com/office/powerpoint/2010/main" val="3438683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B106840B-AF03-49F7-B778-3DC70955B1D8}"/>
              </a:ext>
            </a:extLst>
          </p:cNvPr>
          <p:cNvSpPr txBox="1"/>
          <p:nvPr/>
        </p:nvSpPr>
        <p:spPr>
          <a:xfrm>
            <a:off x="225631" y="95003"/>
            <a:ext cx="49698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输入的形状 </a:t>
            </a:r>
            <a:r>
              <a:rPr lang="en-US" altLang="zh-CN" sz="2400" b="1" dirty="0"/>
              <a:t>-- 2D</a:t>
            </a:r>
            <a:r>
              <a:rPr lang="zh-CN" altLang="en-US" sz="2400" b="1" dirty="0"/>
              <a:t>数据为例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6B697F26-0B99-42AF-9A8E-EBF8859CD28E}"/>
              </a:ext>
            </a:extLst>
          </p:cNvPr>
          <p:cNvSpPr/>
          <p:nvPr/>
        </p:nvSpPr>
        <p:spPr>
          <a:xfrm>
            <a:off x="1645946" y="1758286"/>
            <a:ext cx="3716976" cy="3443844"/>
          </a:xfrm>
          <a:prstGeom prst="rect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C49C1734-87BD-4447-8EB4-937D566312B7}"/>
              </a:ext>
            </a:extLst>
          </p:cNvPr>
          <p:cNvCxnSpPr>
            <a:cxnSpLocks/>
          </p:cNvCxnSpPr>
          <p:nvPr/>
        </p:nvCxnSpPr>
        <p:spPr>
          <a:xfrm flipV="1">
            <a:off x="1645946" y="1105226"/>
            <a:ext cx="0" cy="4090968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D87431DB-B9CF-4192-BC50-EC6D7072608F}"/>
              </a:ext>
            </a:extLst>
          </p:cNvPr>
          <p:cNvCxnSpPr>
            <a:cxnSpLocks/>
          </p:cNvCxnSpPr>
          <p:nvPr/>
        </p:nvCxnSpPr>
        <p:spPr>
          <a:xfrm>
            <a:off x="1645946" y="5196193"/>
            <a:ext cx="4260944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>
            <a:extLst>
              <a:ext uri="{FF2B5EF4-FFF2-40B4-BE49-F238E27FC236}">
                <a16:creationId xmlns:a16="http://schemas.microsoft.com/office/drawing/2014/main" id="{BAF70185-B5DA-4442-9EB7-45B6D2611CDE}"/>
              </a:ext>
            </a:extLst>
          </p:cNvPr>
          <p:cNvSpPr txBox="1"/>
          <p:nvPr/>
        </p:nvSpPr>
        <p:spPr>
          <a:xfrm>
            <a:off x="1382587" y="5073358"/>
            <a:ext cx="1755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o</a:t>
            </a:r>
            <a:endParaRPr lang="zh-CN" alt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2438A434-868D-4323-BD8A-0EFA3CA47E89}"/>
                  </a:ext>
                </a:extLst>
              </p:cNvPr>
              <p:cNvSpPr txBox="1"/>
              <p:nvPr/>
            </p:nvSpPr>
            <p:spPr>
              <a:xfrm>
                <a:off x="4811375" y="5190254"/>
                <a:ext cx="10096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N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2438A434-868D-4323-BD8A-0EFA3CA47E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1375" y="5190254"/>
                <a:ext cx="1009650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F5A8C198-1825-4374-88C0-CB22EBEDDDF2}"/>
                  </a:ext>
                </a:extLst>
              </p:cNvPr>
              <p:cNvSpPr txBox="1"/>
              <p:nvPr/>
            </p:nvSpPr>
            <p:spPr>
              <a:xfrm>
                <a:off x="742070" y="1573620"/>
                <a:ext cx="10096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N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F5A8C198-1825-4374-88C0-CB22EBEDDD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070" y="1573620"/>
                <a:ext cx="1009650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4" name="表格 22">
            <a:extLst>
              <a:ext uri="{FF2B5EF4-FFF2-40B4-BE49-F238E27FC236}">
                <a16:creationId xmlns:a16="http://schemas.microsoft.com/office/drawing/2014/main" id="{71144A94-B3D0-4FA0-B53B-AE9BAAFD1678}"/>
              </a:ext>
            </a:extLst>
          </p:cNvPr>
          <p:cNvGraphicFramePr>
            <a:graphicFrameLocks noGrp="1"/>
          </p:cNvGraphicFramePr>
          <p:nvPr/>
        </p:nvGraphicFramePr>
        <p:xfrm>
          <a:off x="1645945" y="4092974"/>
          <a:ext cx="1069026" cy="1097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6342">
                  <a:extLst>
                    <a:ext uri="{9D8B030D-6E8A-4147-A177-3AD203B41FA5}">
                      <a16:colId xmlns:a16="http://schemas.microsoft.com/office/drawing/2014/main" val="3354570174"/>
                    </a:ext>
                  </a:extLst>
                </a:gridCol>
                <a:gridCol w="356342">
                  <a:extLst>
                    <a:ext uri="{9D8B030D-6E8A-4147-A177-3AD203B41FA5}">
                      <a16:colId xmlns:a16="http://schemas.microsoft.com/office/drawing/2014/main" val="1077103598"/>
                    </a:ext>
                  </a:extLst>
                </a:gridCol>
                <a:gridCol w="356342">
                  <a:extLst>
                    <a:ext uri="{9D8B030D-6E8A-4147-A177-3AD203B41FA5}">
                      <a16:colId xmlns:a16="http://schemas.microsoft.com/office/drawing/2014/main" val="51625805"/>
                    </a:ext>
                  </a:extLst>
                </a:gridCol>
              </a:tblGrid>
              <a:tr h="33086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9942591"/>
                  </a:ext>
                </a:extLst>
              </a:tr>
              <a:tr h="33086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28629800"/>
                  </a:ext>
                </a:extLst>
              </a:tr>
              <a:tr h="33086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71160693"/>
                  </a:ext>
                </a:extLst>
              </a:tr>
            </a:tbl>
          </a:graphicData>
        </a:graphic>
      </p:graphicFrame>
      <p:sp>
        <p:nvSpPr>
          <p:cNvPr id="35" name="文本框 34">
            <a:extLst>
              <a:ext uri="{FF2B5EF4-FFF2-40B4-BE49-F238E27FC236}">
                <a16:creationId xmlns:a16="http://schemas.microsoft.com/office/drawing/2014/main" id="{205EA151-58C6-4875-8E83-956F0AC9F3C3}"/>
              </a:ext>
            </a:extLst>
          </p:cNvPr>
          <p:cNvSpPr txBox="1"/>
          <p:nvPr/>
        </p:nvSpPr>
        <p:spPr>
          <a:xfrm>
            <a:off x="2878006" y="4456949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……</a:t>
            </a:r>
            <a:endParaRPr lang="zh-CN" altLang="en-US" b="1" dirty="0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B5B72539-02A9-4BF3-B723-85014AFB9D94}"/>
              </a:ext>
            </a:extLst>
          </p:cNvPr>
          <p:cNvSpPr txBox="1"/>
          <p:nvPr/>
        </p:nvSpPr>
        <p:spPr>
          <a:xfrm rot="5400000">
            <a:off x="1853433" y="3418553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……</a:t>
            </a:r>
            <a:endParaRPr lang="zh-CN" altLang="en-US" b="1" dirty="0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1F4008BA-5A0E-4C49-AFFD-F97A6EABDA09}"/>
              </a:ext>
            </a:extLst>
          </p:cNvPr>
          <p:cNvSpPr txBox="1"/>
          <p:nvPr/>
        </p:nvSpPr>
        <p:spPr>
          <a:xfrm>
            <a:off x="3743113" y="833027"/>
            <a:ext cx="28032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一个二维的</a:t>
            </a:r>
            <a:r>
              <a:rPr lang="zh-CN" altLang="en-US" b="1" dirty="0">
                <a:solidFill>
                  <a:srgbClr val="C00000"/>
                </a:solidFill>
              </a:rPr>
              <a:t>标量场</a:t>
            </a:r>
          </a:p>
        </p:txBody>
      </p:sp>
    </p:spTree>
    <p:extLst>
      <p:ext uri="{BB962C8B-B14F-4D97-AF65-F5344CB8AC3E}">
        <p14:creationId xmlns:p14="http://schemas.microsoft.com/office/powerpoint/2010/main" val="15904835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4ED24700-F340-4D39-9CE1-7D578A0CBF98}"/>
              </a:ext>
            </a:extLst>
          </p:cNvPr>
          <p:cNvSpPr/>
          <p:nvPr/>
        </p:nvSpPr>
        <p:spPr>
          <a:xfrm>
            <a:off x="1884625" y="1506679"/>
            <a:ext cx="3716976" cy="3443844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1F28518-4611-4018-B4D3-7768F90744A8}"/>
              </a:ext>
            </a:extLst>
          </p:cNvPr>
          <p:cNvSpPr/>
          <p:nvPr/>
        </p:nvSpPr>
        <p:spPr>
          <a:xfrm>
            <a:off x="1760359" y="1629514"/>
            <a:ext cx="3716976" cy="3443844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106840B-AF03-49F7-B778-3DC70955B1D8}"/>
              </a:ext>
            </a:extLst>
          </p:cNvPr>
          <p:cNvSpPr txBox="1"/>
          <p:nvPr/>
        </p:nvSpPr>
        <p:spPr>
          <a:xfrm>
            <a:off x="225631" y="95003"/>
            <a:ext cx="49698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输入的形状 </a:t>
            </a:r>
            <a:r>
              <a:rPr lang="en-US" altLang="zh-CN" sz="2400" b="1" dirty="0"/>
              <a:t>-- 2D</a:t>
            </a:r>
            <a:r>
              <a:rPr lang="zh-CN" altLang="en-US" sz="2400" b="1" dirty="0"/>
              <a:t>数据为例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C8FA3E5-7302-4804-BFC2-00416FAD452F}"/>
              </a:ext>
            </a:extLst>
          </p:cNvPr>
          <p:cNvSpPr/>
          <p:nvPr/>
        </p:nvSpPr>
        <p:spPr>
          <a:xfrm>
            <a:off x="1645946" y="1758286"/>
            <a:ext cx="3716976" cy="3443844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1F8DCD36-0B52-460E-A72E-84349B988505}"/>
              </a:ext>
            </a:extLst>
          </p:cNvPr>
          <p:cNvCxnSpPr>
            <a:cxnSpLocks/>
          </p:cNvCxnSpPr>
          <p:nvPr/>
        </p:nvCxnSpPr>
        <p:spPr>
          <a:xfrm flipV="1">
            <a:off x="1645946" y="1105226"/>
            <a:ext cx="0" cy="4090968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D9932113-159C-4FD9-9E7C-AA388F39DE21}"/>
              </a:ext>
            </a:extLst>
          </p:cNvPr>
          <p:cNvCxnSpPr>
            <a:cxnSpLocks/>
          </p:cNvCxnSpPr>
          <p:nvPr/>
        </p:nvCxnSpPr>
        <p:spPr>
          <a:xfrm>
            <a:off x="1645946" y="5196193"/>
            <a:ext cx="4260944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4F247A6F-2F01-445E-AFD2-2B14D053E343}"/>
              </a:ext>
            </a:extLst>
          </p:cNvPr>
          <p:cNvSpPr txBox="1"/>
          <p:nvPr/>
        </p:nvSpPr>
        <p:spPr>
          <a:xfrm>
            <a:off x="1382587" y="5073358"/>
            <a:ext cx="1755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o</a:t>
            </a:r>
            <a:endParaRPr lang="zh-CN" alt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C251B9BE-728F-42B9-A210-2593DA9E5F14}"/>
                  </a:ext>
                </a:extLst>
              </p:cNvPr>
              <p:cNvSpPr txBox="1"/>
              <p:nvPr/>
            </p:nvSpPr>
            <p:spPr>
              <a:xfrm>
                <a:off x="4811375" y="5190254"/>
                <a:ext cx="10096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N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C251B9BE-728F-42B9-A210-2593DA9E5F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1375" y="5190254"/>
                <a:ext cx="1009650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8BB71902-E062-41C1-A679-FDCF7D07337D}"/>
                  </a:ext>
                </a:extLst>
              </p:cNvPr>
              <p:cNvSpPr txBox="1"/>
              <p:nvPr/>
            </p:nvSpPr>
            <p:spPr>
              <a:xfrm>
                <a:off x="742070" y="1573620"/>
                <a:ext cx="10096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N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8BB71902-E062-41C1-A679-FDCF7D0733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070" y="1573620"/>
                <a:ext cx="1009650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2" name="表格 22">
            <a:extLst>
              <a:ext uri="{FF2B5EF4-FFF2-40B4-BE49-F238E27FC236}">
                <a16:creationId xmlns:a16="http://schemas.microsoft.com/office/drawing/2014/main" id="{9B7CC795-15E5-49ED-A069-6F8C40448521}"/>
              </a:ext>
            </a:extLst>
          </p:cNvPr>
          <p:cNvGraphicFramePr>
            <a:graphicFrameLocks noGrp="1"/>
          </p:cNvGraphicFramePr>
          <p:nvPr/>
        </p:nvGraphicFramePr>
        <p:xfrm>
          <a:off x="1645945" y="4092974"/>
          <a:ext cx="1069026" cy="1097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6342">
                  <a:extLst>
                    <a:ext uri="{9D8B030D-6E8A-4147-A177-3AD203B41FA5}">
                      <a16:colId xmlns:a16="http://schemas.microsoft.com/office/drawing/2014/main" val="3354570174"/>
                    </a:ext>
                  </a:extLst>
                </a:gridCol>
                <a:gridCol w="356342">
                  <a:extLst>
                    <a:ext uri="{9D8B030D-6E8A-4147-A177-3AD203B41FA5}">
                      <a16:colId xmlns:a16="http://schemas.microsoft.com/office/drawing/2014/main" val="1077103598"/>
                    </a:ext>
                  </a:extLst>
                </a:gridCol>
                <a:gridCol w="356342">
                  <a:extLst>
                    <a:ext uri="{9D8B030D-6E8A-4147-A177-3AD203B41FA5}">
                      <a16:colId xmlns:a16="http://schemas.microsoft.com/office/drawing/2014/main" val="51625805"/>
                    </a:ext>
                  </a:extLst>
                </a:gridCol>
              </a:tblGrid>
              <a:tr h="33086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9942591"/>
                  </a:ext>
                </a:extLst>
              </a:tr>
              <a:tr h="33086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28629800"/>
                  </a:ext>
                </a:extLst>
              </a:tr>
              <a:tr h="33086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71160693"/>
                  </a:ext>
                </a:extLst>
              </a:tr>
            </a:tbl>
          </a:graphicData>
        </a:graphic>
      </p:graphicFrame>
      <p:sp>
        <p:nvSpPr>
          <p:cNvPr id="23" name="文本框 22">
            <a:extLst>
              <a:ext uri="{FF2B5EF4-FFF2-40B4-BE49-F238E27FC236}">
                <a16:creationId xmlns:a16="http://schemas.microsoft.com/office/drawing/2014/main" id="{B64F9CA6-6C50-4E2F-8086-976405BAE7ED}"/>
              </a:ext>
            </a:extLst>
          </p:cNvPr>
          <p:cNvSpPr txBox="1"/>
          <p:nvPr/>
        </p:nvSpPr>
        <p:spPr>
          <a:xfrm>
            <a:off x="2878006" y="4456949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……</a:t>
            </a:r>
            <a:endParaRPr lang="zh-CN" altLang="en-US" b="1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99BF373F-6AA3-4736-8709-E195743405A5}"/>
              </a:ext>
            </a:extLst>
          </p:cNvPr>
          <p:cNvSpPr txBox="1"/>
          <p:nvPr/>
        </p:nvSpPr>
        <p:spPr>
          <a:xfrm rot="5400000">
            <a:off x="1853433" y="3418553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……</a:t>
            </a:r>
            <a:endParaRPr lang="zh-CN" altLang="en-US" b="1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D3E4B6F-3CA5-4B57-AAC1-BBD7A6238528}"/>
              </a:ext>
            </a:extLst>
          </p:cNvPr>
          <p:cNvSpPr txBox="1"/>
          <p:nvPr/>
        </p:nvSpPr>
        <p:spPr>
          <a:xfrm>
            <a:off x="3743113" y="833027"/>
            <a:ext cx="28032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一个二维的</a:t>
            </a:r>
            <a:r>
              <a:rPr lang="zh-CN" altLang="en-US" b="1" dirty="0">
                <a:solidFill>
                  <a:srgbClr val="C00000"/>
                </a:solidFill>
              </a:rPr>
              <a:t>向量场</a:t>
            </a:r>
          </a:p>
        </p:txBody>
      </p:sp>
    </p:spTree>
    <p:extLst>
      <p:ext uri="{BB962C8B-B14F-4D97-AF65-F5344CB8AC3E}">
        <p14:creationId xmlns:p14="http://schemas.microsoft.com/office/powerpoint/2010/main" val="19460648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4ED24700-F340-4D39-9CE1-7D578A0CBF98}"/>
              </a:ext>
            </a:extLst>
          </p:cNvPr>
          <p:cNvSpPr/>
          <p:nvPr/>
        </p:nvSpPr>
        <p:spPr>
          <a:xfrm>
            <a:off x="1884625" y="1506679"/>
            <a:ext cx="3716976" cy="3443844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1F28518-4611-4018-B4D3-7768F90744A8}"/>
              </a:ext>
            </a:extLst>
          </p:cNvPr>
          <p:cNvSpPr/>
          <p:nvPr/>
        </p:nvSpPr>
        <p:spPr>
          <a:xfrm>
            <a:off x="1760359" y="1629514"/>
            <a:ext cx="3716976" cy="3443844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106840B-AF03-49F7-B778-3DC70955B1D8}"/>
              </a:ext>
            </a:extLst>
          </p:cNvPr>
          <p:cNvSpPr txBox="1"/>
          <p:nvPr/>
        </p:nvSpPr>
        <p:spPr>
          <a:xfrm>
            <a:off x="225631" y="95003"/>
            <a:ext cx="49698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输入的形状 </a:t>
            </a:r>
            <a:r>
              <a:rPr lang="en-US" altLang="zh-CN" sz="2400" b="1" dirty="0"/>
              <a:t>-- 2D</a:t>
            </a:r>
            <a:r>
              <a:rPr lang="zh-CN" altLang="en-US" sz="2400" b="1" dirty="0"/>
              <a:t>数据为例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C8FA3E5-7302-4804-BFC2-00416FAD452F}"/>
              </a:ext>
            </a:extLst>
          </p:cNvPr>
          <p:cNvSpPr/>
          <p:nvPr/>
        </p:nvSpPr>
        <p:spPr>
          <a:xfrm>
            <a:off x="1645946" y="1758286"/>
            <a:ext cx="3716976" cy="3443844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1F8DCD36-0B52-460E-A72E-84349B988505}"/>
              </a:ext>
            </a:extLst>
          </p:cNvPr>
          <p:cNvCxnSpPr>
            <a:cxnSpLocks/>
          </p:cNvCxnSpPr>
          <p:nvPr/>
        </p:nvCxnSpPr>
        <p:spPr>
          <a:xfrm flipV="1">
            <a:off x="1645946" y="1105226"/>
            <a:ext cx="0" cy="4090968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D9932113-159C-4FD9-9E7C-AA388F39DE21}"/>
              </a:ext>
            </a:extLst>
          </p:cNvPr>
          <p:cNvCxnSpPr>
            <a:cxnSpLocks/>
          </p:cNvCxnSpPr>
          <p:nvPr/>
        </p:nvCxnSpPr>
        <p:spPr>
          <a:xfrm>
            <a:off x="1645946" y="5196193"/>
            <a:ext cx="4260944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4F247A6F-2F01-445E-AFD2-2B14D053E343}"/>
              </a:ext>
            </a:extLst>
          </p:cNvPr>
          <p:cNvSpPr txBox="1"/>
          <p:nvPr/>
        </p:nvSpPr>
        <p:spPr>
          <a:xfrm>
            <a:off x="1382587" y="5073358"/>
            <a:ext cx="1755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o</a:t>
            </a:r>
            <a:endParaRPr lang="zh-CN" alt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C251B9BE-728F-42B9-A210-2593DA9E5F14}"/>
                  </a:ext>
                </a:extLst>
              </p:cNvPr>
              <p:cNvSpPr txBox="1"/>
              <p:nvPr/>
            </p:nvSpPr>
            <p:spPr>
              <a:xfrm>
                <a:off x="4811375" y="5190254"/>
                <a:ext cx="10096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N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C251B9BE-728F-42B9-A210-2593DA9E5F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1375" y="5190254"/>
                <a:ext cx="1009650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8BB71902-E062-41C1-A679-FDCF7D07337D}"/>
                  </a:ext>
                </a:extLst>
              </p:cNvPr>
              <p:cNvSpPr txBox="1"/>
              <p:nvPr/>
            </p:nvSpPr>
            <p:spPr>
              <a:xfrm>
                <a:off x="742070" y="1573620"/>
                <a:ext cx="10096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N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8BB71902-E062-41C1-A679-FDCF7D0733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070" y="1573620"/>
                <a:ext cx="1009650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2" name="表格 22">
            <a:extLst>
              <a:ext uri="{FF2B5EF4-FFF2-40B4-BE49-F238E27FC236}">
                <a16:creationId xmlns:a16="http://schemas.microsoft.com/office/drawing/2014/main" id="{9B7CC795-15E5-49ED-A069-6F8C40448521}"/>
              </a:ext>
            </a:extLst>
          </p:cNvPr>
          <p:cNvGraphicFramePr>
            <a:graphicFrameLocks noGrp="1"/>
          </p:cNvGraphicFramePr>
          <p:nvPr/>
        </p:nvGraphicFramePr>
        <p:xfrm>
          <a:off x="1645945" y="4092974"/>
          <a:ext cx="1069026" cy="1097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6342">
                  <a:extLst>
                    <a:ext uri="{9D8B030D-6E8A-4147-A177-3AD203B41FA5}">
                      <a16:colId xmlns:a16="http://schemas.microsoft.com/office/drawing/2014/main" val="3354570174"/>
                    </a:ext>
                  </a:extLst>
                </a:gridCol>
                <a:gridCol w="356342">
                  <a:extLst>
                    <a:ext uri="{9D8B030D-6E8A-4147-A177-3AD203B41FA5}">
                      <a16:colId xmlns:a16="http://schemas.microsoft.com/office/drawing/2014/main" val="1077103598"/>
                    </a:ext>
                  </a:extLst>
                </a:gridCol>
                <a:gridCol w="356342">
                  <a:extLst>
                    <a:ext uri="{9D8B030D-6E8A-4147-A177-3AD203B41FA5}">
                      <a16:colId xmlns:a16="http://schemas.microsoft.com/office/drawing/2014/main" val="51625805"/>
                    </a:ext>
                  </a:extLst>
                </a:gridCol>
              </a:tblGrid>
              <a:tr h="33086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9942591"/>
                  </a:ext>
                </a:extLst>
              </a:tr>
              <a:tr h="33086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28629800"/>
                  </a:ext>
                </a:extLst>
              </a:tr>
              <a:tr h="33086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71160693"/>
                  </a:ext>
                </a:extLst>
              </a:tr>
            </a:tbl>
          </a:graphicData>
        </a:graphic>
      </p:graphicFrame>
      <p:sp>
        <p:nvSpPr>
          <p:cNvPr id="23" name="文本框 22">
            <a:extLst>
              <a:ext uri="{FF2B5EF4-FFF2-40B4-BE49-F238E27FC236}">
                <a16:creationId xmlns:a16="http://schemas.microsoft.com/office/drawing/2014/main" id="{B64F9CA6-6C50-4E2F-8086-976405BAE7ED}"/>
              </a:ext>
            </a:extLst>
          </p:cNvPr>
          <p:cNvSpPr txBox="1"/>
          <p:nvPr/>
        </p:nvSpPr>
        <p:spPr>
          <a:xfrm>
            <a:off x="2878006" y="4456949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……</a:t>
            </a:r>
            <a:endParaRPr lang="zh-CN" altLang="en-US" b="1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99BF373F-6AA3-4736-8709-E195743405A5}"/>
              </a:ext>
            </a:extLst>
          </p:cNvPr>
          <p:cNvSpPr txBox="1"/>
          <p:nvPr/>
        </p:nvSpPr>
        <p:spPr>
          <a:xfrm rot="5400000">
            <a:off x="1853433" y="3418553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……</a:t>
            </a:r>
            <a:endParaRPr lang="zh-CN" altLang="en-US" b="1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2F399F04-BEAD-4F0F-84D4-139748393597}"/>
              </a:ext>
            </a:extLst>
          </p:cNvPr>
          <p:cNvSpPr txBox="1"/>
          <p:nvPr/>
        </p:nvSpPr>
        <p:spPr>
          <a:xfrm>
            <a:off x="3743113" y="833027"/>
            <a:ext cx="28032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一个二维的</a:t>
            </a:r>
            <a:r>
              <a:rPr lang="zh-CN" altLang="en-US" b="1" dirty="0">
                <a:solidFill>
                  <a:srgbClr val="C00000"/>
                </a:solidFill>
              </a:rPr>
              <a:t>向量场</a:t>
            </a:r>
          </a:p>
        </p:txBody>
      </p:sp>
      <p:sp>
        <p:nvSpPr>
          <p:cNvPr id="2" name="立方体 1">
            <a:extLst>
              <a:ext uri="{FF2B5EF4-FFF2-40B4-BE49-F238E27FC236}">
                <a16:creationId xmlns:a16="http://schemas.microsoft.com/office/drawing/2014/main" id="{49389ABB-4D02-41F9-B4C7-2EBCD811359C}"/>
              </a:ext>
            </a:extLst>
          </p:cNvPr>
          <p:cNvSpPr/>
          <p:nvPr/>
        </p:nvSpPr>
        <p:spPr>
          <a:xfrm>
            <a:off x="8436873" y="2236662"/>
            <a:ext cx="2576338" cy="2655485"/>
          </a:xfrm>
          <a:prstGeom prst="cub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40653B0-C0EB-46AE-8EC2-4A8D23CB7726}"/>
              </a:ext>
            </a:extLst>
          </p:cNvPr>
          <p:cNvSpPr txBox="1"/>
          <p:nvPr/>
        </p:nvSpPr>
        <p:spPr>
          <a:xfrm>
            <a:off x="7185348" y="3564404"/>
            <a:ext cx="14140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空间维度</a:t>
            </a:r>
            <a:r>
              <a:rPr lang="en-US" altLang="zh-CN" b="1" dirty="0"/>
              <a:t>2</a:t>
            </a:r>
          </a:p>
          <a:p>
            <a:r>
              <a:rPr lang="en-US" altLang="zh-CN" b="1" dirty="0"/>
              <a:t>        y</a:t>
            </a:r>
            <a:endParaRPr lang="zh-CN" altLang="en-US" b="1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2FD4A8D-D5EC-46A5-98F6-3EC490F1832E}"/>
              </a:ext>
            </a:extLst>
          </p:cNvPr>
          <p:cNvSpPr txBox="1"/>
          <p:nvPr/>
        </p:nvSpPr>
        <p:spPr>
          <a:xfrm>
            <a:off x="10546054" y="2558917"/>
            <a:ext cx="13103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属性维度</a:t>
            </a:r>
          </a:p>
        </p:txBody>
      </p:sp>
      <p:sp>
        <p:nvSpPr>
          <p:cNvPr id="10" name="箭头: 右 9">
            <a:extLst>
              <a:ext uri="{FF2B5EF4-FFF2-40B4-BE49-F238E27FC236}">
                <a16:creationId xmlns:a16="http://schemas.microsoft.com/office/drawing/2014/main" id="{74590314-41A3-4BE4-9079-B73A50A0BC66}"/>
              </a:ext>
            </a:extLst>
          </p:cNvPr>
          <p:cNvSpPr/>
          <p:nvPr/>
        </p:nvSpPr>
        <p:spPr>
          <a:xfrm>
            <a:off x="5840279" y="3603219"/>
            <a:ext cx="1106391" cy="3693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13C625C-FBB6-4547-B987-12C9E30AD183}"/>
              </a:ext>
            </a:extLst>
          </p:cNvPr>
          <p:cNvSpPr txBox="1"/>
          <p:nvPr/>
        </p:nvSpPr>
        <p:spPr>
          <a:xfrm>
            <a:off x="8919429" y="5102923"/>
            <a:ext cx="14140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空间维度</a:t>
            </a:r>
            <a:r>
              <a:rPr lang="en-US" altLang="zh-CN" b="1" dirty="0"/>
              <a:t>1</a:t>
            </a:r>
          </a:p>
          <a:p>
            <a:r>
              <a:rPr lang="en-US" altLang="zh-CN" b="1" dirty="0"/>
              <a:t>        x</a:t>
            </a:r>
            <a:endParaRPr lang="zh-CN" altLang="en-US" b="1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4F3E7C8-7C2C-40C6-8E8A-51541DA8B8A6}"/>
              </a:ext>
            </a:extLst>
          </p:cNvPr>
          <p:cNvSpPr txBox="1"/>
          <p:nvPr/>
        </p:nvSpPr>
        <p:spPr>
          <a:xfrm>
            <a:off x="9250263" y="1388954"/>
            <a:ext cx="1608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物理的叫法</a:t>
            </a:r>
          </a:p>
        </p:txBody>
      </p:sp>
    </p:spTree>
    <p:extLst>
      <p:ext uri="{BB962C8B-B14F-4D97-AF65-F5344CB8AC3E}">
        <p14:creationId xmlns:p14="http://schemas.microsoft.com/office/powerpoint/2010/main" val="35224085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4ED24700-F340-4D39-9CE1-7D578A0CBF98}"/>
              </a:ext>
            </a:extLst>
          </p:cNvPr>
          <p:cNvSpPr/>
          <p:nvPr/>
        </p:nvSpPr>
        <p:spPr>
          <a:xfrm>
            <a:off x="1884625" y="1506679"/>
            <a:ext cx="3716976" cy="3443844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1F28518-4611-4018-B4D3-7768F90744A8}"/>
              </a:ext>
            </a:extLst>
          </p:cNvPr>
          <p:cNvSpPr/>
          <p:nvPr/>
        </p:nvSpPr>
        <p:spPr>
          <a:xfrm>
            <a:off x="1760359" y="1629514"/>
            <a:ext cx="3716976" cy="3443844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106840B-AF03-49F7-B778-3DC70955B1D8}"/>
              </a:ext>
            </a:extLst>
          </p:cNvPr>
          <p:cNvSpPr txBox="1"/>
          <p:nvPr/>
        </p:nvSpPr>
        <p:spPr>
          <a:xfrm>
            <a:off x="225631" y="95003"/>
            <a:ext cx="49698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输入的形状 </a:t>
            </a:r>
            <a:r>
              <a:rPr lang="en-US" altLang="zh-CN" sz="2400" b="1" dirty="0"/>
              <a:t>-- 2D</a:t>
            </a:r>
            <a:r>
              <a:rPr lang="zh-CN" altLang="en-US" sz="2400" b="1" dirty="0"/>
              <a:t>数据为例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C8FA3E5-7302-4804-BFC2-00416FAD452F}"/>
              </a:ext>
            </a:extLst>
          </p:cNvPr>
          <p:cNvSpPr/>
          <p:nvPr/>
        </p:nvSpPr>
        <p:spPr>
          <a:xfrm>
            <a:off x="1645946" y="1758286"/>
            <a:ext cx="3716976" cy="3443844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1F8DCD36-0B52-460E-A72E-84349B988505}"/>
              </a:ext>
            </a:extLst>
          </p:cNvPr>
          <p:cNvCxnSpPr>
            <a:cxnSpLocks/>
          </p:cNvCxnSpPr>
          <p:nvPr/>
        </p:nvCxnSpPr>
        <p:spPr>
          <a:xfrm flipV="1">
            <a:off x="1645946" y="1105226"/>
            <a:ext cx="0" cy="4090968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D9932113-159C-4FD9-9E7C-AA388F39DE21}"/>
              </a:ext>
            </a:extLst>
          </p:cNvPr>
          <p:cNvCxnSpPr>
            <a:cxnSpLocks/>
          </p:cNvCxnSpPr>
          <p:nvPr/>
        </p:nvCxnSpPr>
        <p:spPr>
          <a:xfrm>
            <a:off x="1645946" y="5196193"/>
            <a:ext cx="4260944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4F247A6F-2F01-445E-AFD2-2B14D053E343}"/>
              </a:ext>
            </a:extLst>
          </p:cNvPr>
          <p:cNvSpPr txBox="1"/>
          <p:nvPr/>
        </p:nvSpPr>
        <p:spPr>
          <a:xfrm>
            <a:off x="1382587" y="5073358"/>
            <a:ext cx="1755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o</a:t>
            </a:r>
            <a:endParaRPr lang="zh-CN" alt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C251B9BE-728F-42B9-A210-2593DA9E5F14}"/>
                  </a:ext>
                </a:extLst>
              </p:cNvPr>
              <p:cNvSpPr txBox="1"/>
              <p:nvPr/>
            </p:nvSpPr>
            <p:spPr>
              <a:xfrm>
                <a:off x="4811375" y="5190254"/>
                <a:ext cx="10096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N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C251B9BE-728F-42B9-A210-2593DA9E5F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1375" y="5190254"/>
                <a:ext cx="1009650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8BB71902-E062-41C1-A679-FDCF7D07337D}"/>
                  </a:ext>
                </a:extLst>
              </p:cNvPr>
              <p:cNvSpPr txBox="1"/>
              <p:nvPr/>
            </p:nvSpPr>
            <p:spPr>
              <a:xfrm>
                <a:off x="742070" y="1573620"/>
                <a:ext cx="10096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N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8BB71902-E062-41C1-A679-FDCF7D0733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070" y="1573620"/>
                <a:ext cx="1009650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2" name="表格 22">
            <a:extLst>
              <a:ext uri="{FF2B5EF4-FFF2-40B4-BE49-F238E27FC236}">
                <a16:creationId xmlns:a16="http://schemas.microsoft.com/office/drawing/2014/main" id="{9B7CC795-15E5-49ED-A069-6F8C40448521}"/>
              </a:ext>
            </a:extLst>
          </p:cNvPr>
          <p:cNvGraphicFramePr>
            <a:graphicFrameLocks noGrp="1"/>
          </p:cNvGraphicFramePr>
          <p:nvPr/>
        </p:nvGraphicFramePr>
        <p:xfrm>
          <a:off x="1645945" y="4092974"/>
          <a:ext cx="1069026" cy="1097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6342">
                  <a:extLst>
                    <a:ext uri="{9D8B030D-6E8A-4147-A177-3AD203B41FA5}">
                      <a16:colId xmlns:a16="http://schemas.microsoft.com/office/drawing/2014/main" val="3354570174"/>
                    </a:ext>
                  </a:extLst>
                </a:gridCol>
                <a:gridCol w="356342">
                  <a:extLst>
                    <a:ext uri="{9D8B030D-6E8A-4147-A177-3AD203B41FA5}">
                      <a16:colId xmlns:a16="http://schemas.microsoft.com/office/drawing/2014/main" val="1077103598"/>
                    </a:ext>
                  </a:extLst>
                </a:gridCol>
                <a:gridCol w="356342">
                  <a:extLst>
                    <a:ext uri="{9D8B030D-6E8A-4147-A177-3AD203B41FA5}">
                      <a16:colId xmlns:a16="http://schemas.microsoft.com/office/drawing/2014/main" val="51625805"/>
                    </a:ext>
                  </a:extLst>
                </a:gridCol>
              </a:tblGrid>
              <a:tr h="33086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9942591"/>
                  </a:ext>
                </a:extLst>
              </a:tr>
              <a:tr h="33086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28629800"/>
                  </a:ext>
                </a:extLst>
              </a:tr>
              <a:tr h="33086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71160693"/>
                  </a:ext>
                </a:extLst>
              </a:tr>
            </a:tbl>
          </a:graphicData>
        </a:graphic>
      </p:graphicFrame>
      <p:sp>
        <p:nvSpPr>
          <p:cNvPr id="23" name="文本框 22">
            <a:extLst>
              <a:ext uri="{FF2B5EF4-FFF2-40B4-BE49-F238E27FC236}">
                <a16:creationId xmlns:a16="http://schemas.microsoft.com/office/drawing/2014/main" id="{B64F9CA6-6C50-4E2F-8086-976405BAE7ED}"/>
              </a:ext>
            </a:extLst>
          </p:cNvPr>
          <p:cNvSpPr txBox="1"/>
          <p:nvPr/>
        </p:nvSpPr>
        <p:spPr>
          <a:xfrm>
            <a:off x="2878006" y="4456949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……</a:t>
            </a:r>
            <a:endParaRPr lang="zh-CN" altLang="en-US" b="1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99BF373F-6AA3-4736-8709-E195743405A5}"/>
              </a:ext>
            </a:extLst>
          </p:cNvPr>
          <p:cNvSpPr txBox="1"/>
          <p:nvPr/>
        </p:nvSpPr>
        <p:spPr>
          <a:xfrm rot="5400000">
            <a:off x="1853433" y="3418553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……</a:t>
            </a:r>
            <a:endParaRPr lang="zh-CN" altLang="en-US" b="1" dirty="0"/>
          </a:p>
        </p:txBody>
      </p:sp>
      <p:sp>
        <p:nvSpPr>
          <p:cNvPr id="2" name="立方体 1">
            <a:extLst>
              <a:ext uri="{FF2B5EF4-FFF2-40B4-BE49-F238E27FC236}">
                <a16:creationId xmlns:a16="http://schemas.microsoft.com/office/drawing/2014/main" id="{49389ABB-4D02-41F9-B4C7-2EBCD811359C}"/>
              </a:ext>
            </a:extLst>
          </p:cNvPr>
          <p:cNvSpPr/>
          <p:nvPr/>
        </p:nvSpPr>
        <p:spPr>
          <a:xfrm>
            <a:off x="8436873" y="2236662"/>
            <a:ext cx="2576338" cy="2655485"/>
          </a:xfrm>
          <a:prstGeom prst="cub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40653B0-C0EB-46AE-8EC2-4A8D23CB7726}"/>
              </a:ext>
            </a:extLst>
          </p:cNvPr>
          <p:cNvSpPr txBox="1"/>
          <p:nvPr/>
        </p:nvSpPr>
        <p:spPr>
          <a:xfrm>
            <a:off x="9017550" y="4969012"/>
            <a:ext cx="8778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Width</a:t>
            </a:r>
            <a:endParaRPr lang="zh-CN" altLang="en-US" b="1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F30A872-EEC1-4E1D-A048-82AB75F71D2E}"/>
              </a:ext>
            </a:extLst>
          </p:cNvPr>
          <p:cNvSpPr txBox="1"/>
          <p:nvPr/>
        </p:nvSpPr>
        <p:spPr>
          <a:xfrm>
            <a:off x="7518514" y="3593921"/>
            <a:ext cx="9895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Height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2FD4A8D-D5EC-46A5-98F6-3EC490F1832E}"/>
              </a:ext>
            </a:extLst>
          </p:cNvPr>
          <p:cNvSpPr txBox="1"/>
          <p:nvPr/>
        </p:nvSpPr>
        <p:spPr>
          <a:xfrm>
            <a:off x="10596846" y="2498847"/>
            <a:ext cx="1081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Channel</a:t>
            </a:r>
            <a:endParaRPr lang="zh-CN" altLang="en-US" b="1" dirty="0"/>
          </a:p>
        </p:txBody>
      </p:sp>
      <p:sp>
        <p:nvSpPr>
          <p:cNvPr id="21" name="箭头: 右 20">
            <a:extLst>
              <a:ext uri="{FF2B5EF4-FFF2-40B4-BE49-F238E27FC236}">
                <a16:creationId xmlns:a16="http://schemas.microsoft.com/office/drawing/2014/main" id="{EFCAD93F-FF46-4467-9E34-C0DBB400E18F}"/>
              </a:ext>
            </a:extLst>
          </p:cNvPr>
          <p:cNvSpPr/>
          <p:nvPr/>
        </p:nvSpPr>
        <p:spPr>
          <a:xfrm>
            <a:off x="5840279" y="3603219"/>
            <a:ext cx="1106391" cy="3693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FFE1709E-325B-4230-93E7-9276EB5B8DE0}"/>
              </a:ext>
            </a:extLst>
          </p:cNvPr>
          <p:cNvSpPr txBox="1"/>
          <p:nvPr/>
        </p:nvSpPr>
        <p:spPr>
          <a:xfrm>
            <a:off x="9250263" y="1388954"/>
            <a:ext cx="1608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计算机的叫法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F467A90A-1231-4452-B0EB-8A389F5275CE}"/>
              </a:ext>
            </a:extLst>
          </p:cNvPr>
          <p:cNvSpPr txBox="1"/>
          <p:nvPr/>
        </p:nvSpPr>
        <p:spPr>
          <a:xfrm>
            <a:off x="3743113" y="833027"/>
            <a:ext cx="28032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一个二维的</a:t>
            </a:r>
            <a:r>
              <a:rPr lang="zh-CN" altLang="en-US" b="1" dirty="0">
                <a:solidFill>
                  <a:srgbClr val="C00000"/>
                </a:solidFill>
              </a:rPr>
              <a:t>向量场</a:t>
            </a:r>
          </a:p>
        </p:txBody>
      </p:sp>
    </p:spTree>
    <p:extLst>
      <p:ext uri="{BB962C8B-B14F-4D97-AF65-F5344CB8AC3E}">
        <p14:creationId xmlns:p14="http://schemas.microsoft.com/office/powerpoint/2010/main" val="31824384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4ED24700-F340-4D39-9CE1-7D578A0CBF98}"/>
              </a:ext>
            </a:extLst>
          </p:cNvPr>
          <p:cNvSpPr/>
          <p:nvPr/>
        </p:nvSpPr>
        <p:spPr>
          <a:xfrm>
            <a:off x="1884625" y="1506679"/>
            <a:ext cx="3716976" cy="3443844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1F28518-4611-4018-B4D3-7768F90744A8}"/>
              </a:ext>
            </a:extLst>
          </p:cNvPr>
          <p:cNvSpPr/>
          <p:nvPr/>
        </p:nvSpPr>
        <p:spPr>
          <a:xfrm>
            <a:off x="1760359" y="1629514"/>
            <a:ext cx="3716976" cy="3443844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106840B-AF03-49F7-B778-3DC70955B1D8}"/>
              </a:ext>
            </a:extLst>
          </p:cNvPr>
          <p:cNvSpPr txBox="1"/>
          <p:nvPr/>
        </p:nvSpPr>
        <p:spPr>
          <a:xfrm>
            <a:off x="225631" y="95003"/>
            <a:ext cx="49698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输入的形状 </a:t>
            </a:r>
            <a:r>
              <a:rPr lang="en-US" altLang="zh-CN" sz="2400" b="1" dirty="0"/>
              <a:t>-- 2D</a:t>
            </a:r>
            <a:r>
              <a:rPr lang="zh-CN" altLang="en-US" sz="2400" b="1" dirty="0"/>
              <a:t>数据为例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C8FA3E5-7302-4804-BFC2-00416FAD452F}"/>
              </a:ext>
            </a:extLst>
          </p:cNvPr>
          <p:cNvSpPr/>
          <p:nvPr/>
        </p:nvSpPr>
        <p:spPr>
          <a:xfrm>
            <a:off x="1645946" y="1758286"/>
            <a:ext cx="3716976" cy="3443844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1F8DCD36-0B52-460E-A72E-84349B988505}"/>
              </a:ext>
            </a:extLst>
          </p:cNvPr>
          <p:cNvCxnSpPr>
            <a:cxnSpLocks/>
          </p:cNvCxnSpPr>
          <p:nvPr/>
        </p:nvCxnSpPr>
        <p:spPr>
          <a:xfrm flipV="1">
            <a:off x="1645946" y="1105226"/>
            <a:ext cx="0" cy="4090968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D9932113-159C-4FD9-9E7C-AA388F39DE21}"/>
              </a:ext>
            </a:extLst>
          </p:cNvPr>
          <p:cNvCxnSpPr>
            <a:cxnSpLocks/>
          </p:cNvCxnSpPr>
          <p:nvPr/>
        </p:nvCxnSpPr>
        <p:spPr>
          <a:xfrm>
            <a:off x="1645946" y="5196193"/>
            <a:ext cx="4260944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4F247A6F-2F01-445E-AFD2-2B14D053E343}"/>
              </a:ext>
            </a:extLst>
          </p:cNvPr>
          <p:cNvSpPr txBox="1"/>
          <p:nvPr/>
        </p:nvSpPr>
        <p:spPr>
          <a:xfrm>
            <a:off x="1382587" y="5073358"/>
            <a:ext cx="1755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o</a:t>
            </a:r>
            <a:endParaRPr lang="zh-CN" alt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C251B9BE-728F-42B9-A210-2593DA9E5F14}"/>
                  </a:ext>
                </a:extLst>
              </p:cNvPr>
              <p:cNvSpPr txBox="1"/>
              <p:nvPr/>
            </p:nvSpPr>
            <p:spPr>
              <a:xfrm>
                <a:off x="4811375" y="5190254"/>
                <a:ext cx="10096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N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C251B9BE-728F-42B9-A210-2593DA9E5F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1375" y="5190254"/>
                <a:ext cx="1009650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8BB71902-E062-41C1-A679-FDCF7D07337D}"/>
                  </a:ext>
                </a:extLst>
              </p:cNvPr>
              <p:cNvSpPr txBox="1"/>
              <p:nvPr/>
            </p:nvSpPr>
            <p:spPr>
              <a:xfrm>
                <a:off x="742070" y="1573620"/>
                <a:ext cx="10096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N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8BB71902-E062-41C1-A679-FDCF7D0733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070" y="1573620"/>
                <a:ext cx="1009650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2" name="表格 22">
            <a:extLst>
              <a:ext uri="{FF2B5EF4-FFF2-40B4-BE49-F238E27FC236}">
                <a16:creationId xmlns:a16="http://schemas.microsoft.com/office/drawing/2014/main" id="{9B7CC795-15E5-49ED-A069-6F8C40448521}"/>
              </a:ext>
            </a:extLst>
          </p:cNvPr>
          <p:cNvGraphicFramePr>
            <a:graphicFrameLocks noGrp="1"/>
          </p:cNvGraphicFramePr>
          <p:nvPr/>
        </p:nvGraphicFramePr>
        <p:xfrm>
          <a:off x="1645945" y="4092974"/>
          <a:ext cx="1069026" cy="1097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6342">
                  <a:extLst>
                    <a:ext uri="{9D8B030D-6E8A-4147-A177-3AD203B41FA5}">
                      <a16:colId xmlns:a16="http://schemas.microsoft.com/office/drawing/2014/main" val="3354570174"/>
                    </a:ext>
                  </a:extLst>
                </a:gridCol>
                <a:gridCol w="356342">
                  <a:extLst>
                    <a:ext uri="{9D8B030D-6E8A-4147-A177-3AD203B41FA5}">
                      <a16:colId xmlns:a16="http://schemas.microsoft.com/office/drawing/2014/main" val="1077103598"/>
                    </a:ext>
                  </a:extLst>
                </a:gridCol>
                <a:gridCol w="356342">
                  <a:extLst>
                    <a:ext uri="{9D8B030D-6E8A-4147-A177-3AD203B41FA5}">
                      <a16:colId xmlns:a16="http://schemas.microsoft.com/office/drawing/2014/main" val="51625805"/>
                    </a:ext>
                  </a:extLst>
                </a:gridCol>
              </a:tblGrid>
              <a:tr h="33086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9942591"/>
                  </a:ext>
                </a:extLst>
              </a:tr>
              <a:tr h="33086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28629800"/>
                  </a:ext>
                </a:extLst>
              </a:tr>
              <a:tr h="33086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71160693"/>
                  </a:ext>
                </a:extLst>
              </a:tr>
            </a:tbl>
          </a:graphicData>
        </a:graphic>
      </p:graphicFrame>
      <p:sp>
        <p:nvSpPr>
          <p:cNvPr id="23" name="文本框 22">
            <a:extLst>
              <a:ext uri="{FF2B5EF4-FFF2-40B4-BE49-F238E27FC236}">
                <a16:creationId xmlns:a16="http://schemas.microsoft.com/office/drawing/2014/main" id="{B64F9CA6-6C50-4E2F-8086-976405BAE7ED}"/>
              </a:ext>
            </a:extLst>
          </p:cNvPr>
          <p:cNvSpPr txBox="1"/>
          <p:nvPr/>
        </p:nvSpPr>
        <p:spPr>
          <a:xfrm>
            <a:off x="2878006" y="4456949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……</a:t>
            </a:r>
            <a:endParaRPr lang="zh-CN" altLang="en-US" b="1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99BF373F-6AA3-4736-8709-E195743405A5}"/>
              </a:ext>
            </a:extLst>
          </p:cNvPr>
          <p:cNvSpPr txBox="1"/>
          <p:nvPr/>
        </p:nvSpPr>
        <p:spPr>
          <a:xfrm rot="5400000">
            <a:off x="1853433" y="3418553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……</a:t>
            </a:r>
            <a:endParaRPr lang="zh-CN" altLang="en-US" b="1" dirty="0"/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7CEA4B0B-9F03-4E66-BDA0-446922E2D393}"/>
              </a:ext>
            </a:extLst>
          </p:cNvPr>
          <p:cNvGrpSpPr/>
          <p:nvPr/>
        </p:nvGrpSpPr>
        <p:grpSpPr>
          <a:xfrm>
            <a:off x="8027977" y="2236662"/>
            <a:ext cx="3676828" cy="3024817"/>
            <a:chOff x="8027977" y="2236662"/>
            <a:chExt cx="3676828" cy="3024817"/>
          </a:xfrm>
        </p:grpSpPr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ACA8A206-79BB-4858-B45B-E9F41FEC753D}"/>
                </a:ext>
              </a:extLst>
            </p:cNvPr>
            <p:cNvGrpSpPr/>
            <p:nvPr/>
          </p:nvGrpSpPr>
          <p:grpSpPr>
            <a:xfrm>
              <a:off x="8027977" y="2236662"/>
              <a:ext cx="2985234" cy="3024817"/>
              <a:chOff x="8027977" y="2236662"/>
              <a:chExt cx="2985234" cy="3024817"/>
            </a:xfrm>
          </p:grpSpPr>
          <p:sp>
            <p:nvSpPr>
              <p:cNvPr id="2" name="立方体 1">
                <a:extLst>
                  <a:ext uri="{FF2B5EF4-FFF2-40B4-BE49-F238E27FC236}">
                    <a16:creationId xmlns:a16="http://schemas.microsoft.com/office/drawing/2014/main" id="{49389ABB-4D02-41F9-B4C7-2EBCD811359C}"/>
                  </a:ext>
                </a:extLst>
              </p:cNvPr>
              <p:cNvSpPr/>
              <p:nvPr/>
            </p:nvSpPr>
            <p:spPr>
              <a:xfrm>
                <a:off x="8436873" y="2236662"/>
                <a:ext cx="2576338" cy="2655485"/>
              </a:xfrm>
              <a:prstGeom prst="cub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A40653B0-C0EB-46AE-8EC2-4A8D23CB7726}"/>
                  </a:ext>
                </a:extLst>
              </p:cNvPr>
              <p:cNvSpPr txBox="1"/>
              <p:nvPr/>
            </p:nvSpPr>
            <p:spPr>
              <a:xfrm>
                <a:off x="9250263" y="4892147"/>
                <a:ext cx="87782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b="1" dirty="0"/>
                  <a:t>W</a:t>
                </a:r>
                <a:endParaRPr lang="zh-CN" altLang="en-US" b="1" dirty="0"/>
              </a:p>
            </p:txBody>
          </p:sp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1F30A872-EEC1-4E1D-A048-82AB75F71D2E}"/>
                  </a:ext>
                </a:extLst>
              </p:cNvPr>
              <p:cNvSpPr txBox="1"/>
              <p:nvPr/>
            </p:nvSpPr>
            <p:spPr>
              <a:xfrm>
                <a:off x="8027977" y="3615583"/>
                <a:ext cx="98957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b="1" dirty="0"/>
                  <a:t>H</a:t>
                </a:r>
              </a:p>
            </p:txBody>
          </p:sp>
        </p:grp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82FD4A8D-D5EC-46A5-98F6-3EC490F1832E}"/>
                </a:ext>
              </a:extLst>
            </p:cNvPr>
            <p:cNvSpPr txBox="1"/>
            <p:nvPr/>
          </p:nvSpPr>
          <p:spPr>
            <a:xfrm>
              <a:off x="10623544" y="2472149"/>
              <a:ext cx="108126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C</a:t>
              </a:r>
              <a:endParaRPr lang="zh-CN" altLang="en-US" b="1" dirty="0"/>
            </a:p>
          </p:txBody>
        </p:sp>
      </p:grpSp>
      <p:sp>
        <p:nvSpPr>
          <p:cNvPr id="21" name="箭头: 右 20">
            <a:extLst>
              <a:ext uri="{FF2B5EF4-FFF2-40B4-BE49-F238E27FC236}">
                <a16:creationId xmlns:a16="http://schemas.microsoft.com/office/drawing/2014/main" id="{EFCAD93F-FF46-4467-9E34-C0DBB400E18F}"/>
              </a:ext>
            </a:extLst>
          </p:cNvPr>
          <p:cNvSpPr/>
          <p:nvPr/>
        </p:nvSpPr>
        <p:spPr>
          <a:xfrm>
            <a:off x="5840279" y="3603219"/>
            <a:ext cx="1106391" cy="3693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FFE1709E-325B-4230-93E7-9276EB5B8DE0}"/>
              </a:ext>
            </a:extLst>
          </p:cNvPr>
          <p:cNvSpPr txBox="1"/>
          <p:nvPr/>
        </p:nvSpPr>
        <p:spPr>
          <a:xfrm>
            <a:off x="9250263" y="1388954"/>
            <a:ext cx="1608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计算机的叫法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F467A90A-1231-4452-B0EB-8A389F5275CE}"/>
              </a:ext>
            </a:extLst>
          </p:cNvPr>
          <p:cNvSpPr txBox="1"/>
          <p:nvPr/>
        </p:nvSpPr>
        <p:spPr>
          <a:xfrm>
            <a:off x="3743113" y="833027"/>
            <a:ext cx="28032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一个二维的</a:t>
            </a:r>
            <a:r>
              <a:rPr lang="zh-CN" altLang="en-US" b="1" dirty="0">
                <a:solidFill>
                  <a:srgbClr val="C00000"/>
                </a:solidFill>
              </a:rPr>
              <a:t>向量场</a:t>
            </a:r>
          </a:p>
        </p:txBody>
      </p:sp>
    </p:spTree>
    <p:extLst>
      <p:ext uri="{BB962C8B-B14F-4D97-AF65-F5344CB8AC3E}">
        <p14:creationId xmlns:p14="http://schemas.microsoft.com/office/powerpoint/2010/main" val="28830994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B106840B-AF03-49F7-B778-3DC70955B1D8}"/>
              </a:ext>
            </a:extLst>
          </p:cNvPr>
          <p:cNvSpPr txBox="1"/>
          <p:nvPr/>
        </p:nvSpPr>
        <p:spPr>
          <a:xfrm>
            <a:off x="225631" y="95003"/>
            <a:ext cx="49698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输入的形状 </a:t>
            </a:r>
            <a:r>
              <a:rPr lang="en-US" altLang="zh-CN" sz="2400" b="1" dirty="0"/>
              <a:t>-- 2D</a:t>
            </a:r>
            <a:r>
              <a:rPr lang="zh-CN" altLang="en-US" sz="2400" b="1" dirty="0"/>
              <a:t>数据为例</a:t>
            </a: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F45F3A00-5E24-498B-B9A3-07421E9A8A96}"/>
              </a:ext>
            </a:extLst>
          </p:cNvPr>
          <p:cNvGrpSpPr/>
          <p:nvPr/>
        </p:nvGrpSpPr>
        <p:grpSpPr>
          <a:xfrm>
            <a:off x="548667" y="2229989"/>
            <a:ext cx="1333529" cy="1291476"/>
            <a:chOff x="1229461" y="1288891"/>
            <a:chExt cx="1333529" cy="1291476"/>
          </a:xfrm>
        </p:grpSpPr>
        <p:grpSp>
          <p:nvGrpSpPr>
            <p:cNvPr id="27" name="组合 26">
              <a:extLst>
                <a:ext uri="{FF2B5EF4-FFF2-40B4-BE49-F238E27FC236}">
                  <a16:creationId xmlns:a16="http://schemas.microsoft.com/office/drawing/2014/main" id="{FA827DFA-5BDD-4570-8A01-5779E2490FDA}"/>
                </a:ext>
              </a:extLst>
            </p:cNvPr>
            <p:cNvGrpSpPr/>
            <p:nvPr/>
          </p:nvGrpSpPr>
          <p:grpSpPr>
            <a:xfrm>
              <a:off x="1229461" y="1288891"/>
              <a:ext cx="1333528" cy="1291476"/>
              <a:chOff x="7942086" y="2236662"/>
              <a:chExt cx="3071125" cy="3217778"/>
            </a:xfrm>
          </p:grpSpPr>
          <p:sp>
            <p:nvSpPr>
              <p:cNvPr id="28" name="立方体 27">
                <a:extLst>
                  <a:ext uri="{FF2B5EF4-FFF2-40B4-BE49-F238E27FC236}">
                    <a16:creationId xmlns:a16="http://schemas.microsoft.com/office/drawing/2014/main" id="{2D0F4920-AF41-4DB7-BCCF-62C1A69081B2}"/>
                  </a:ext>
                </a:extLst>
              </p:cNvPr>
              <p:cNvSpPr/>
              <p:nvPr/>
            </p:nvSpPr>
            <p:spPr>
              <a:xfrm>
                <a:off x="8436873" y="2236662"/>
                <a:ext cx="2576338" cy="2655485"/>
              </a:xfrm>
              <a:prstGeom prst="cub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04D714C3-354D-43AE-B9A1-06024B0AFB26}"/>
                  </a:ext>
                </a:extLst>
              </p:cNvPr>
              <p:cNvSpPr txBox="1"/>
              <p:nvPr/>
            </p:nvSpPr>
            <p:spPr>
              <a:xfrm>
                <a:off x="9164375" y="4840968"/>
                <a:ext cx="877826" cy="6134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000" b="1" dirty="0"/>
                  <a:t>W</a:t>
                </a:r>
                <a:endParaRPr lang="zh-CN" altLang="en-US" sz="1000" b="1" dirty="0"/>
              </a:p>
            </p:txBody>
          </p:sp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CF29204C-D6E5-4373-8A77-927DB5252A64}"/>
                  </a:ext>
                </a:extLst>
              </p:cNvPr>
              <p:cNvSpPr txBox="1"/>
              <p:nvPr/>
            </p:nvSpPr>
            <p:spPr>
              <a:xfrm>
                <a:off x="7942086" y="3564404"/>
                <a:ext cx="989572" cy="6134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000" b="1" dirty="0"/>
                  <a:t>H</a:t>
                </a:r>
              </a:p>
            </p:txBody>
          </p:sp>
        </p:grp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7697294D-3E1C-4C37-8658-585EDEA0C1C5}"/>
                </a:ext>
              </a:extLst>
            </p:cNvPr>
            <p:cNvSpPr txBox="1"/>
            <p:nvPr/>
          </p:nvSpPr>
          <p:spPr>
            <a:xfrm>
              <a:off x="2327200" y="1350841"/>
              <a:ext cx="23579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b="1" dirty="0"/>
                <a:t>C</a:t>
              </a:r>
              <a:endParaRPr lang="zh-CN" altLang="en-US" sz="1100" b="1" dirty="0"/>
            </a:p>
          </p:txBody>
        </p: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8AF1F466-332B-45A9-A4B4-9C47BC46048D}"/>
              </a:ext>
            </a:extLst>
          </p:cNvPr>
          <p:cNvGrpSpPr/>
          <p:nvPr/>
        </p:nvGrpSpPr>
        <p:grpSpPr>
          <a:xfrm>
            <a:off x="1764301" y="2229989"/>
            <a:ext cx="1333529" cy="1291476"/>
            <a:chOff x="1229461" y="1288891"/>
            <a:chExt cx="1333529" cy="1291476"/>
          </a:xfrm>
        </p:grpSpPr>
        <p:grpSp>
          <p:nvGrpSpPr>
            <p:cNvPr id="33" name="组合 32">
              <a:extLst>
                <a:ext uri="{FF2B5EF4-FFF2-40B4-BE49-F238E27FC236}">
                  <a16:creationId xmlns:a16="http://schemas.microsoft.com/office/drawing/2014/main" id="{EEBCC670-36D7-4BFE-9B63-25FA372F2E86}"/>
                </a:ext>
              </a:extLst>
            </p:cNvPr>
            <p:cNvGrpSpPr/>
            <p:nvPr/>
          </p:nvGrpSpPr>
          <p:grpSpPr>
            <a:xfrm>
              <a:off x="1229461" y="1288891"/>
              <a:ext cx="1333528" cy="1291476"/>
              <a:chOff x="7942086" y="2236662"/>
              <a:chExt cx="3071125" cy="3217778"/>
            </a:xfrm>
          </p:grpSpPr>
          <p:sp>
            <p:nvSpPr>
              <p:cNvPr id="35" name="立方体 34">
                <a:extLst>
                  <a:ext uri="{FF2B5EF4-FFF2-40B4-BE49-F238E27FC236}">
                    <a16:creationId xmlns:a16="http://schemas.microsoft.com/office/drawing/2014/main" id="{AA63695E-53C7-4F99-BD51-75076229E45B}"/>
                  </a:ext>
                </a:extLst>
              </p:cNvPr>
              <p:cNvSpPr/>
              <p:nvPr/>
            </p:nvSpPr>
            <p:spPr>
              <a:xfrm>
                <a:off x="8436873" y="2236662"/>
                <a:ext cx="2576338" cy="2655485"/>
              </a:xfrm>
              <a:prstGeom prst="cub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69E32E83-FA29-492A-8191-0FF72A3D9C56}"/>
                  </a:ext>
                </a:extLst>
              </p:cNvPr>
              <p:cNvSpPr txBox="1"/>
              <p:nvPr/>
            </p:nvSpPr>
            <p:spPr>
              <a:xfrm>
                <a:off x="9164375" y="4840968"/>
                <a:ext cx="877826" cy="6134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000" b="1" dirty="0"/>
                  <a:t>W</a:t>
                </a:r>
                <a:endParaRPr lang="zh-CN" altLang="en-US" sz="1000" b="1" dirty="0"/>
              </a:p>
            </p:txBody>
          </p:sp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81C8D576-F7BF-4956-A134-97D99DD10EE2}"/>
                  </a:ext>
                </a:extLst>
              </p:cNvPr>
              <p:cNvSpPr txBox="1"/>
              <p:nvPr/>
            </p:nvSpPr>
            <p:spPr>
              <a:xfrm>
                <a:off x="7942086" y="3564404"/>
                <a:ext cx="989572" cy="6134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000" b="1" dirty="0"/>
                  <a:t>H</a:t>
                </a:r>
              </a:p>
            </p:txBody>
          </p:sp>
        </p:grp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AA2C1211-B055-433B-A48A-C327F8207D08}"/>
                </a:ext>
              </a:extLst>
            </p:cNvPr>
            <p:cNvSpPr txBox="1"/>
            <p:nvPr/>
          </p:nvSpPr>
          <p:spPr>
            <a:xfrm>
              <a:off x="2327200" y="1350841"/>
              <a:ext cx="23579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b="1" dirty="0"/>
                <a:t>C</a:t>
              </a:r>
              <a:endParaRPr lang="zh-CN" altLang="en-US" sz="1100" b="1" dirty="0"/>
            </a:p>
          </p:txBody>
        </p:sp>
      </p:grp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4533C8C3-DCB9-439D-B181-D12D09084460}"/>
              </a:ext>
            </a:extLst>
          </p:cNvPr>
          <p:cNvGrpSpPr/>
          <p:nvPr/>
        </p:nvGrpSpPr>
        <p:grpSpPr>
          <a:xfrm>
            <a:off x="2961859" y="2229989"/>
            <a:ext cx="1333529" cy="1291476"/>
            <a:chOff x="1229461" y="1288891"/>
            <a:chExt cx="1333529" cy="1291476"/>
          </a:xfrm>
        </p:grpSpPr>
        <p:grpSp>
          <p:nvGrpSpPr>
            <p:cNvPr id="39" name="组合 38">
              <a:extLst>
                <a:ext uri="{FF2B5EF4-FFF2-40B4-BE49-F238E27FC236}">
                  <a16:creationId xmlns:a16="http://schemas.microsoft.com/office/drawing/2014/main" id="{4780839A-378D-4FFA-A0AC-10EA9B6A2DA0}"/>
                </a:ext>
              </a:extLst>
            </p:cNvPr>
            <p:cNvGrpSpPr/>
            <p:nvPr/>
          </p:nvGrpSpPr>
          <p:grpSpPr>
            <a:xfrm>
              <a:off x="1229461" y="1288891"/>
              <a:ext cx="1333528" cy="1291476"/>
              <a:chOff x="7942086" y="2236662"/>
              <a:chExt cx="3071125" cy="3217778"/>
            </a:xfrm>
          </p:grpSpPr>
          <p:sp>
            <p:nvSpPr>
              <p:cNvPr id="41" name="立方体 40">
                <a:extLst>
                  <a:ext uri="{FF2B5EF4-FFF2-40B4-BE49-F238E27FC236}">
                    <a16:creationId xmlns:a16="http://schemas.microsoft.com/office/drawing/2014/main" id="{A51DAD97-D6C3-48D8-9C30-50D7302DE627}"/>
                  </a:ext>
                </a:extLst>
              </p:cNvPr>
              <p:cNvSpPr/>
              <p:nvPr/>
            </p:nvSpPr>
            <p:spPr>
              <a:xfrm>
                <a:off x="8436873" y="2236662"/>
                <a:ext cx="2576338" cy="2655485"/>
              </a:xfrm>
              <a:prstGeom prst="cub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CBA1FFCA-552A-4F62-8A31-E2A1F8912BF9}"/>
                  </a:ext>
                </a:extLst>
              </p:cNvPr>
              <p:cNvSpPr txBox="1"/>
              <p:nvPr/>
            </p:nvSpPr>
            <p:spPr>
              <a:xfrm>
                <a:off x="9164375" y="4840968"/>
                <a:ext cx="877826" cy="6134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000" b="1" dirty="0"/>
                  <a:t>W</a:t>
                </a:r>
                <a:endParaRPr lang="zh-CN" altLang="en-US" sz="1000" b="1" dirty="0"/>
              </a:p>
            </p:txBody>
          </p:sp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131439FB-4B80-4B9A-AFFE-67B59B6DD53C}"/>
                  </a:ext>
                </a:extLst>
              </p:cNvPr>
              <p:cNvSpPr txBox="1"/>
              <p:nvPr/>
            </p:nvSpPr>
            <p:spPr>
              <a:xfrm>
                <a:off x="7942086" y="3564404"/>
                <a:ext cx="989572" cy="6134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000" b="1" dirty="0"/>
                  <a:t>H</a:t>
                </a:r>
              </a:p>
            </p:txBody>
          </p:sp>
        </p:grp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9BDAEB63-CB77-41C2-A04D-F171F7D15DB7}"/>
                </a:ext>
              </a:extLst>
            </p:cNvPr>
            <p:cNvSpPr txBox="1"/>
            <p:nvPr/>
          </p:nvSpPr>
          <p:spPr>
            <a:xfrm>
              <a:off x="2327200" y="1350841"/>
              <a:ext cx="23579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b="1" dirty="0"/>
                <a:t>C</a:t>
              </a:r>
              <a:endParaRPr lang="zh-CN" altLang="en-US" sz="1100" b="1" dirty="0"/>
            </a:p>
          </p:txBody>
        </p:sp>
      </p:grp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EFA7BDDA-92DB-449C-AABC-132F54963BB3}"/>
              </a:ext>
            </a:extLst>
          </p:cNvPr>
          <p:cNvGrpSpPr/>
          <p:nvPr/>
        </p:nvGrpSpPr>
        <p:grpSpPr>
          <a:xfrm>
            <a:off x="5356975" y="2229989"/>
            <a:ext cx="1333529" cy="1291476"/>
            <a:chOff x="1229461" y="1288891"/>
            <a:chExt cx="1333529" cy="1291476"/>
          </a:xfrm>
        </p:grpSpPr>
        <p:grpSp>
          <p:nvGrpSpPr>
            <p:cNvPr id="51" name="组合 50">
              <a:extLst>
                <a:ext uri="{FF2B5EF4-FFF2-40B4-BE49-F238E27FC236}">
                  <a16:creationId xmlns:a16="http://schemas.microsoft.com/office/drawing/2014/main" id="{544F9DDF-DEA2-43B6-95D5-487777F01D00}"/>
                </a:ext>
              </a:extLst>
            </p:cNvPr>
            <p:cNvGrpSpPr/>
            <p:nvPr/>
          </p:nvGrpSpPr>
          <p:grpSpPr>
            <a:xfrm>
              <a:off x="1229461" y="1288891"/>
              <a:ext cx="1333528" cy="1291476"/>
              <a:chOff x="7942086" y="2236662"/>
              <a:chExt cx="3071125" cy="3217778"/>
            </a:xfrm>
          </p:grpSpPr>
          <p:sp>
            <p:nvSpPr>
              <p:cNvPr id="53" name="立方体 52">
                <a:extLst>
                  <a:ext uri="{FF2B5EF4-FFF2-40B4-BE49-F238E27FC236}">
                    <a16:creationId xmlns:a16="http://schemas.microsoft.com/office/drawing/2014/main" id="{D4375595-03B9-442A-B2D1-68966E74A972}"/>
                  </a:ext>
                </a:extLst>
              </p:cNvPr>
              <p:cNvSpPr/>
              <p:nvPr/>
            </p:nvSpPr>
            <p:spPr>
              <a:xfrm>
                <a:off x="8436873" y="2236662"/>
                <a:ext cx="2576338" cy="2655485"/>
              </a:xfrm>
              <a:prstGeom prst="cub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4" name="文本框 53">
                <a:extLst>
                  <a:ext uri="{FF2B5EF4-FFF2-40B4-BE49-F238E27FC236}">
                    <a16:creationId xmlns:a16="http://schemas.microsoft.com/office/drawing/2014/main" id="{F9345371-F1E4-4BA9-BDFE-28E3E922AB04}"/>
                  </a:ext>
                </a:extLst>
              </p:cNvPr>
              <p:cNvSpPr txBox="1"/>
              <p:nvPr/>
            </p:nvSpPr>
            <p:spPr>
              <a:xfrm>
                <a:off x="9164375" y="4840968"/>
                <a:ext cx="877826" cy="6134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000" b="1" dirty="0"/>
                  <a:t>W</a:t>
                </a:r>
                <a:endParaRPr lang="zh-CN" altLang="en-US" sz="1000" b="1" dirty="0"/>
              </a:p>
            </p:txBody>
          </p:sp>
          <p:sp>
            <p:nvSpPr>
              <p:cNvPr id="55" name="文本框 54">
                <a:extLst>
                  <a:ext uri="{FF2B5EF4-FFF2-40B4-BE49-F238E27FC236}">
                    <a16:creationId xmlns:a16="http://schemas.microsoft.com/office/drawing/2014/main" id="{9A1D56C1-EDE5-4F2F-B632-1C62C0F961C4}"/>
                  </a:ext>
                </a:extLst>
              </p:cNvPr>
              <p:cNvSpPr txBox="1"/>
              <p:nvPr/>
            </p:nvSpPr>
            <p:spPr>
              <a:xfrm>
                <a:off x="7942086" y="3564404"/>
                <a:ext cx="989572" cy="6134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000" b="1" dirty="0"/>
                  <a:t>H</a:t>
                </a:r>
              </a:p>
            </p:txBody>
          </p:sp>
        </p:grpSp>
        <p:sp>
          <p:nvSpPr>
            <p:cNvPr id="52" name="文本框 51">
              <a:extLst>
                <a:ext uri="{FF2B5EF4-FFF2-40B4-BE49-F238E27FC236}">
                  <a16:creationId xmlns:a16="http://schemas.microsoft.com/office/drawing/2014/main" id="{7DBF265D-09EE-454A-B336-9104122DDC4F}"/>
                </a:ext>
              </a:extLst>
            </p:cNvPr>
            <p:cNvSpPr txBox="1"/>
            <p:nvPr/>
          </p:nvSpPr>
          <p:spPr>
            <a:xfrm>
              <a:off x="2327200" y="1350841"/>
              <a:ext cx="23579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b="1" dirty="0"/>
                <a:t>C</a:t>
              </a:r>
              <a:endParaRPr lang="zh-CN" altLang="en-US" sz="1100" b="1" dirty="0"/>
            </a:p>
          </p:txBody>
        </p:sp>
      </p:grpSp>
      <p:sp>
        <p:nvSpPr>
          <p:cNvPr id="10" name="文本框 9">
            <a:extLst>
              <a:ext uri="{FF2B5EF4-FFF2-40B4-BE49-F238E27FC236}">
                <a16:creationId xmlns:a16="http://schemas.microsoft.com/office/drawing/2014/main" id="{8C593847-A6B5-4818-A8F1-EA6C917636A1}"/>
              </a:ext>
            </a:extLst>
          </p:cNvPr>
          <p:cNvSpPr txBox="1"/>
          <p:nvPr/>
        </p:nvSpPr>
        <p:spPr>
          <a:xfrm>
            <a:off x="4667977" y="2701331"/>
            <a:ext cx="10278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……</a:t>
            </a:r>
            <a:endParaRPr lang="zh-CN" altLang="en-US" b="1" dirty="0"/>
          </a:p>
        </p:txBody>
      </p:sp>
      <p:sp>
        <p:nvSpPr>
          <p:cNvPr id="11" name="左大括号 10">
            <a:extLst>
              <a:ext uri="{FF2B5EF4-FFF2-40B4-BE49-F238E27FC236}">
                <a16:creationId xmlns:a16="http://schemas.microsoft.com/office/drawing/2014/main" id="{8B598FB2-264C-43B1-BD71-7BD94F2511D6}"/>
              </a:ext>
            </a:extLst>
          </p:cNvPr>
          <p:cNvSpPr/>
          <p:nvPr/>
        </p:nvSpPr>
        <p:spPr>
          <a:xfrm rot="16200000">
            <a:off x="3339041" y="650230"/>
            <a:ext cx="794007" cy="6503793"/>
          </a:xfrm>
          <a:prstGeom prst="lef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1A7B4AD-95BD-4212-B170-1C010E5D7499}"/>
              </a:ext>
            </a:extLst>
          </p:cNvPr>
          <p:cNvSpPr txBox="1"/>
          <p:nvPr/>
        </p:nvSpPr>
        <p:spPr>
          <a:xfrm>
            <a:off x="3027241" y="4733589"/>
            <a:ext cx="12681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一个</a:t>
            </a:r>
            <a:r>
              <a:rPr lang="en-US" altLang="zh-CN" b="1" dirty="0"/>
              <a:t>Batch</a:t>
            </a:r>
            <a:endParaRPr lang="zh-CN" altLang="en-US" b="1" dirty="0"/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AB149C50-0D32-4EDC-8BF1-4B2369A27272}"/>
              </a:ext>
            </a:extLst>
          </p:cNvPr>
          <p:cNvSpPr txBox="1"/>
          <p:nvPr/>
        </p:nvSpPr>
        <p:spPr>
          <a:xfrm>
            <a:off x="4561381" y="4733589"/>
            <a:ext cx="21998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一共</a:t>
            </a:r>
            <a:r>
              <a:rPr lang="en-US" altLang="zh-CN" b="1" dirty="0"/>
              <a:t>Batch size</a:t>
            </a:r>
            <a:r>
              <a:rPr lang="zh-CN" altLang="en-US" dirty="0"/>
              <a:t>个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17705273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B106840B-AF03-49F7-B778-3DC70955B1D8}"/>
              </a:ext>
            </a:extLst>
          </p:cNvPr>
          <p:cNvSpPr txBox="1"/>
          <p:nvPr/>
        </p:nvSpPr>
        <p:spPr>
          <a:xfrm>
            <a:off x="225631" y="95003"/>
            <a:ext cx="49698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输入的形状 </a:t>
            </a:r>
            <a:r>
              <a:rPr lang="en-US" altLang="zh-CN" sz="2400" b="1" dirty="0"/>
              <a:t>-- 2D</a:t>
            </a:r>
            <a:r>
              <a:rPr lang="zh-CN" altLang="en-US" sz="2400" b="1" dirty="0"/>
              <a:t>数据为例</a:t>
            </a: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F45F3A00-5E24-498B-B9A3-07421E9A8A96}"/>
              </a:ext>
            </a:extLst>
          </p:cNvPr>
          <p:cNvGrpSpPr/>
          <p:nvPr/>
        </p:nvGrpSpPr>
        <p:grpSpPr>
          <a:xfrm>
            <a:off x="548667" y="2229989"/>
            <a:ext cx="1333529" cy="1291476"/>
            <a:chOff x="1229461" y="1288891"/>
            <a:chExt cx="1333529" cy="1291476"/>
          </a:xfrm>
        </p:grpSpPr>
        <p:grpSp>
          <p:nvGrpSpPr>
            <p:cNvPr id="27" name="组合 26">
              <a:extLst>
                <a:ext uri="{FF2B5EF4-FFF2-40B4-BE49-F238E27FC236}">
                  <a16:creationId xmlns:a16="http://schemas.microsoft.com/office/drawing/2014/main" id="{FA827DFA-5BDD-4570-8A01-5779E2490FDA}"/>
                </a:ext>
              </a:extLst>
            </p:cNvPr>
            <p:cNvGrpSpPr/>
            <p:nvPr/>
          </p:nvGrpSpPr>
          <p:grpSpPr>
            <a:xfrm>
              <a:off x="1229461" y="1288891"/>
              <a:ext cx="1333528" cy="1291476"/>
              <a:chOff x="7942086" y="2236662"/>
              <a:chExt cx="3071125" cy="3217778"/>
            </a:xfrm>
          </p:grpSpPr>
          <p:sp>
            <p:nvSpPr>
              <p:cNvPr id="28" name="立方体 27">
                <a:extLst>
                  <a:ext uri="{FF2B5EF4-FFF2-40B4-BE49-F238E27FC236}">
                    <a16:creationId xmlns:a16="http://schemas.microsoft.com/office/drawing/2014/main" id="{2D0F4920-AF41-4DB7-BCCF-62C1A69081B2}"/>
                  </a:ext>
                </a:extLst>
              </p:cNvPr>
              <p:cNvSpPr/>
              <p:nvPr/>
            </p:nvSpPr>
            <p:spPr>
              <a:xfrm>
                <a:off x="8436873" y="2236662"/>
                <a:ext cx="2576338" cy="2655485"/>
              </a:xfrm>
              <a:prstGeom prst="cub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04D714C3-354D-43AE-B9A1-06024B0AFB26}"/>
                  </a:ext>
                </a:extLst>
              </p:cNvPr>
              <p:cNvSpPr txBox="1"/>
              <p:nvPr/>
            </p:nvSpPr>
            <p:spPr>
              <a:xfrm>
                <a:off x="9164375" y="4840968"/>
                <a:ext cx="877826" cy="6134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000" b="1" dirty="0"/>
                  <a:t>W</a:t>
                </a:r>
                <a:endParaRPr lang="zh-CN" altLang="en-US" sz="1000" b="1" dirty="0"/>
              </a:p>
            </p:txBody>
          </p:sp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CF29204C-D6E5-4373-8A77-927DB5252A64}"/>
                  </a:ext>
                </a:extLst>
              </p:cNvPr>
              <p:cNvSpPr txBox="1"/>
              <p:nvPr/>
            </p:nvSpPr>
            <p:spPr>
              <a:xfrm>
                <a:off x="7942086" y="3564404"/>
                <a:ext cx="989572" cy="6134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000" b="1" dirty="0"/>
                  <a:t>H</a:t>
                </a:r>
              </a:p>
            </p:txBody>
          </p:sp>
        </p:grp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7697294D-3E1C-4C37-8658-585EDEA0C1C5}"/>
                </a:ext>
              </a:extLst>
            </p:cNvPr>
            <p:cNvSpPr txBox="1"/>
            <p:nvPr/>
          </p:nvSpPr>
          <p:spPr>
            <a:xfrm>
              <a:off x="2327200" y="1350841"/>
              <a:ext cx="23579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b="1" dirty="0"/>
                <a:t>C</a:t>
              </a:r>
              <a:endParaRPr lang="zh-CN" altLang="en-US" sz="1100" b="1" dirty="0"/>
            </a:p>
          </p:txBody>
        </p: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8AF1F466-332B-45A9-A4B4-9C47BC46048D}"/>
              </a:ext>
            </a:extLst>
          </p:cNvPr>
          <p:cNvGrpSpPr/>
          <p:nvPr/>
        </p:nvGrpSpPr>
        <p:grpSpPr>
          <a:xfrm>
            <a:off x="1764301" y="2229989"/>
            <a:ext cx="1333529" cy="1291476"/>
            <a:chOff x="1229461" y="1288891"/>
            <a:chExt cx="1333529" cy="1291476"/>
          </a:xfrm>
        </p:grpSpPr>
        <p:grpSp>
          <p:nvGrpSpPr>
            <p:cNvPr id="33" name="组合 32">
              <a:extLst>
                <a:ext uri="{FF2B5EF4-FFF2-40B4-BE49-F238E27FC236}">
                  <a16:creationId xmlns:a16="http://schemas.microsoft.com/office/drawing/2014/main" id="{EEBCC670-36D7-4BFE-9B63-25FA372F2E86}"/>
                </a:ext>
              </a:extLst>
            </p:cNvPr>
            <p:cNvGrpSpPr/>
            <p:nvPr/>
          </p:nvGrpSpPr>
          <p:grpSpPr>
            <a:xfrm>
              <a:off x="1229461" y="1288891"/>
              <a:ext cx="1333528" cy="1291476"/>
              <a:chOff x="7942086" y="2236662"/>
              <a:chExt cx="3071125" cy="3217778"/>
            </a:xfrm>
          </p:grpSpPr>
          <p:sp>
            <p:nvSpPr>
              <p:cNvPr id="35" name="立方体 34">
                <a:extLst>
                  <a:ext uri="{FF2B5EF4-FFF2-40B4-BE49-F238E27FC236}">
                    <a16:creationId xmlns:a16="http://schemas.microsoft.com/office/drawing/2014/main" id="{AA63695E-53C7-4F99-BD51-75076229E45B}"/>
                  </a:ext>
                </a:extLst>
              </p:cNvPr>
              <p:cNvSpPr/>
              <p:nvPr/>
            </p:nvSpPr>
            <p:spPr>
              <a:xfrm>
                <a:off x="8436873" y="2236662"/>
                <a:ext cx="2576338" cy="2655485"/>
              </a:xfrm>
              <a:prstGeom prst="cub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69E32E83-FA29-492A-8191-0FF72A3D9C56}"/>
                  </a:ext>
                </a:extLst>
              </p:cNvPr>
              <p:cNvSpPr txBox="1"/>
              <p:nvPr/>
            </p:nvSpPr>
            <p:spPr>
              <a:xfrm>
                <a:off x="9164375" y="4840968"/>
                <a:ext cx="877826" cy="6134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000" b="1" dirty="0"/>
                  <a:t>W</a:t>
                </a:r>
                <a:endParaRPr lang="zh-CN" altLang="en-US" sz="1000" b="1" dirty="0"/>
              </a:p>
            </p:txBody>
          </p:sp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81C8D576-F7BF-4956-A134-97D99DD10EE2}"/>
                  </a:ext>
                </a:extLst>
              </p:cNvPr>
              <p:cNvSpPr txBox="1"/>
              <p:nvPr/>
            </p:nvSpPr>
            <p:spPr>
              <a:xfrm>
                <a:off x="7942086" y="3564404"/>
                <a:ext cx="989572" cy="6134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000" b="1" dirty="0"/>
                  <a:t>H</a:t>
                </a:r>
              </a:p>
            </p:txBody>
          </p:sp>
        </p:grp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AA2C1211-B055-433B-A48A-C327F8207D08}"/>
                </a:ext>
              </a:extLst>
            </p:cNvPr>
            <p:cNvSpPr txBox="1"/>
            <p:nvPr/>
          </p:nvSpPr>
          <p:spPr>
            <a:xfrm>
              <a:off x="2327200" y="1350841"/>
              <a:ext cx="23579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b="1" dirty="0"/>
                <a:t>C</a:t>
              </a:r>
              <a:endParaRPr lang="zh-CN" altLang="en-US" sz="1100" b="1" dirty="0"/>
            </a:p>
          </p:txBody>
        </p:sp>
      </p:grp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4533C8C3-DCB9-439D-B181-D12D09084460}"/>
              </a:ext>
            </a:extLst>
          </p:cNvPr>
          <p:cNvGrpSpPr/>
          <p:nvPr/>
        </p:nvGrpSpPr>
        <p:grpSpPr>
          <a:xfrm>
            <a:off x="2961859" y="2229989"/>
            <a:ext cx="1333529" cy="1291476"/>
            <a:chOff x="1229461" y="1288891"/>
            <a:chExt cx="1333529" cy="1291476"/>
          </a:xfrm>
        </p:grpSpPr>
        <p:grpSp>
          <p:nvGrpSpPr>
            <p:cNvPr id="39" name="组合 38">
              <a:extLst>
                <a:ext uri="{FF2B5EF4-FFF2-40B4-BE49-F238E27FC236}">
                  <a16:creationId xmlns:a16="http://schemas.microsoft.com/office/drawing/2014/main" id="{4780839A-378D-4FFA-A0AC-10EA9B6A2DA0}"/>
                </a:ext>
              </a:extLst>
            </p:cNvPr>
            <p:cNvGrpSpPr/>
            <p:nvPr/>
          </p:nvGrpSpPr>
          <p:grpSpPr>
            <a:xfrm>
              <a:off x="1229461" y="1288891"/>
              <a:ext cx="1333528" cy="1291476"/>
              <a:chOff x="7942086" y="2236662"/>
              <a:chExt cx="3071125" cy="3217778"/>
            </a:xfrm>
          </p:grpSpPr>
          <p:sp>
            <p:nvSpPr>
              <p:cNvPr id="41" name="立方体 40">
                <a:extLst>
                  <a:ext uri="{FF2B5EF4-FFF2-40B4-BE49-F238E27FC236}">
                    <a16:creationId xmlns:a16="http://schemas.microsoft.com/office/drawing/2014/main" id="{A51DAD97-D6C3-48D8-9C30-50D7302DE627}"/>
                  </a:ext>
                </a:extLst>
              </p:cNvPr>
              <p:cNvSpPr/>
              <p:nvPr/>
            </p:nvSpPr>
            <p:spPr>
              <a:xfrm>
                <a:off x="8436873" y="2236662"/>
                <a:ext cx="2576338" cy="2655485"/>
              </a:xfrm>
              <a:prstGeom prst="cub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CBA1FFCA-552A-4F62-8A31-E2A1F8912BF9}"/>
                  </a:ext>
                </a:extLst>
              </p:cNvPr>
              <p:cNvSpPr txBox="1"/>
              <p:nvPr/>
            </p:nvSpPr>
            <p:spPr>
              <a:xfrm>
                <a:off x="9164375" y="4840968"/>
                <a:ext cx="877826" cy="6134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000" b="1" dirty="0"/>
                  <a:t>W</a:t>
                </a:r>
                <a:endParaRPr lang="zh-CN" altLang="en-US" sz="1000" b="1" dirty="0"/>
              </a:p>
            </p:txBody>
          </p:sp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131439FB-4B80-4B9A-AFFE-67B59B6DD53C}"/>
                  </a:ext>
                </a:extLst>
              </p:cNvPr>
              <p:cNvSpPr txBox="1"/>
              <p:nvPr/>
            </p:nvSpPr>
            <p:spPr>
              <a:xfrm>
                <a:off x="7942086" y="3564404"/>
                <a:ext cx="989572" cy="6134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000" b="1" dirty="0"/>
                  <a:t>H</a:t>
                </a:r>
              </a:p>
            </p:txBody>
          </p:sp>
        </p:grp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9BDAEB63-CB77-41C2-A04D-F171F7D15DB7}"/>
                </a:ext>
              </a:extLst>
            </p:cNvPr>
            <p:cNvSpPr txBox="1"/>
            <p:nvPr/>
          </p:nvSpPr>
          <p:spPr>
            <a:xfrm>
              <a:off x="2327200" y="1350841"/>
              <a:ext cx="23579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b="1" dirty="0"/>
                <a:t>C</a:t>
              </a:r>
              <a:endParaRPr lang="zh-CN" altLang="en-US" sz="1100" b="1" dirty="0"/>
            </a:p>
          </p:txBody>
        </p:sp>
      </p:grp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EFA7BDDA-92DB-449C-AABC-132F54963BB3}"/>
              </a:ext>
            </a:extLst>
          </p:cNvPr>
          <p:cNvGrpSpPr/>
          <p:nvPr/>
        </p:nvGrpSpPr>
        <p:grpSpPr>
          <a:xfrm>
            <a:off x="5356975" y="2229989"/>
            <a:ext cx="1333529" cy="1291476"/>
            <a:chOff x="1229461" y="1288891"/>
            <a:chExt cx="1333529" cy="1291476"/>
          </a:xfrm>
        </p:grpSpPr>
        <p:grpSp>
          <p:nvGrpSpPr>
            <p:cNvPr id="51" name="组合 50">
              <a:extLst>
                <a:ext uri="{FF2B5EF4-FFF2-40B4-BE49-F238E27FC236}">
                  <a16:creationId xmlns:a16="http://schemas.microsoft.com/office/drawing/2014/main" id="{544F9DDF-DEA2-43B6-95D5-487777F01D00}"/>
                </a:ext>
              </a:extLst>
            </p:cNvPr>
            <p:cNvGrpSpPr/>
            <p:nvPr/>
          </p:nvGrpSpPr>
          <p:grpSpPr>
            <a:xfrm>
              <a:off x="1229461" y="1288891"/>
              <a:ext cx="1333528" cy="1291476"/>
              <a:chOff x="7942086" y="2236662"/>
              <a:chExt cx="3071125" cy="3217778"/>
            </a:xfrm>
          </p:grpSpPr>
          <p:sp>
            <p:nvSpPr>
              <p:cNvPr id="53" name="立方体 52">
                <a:extLst>
                  <a:ext uri="{FF2B5EF4-FFF2-40B4-BE49-F238E27FC236}">
                    <a16:creationId xmlns:a16="http://schemas.microsoft.com/office/drawing/2014/main" id="{D4375595-03B9-442A-B2D1-68966E74A972}"/>
                  </a:ext>
                </a:extLst>
              </p:cNvPr>
              <p:cNvSpPr/>
              <p:nvPr/>
            </p:nvSpPr>
            <p:spPr>
              <a:xfrm>
                <a:off x="8436873" y="2236662"/>
                <a:ext cx="2576338" cy="2655485"/>
              </a:xfrm>
              <a:prstGeom prst="cub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4" name="文本框 53">
                <a:extLst>
                  <a:ext uri="{FF2B5EF4-FFF2-40B4-BE49-F238E27FC236}">
                    <a16:creationId xmlns:a16="http://schemas.microsoft.com/office/drawing/2014/main" id="{F9345371-F1E4-4BA9-BDFE-28E3E922AB04}"/>
                  </a:ext>
                </a:extLst>
              </p:cNvPr>
              <p:cNvSpPr txBox="1"/>
              <p:nvPr/>
            </p:nvSpPr>
            <p:spPr>
              <a:xfrm>
                <a:off x="9164375" y="4840968"/>
                <a:ext cx="877826" cy="6134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000" b="1" dirty="0"/>
                  <a:t>W</a:t>
                </a:r>
                <a:endParaRPr lang="zh-CN" altLang="en-US" sz="1000" b="1" dirty="0"/>
              </a:p>
            </p:txBody>
          </p:sp>
          <p:sp>
            <p:nvSpPr>
              <p:cNvPr id="55" name="文本框 54">
                <a:extLst>
                  <a:ext uri="{FF2B5EF4-FFF2-40B4-BE49-F238E27FC236}">
                    <a16:creationId xmlns:a16="http://schemas.microsoft.com/office/drawing/2014/main" id="{9A1D56C1-EDE5-4F2F-B632-1C62C0F961C4}"/>
                  </a:ext>
                </a:extLst>
              </p:cNvPr>
              <p:cNvSpPr txBox="1"/>
              <p:nvPr/>
            </p:nvSpPr>
            <p:spPr>
              <a:xfrm>
                <a:off x="7942086" y="3564404"/>
                <a:ext cx="989572" cy="6134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000" b="1" dirty="0"/>
                  <a:t>H</a:t>
                </a:r>
              </a:p>
            </p:txBody>
          </p:sp>
        </p:grpSp>
        <p:sp>
          <p:nvSpPr>
            <p:cNvPr id="52" name="文本框 51">
              <a:extLst>
                <a:ext uri="{FF2B5EF4-FFF2-40B4-BE49-F238E27FC236}">
                  <a16:creationId xmlns:a16="http://schemas.microsoft.com/office/drawing/2014/main" id="{7DBF265D-09EE-454A-B336-9104122DDC4F}"/>
                </a:ext>
              </a:extLst>
            </p:cNvPr>
            <p:cNvSpPr txBox="1"/>
            <p:nvPr/>
          </p:nvSpPr>
          <p:spPr>
            <a:xfrm>
              <a:off x="2327200" y="1350841"/>
              <a:ext cx="23579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b="1" dirty="0"/>
                <a:t>C</a:t>
              </a:r>
              <a:endParaRPr lang="zh-CN" altLang="en-US" sz="1100" b="1" dirty="0"/>
            </a:p>
          </p:txBody>
        </p:sp>
      </p:grpSp>
      <p:sp>
        <p:nvSpPr>
          <p:cNvPr id="10" name="文本框 9">
            <a:extLst>
              <a:ext uri="{FF2B5EF4-FFF2-40B4-BE49-F238E27FC236}">
                <a16:creationId xmlns:a16="http://schemas.microsoft.com/office/drawing/2014/main" id="{8C593847-A6B5-4818-A8F1-EA6C917636A1}"/>
              </a:ext>
            </a:extLst>
          </p:cNvPr>
          <p:cNvSpPr txBox="1"/>
          <p:nvPr/>
        </p:nvSpPr>
        <p:spPr>
          <a:xfrm>
            <a:off x="4667977" y="2701331"/>
            <a:ext cx="10278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……</a:t>
            </a:r>
            <a:endParaRPr lang="zh-CN" altLang="en-US" b="1" dirty="0"/>
          </a:p>
        </p:txBody>
      </p:sp>
      <p:sp>
        <p:nvSpPr>
          <p:cNvPr id="11" name="左大括号 10">
            <a:extLst>
              <a:ext uri="{FF2B5EF4-FFF2-40B4-BE49-F238E27FC236}">
                <a16:creationId xmlns:a16="http://schemas.microsoft.com/office/drawing/2014/main" id="{8B598FB2-264C-43B1-BD71-7BD94F2511D6}"/>
              </a:ext>
            </a:extLst>
          </p:cNvPr>
          <p:cNvSpPr/>
          <p:nvPr/>
        </p:nvSpPr>
        <p:spPr>
          <a:xfrm rot="16200000">
            <a:off x="3339041" y="650230"/>
            <a:ext cx="794007" cy="6503793"/>
          </a:xfrm>
          <a:prstGeom prst="lef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1A7B4AD-95BD-4212-B170-1C010E5D7499}"/>
              </a:ext>
            </a:extLst>
          </p:cNvPr>
          <p:cNvSpPr txBox="1"/>
          <p:nvPr/>
        </p:nvSpPr>
        <p:spPr>
          <a:xfrm>
            <a:off x="3027241" y="4733589"/>
            <a:ext cx="12681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一个</a:t>
            </a:r>
            <a:r>
              <a:rPr lang="en-US" altLang="zh-CN" b="1" dirty="0"/>
              <a:t>Batch</a:t>
            </a:r>
            <a:endParaRPr lang="zh-CN" altLang="en-US" b="1" dirty="0"/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AB149C50-0D32-4EDC-8BF1-4B2369A27272}"/>
              </a:ext>
            </a:extLst>
          </p:cNvPr>
          <p:cNvSpPr txBox="1"/>
          <p:nvPr/>
        </p:nvSpPr>
        <p:spPr>
          <a:xfrm>
            <a:off x="4561381" y="4733589"/>
            <a:ext cx="21998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一共</a:t>
            </a:r>
            <a:r>
              <a:rPr lang="en-US" altLang="zh-CN" b="1" dirty="0"/>
              <a:t>B</a:t>
            </a:r>
            <a:r>
              <a:rPr lang="zh-CN" altLang="en-US" dirty="0"/>
              <a:t>个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7857486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B106840B-AF03-49F7-B778-3DC70955B1D8}"/>
              </a:ext>
            </a:extLst>
          </p:cNvPr>
          <p:cNvSpPr txBox="1"/>
          <p:nvPr/>
        </p:nvSpPr>
        <p:spPr>
          <a:xfrm>
            <a:off x="225631" y="95003"/>
            <a:ext cx="49698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输入的形状 </a:t>
            </a:r>
            <a:r>
              <a:rPr lang="en-US" altLang="zh-CN" sz="2400" b="1" dirty="0"/>
              <a:t>-- 2D</a:t>
            </a:r>
            <a:r>
              <a:rPr lang="zh-CN" altLang="en-US" sz="2400" b="1" dirty="0"/>
              <a:t>数据为例</a:t>
            </a: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F45F3A00-5E24-498B-B9A3-07421E9A8A96}"/>
              </a:ext>
            </a:extLst>
          </p:cNvPr>
          <p:cNvGrpSpPr/>
          <p:nvPr/>
        </p:nvGrpSpPr>
        <p:grpSpPr>
          <a:xfrm>
            <a:off x="548667" y="2229989"/>
            <a:ext cx="1333529" cy="1291476"/>
            <a:chOff x="1229461" y="1288891"/>
            <a:chExt cx="1333529" cy="1291476"/>
          </a:xfrm>
        </p:grpSpPr>
        <p:grpSp>
          <p:nvGrpSpPr>
            <p:cNvPr id="27" name="组合 26">
              <a:extLst>
                <a:ext uri="{FF2B5EF4-FFF2-40B4-BE49-F238E27FC236}">
                  <a16:creationId xmlns:a16="http://schemas.microsoft.com/office/drawing/2014/main" id="{FA827DFA-5BDD-4570-8A01-5779E2490FDA}"/>
                </a:ext>
              </a:extLst>
            </p:cNvPr>
            <p:cNvGrpSpPr/>
            <p:nvPr/>
          </p:nvGrpSpPr>
          <p:grpSpPr>
            <a:xfrm>
              <a:off x="1229461" y="1288891"/>
              <a:ext cx="1333528" cy="1291476"/>
              <a:chOff x="7942086" y="2236662"/>
              <a:chExt cx="3071125" cy="3217778"/>
            </a:xfrm>
          </p:grpSpPr>
          <p:sp>
            <p:nvSpPr>
              <p:cNvPr id="28" name="立方体 27">
                <a:extLst>
                  <a:ext uri="{FF2B5EF4-FFF2-40B4-BE49-F238E27FC236}">
                    <a16:creationId xmlns:a16="http://schemas.microsoft.com/office/drawing/2014/main" id="{2D0F4920-AF41-4DB7-BCCF-62C1A69081B2}"/>
                  </a:ext>
                </a:extLst>
              </p:cNvPr>
              <p:cNvSpPr/>
              <p:nvPr/>
            </p:nvSpPr>
            <p:spPr>
              <a:xfrm>
                <a:off x="8436873" y="2236662"/>
                <a:ext cx="2576338" cy="2655485"/>
              </a:xfrm>
              <a:prstGeom prst="cub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04D714C3-354D-43AE-B9A1-06024B0AFB26}"/>
                  </a:ext>
                </a:extLst>
              </p:cNvPr>
              <p:cNvSpPr txBox="1"/>
              <p:nvPr/>
            </p:nvSpPr>
            <p:spPr>
              <a:xfrm>
                <a:off x="9164375" y="4840968"/>
                <a:ext cx="877826" cy="6134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000" b="1" dirty="0"/>
                  <a:t>W</a:t>
                </a:r>
                <a:endParaRPr lang="zh-CN" altLang="en-US" sz="1000" b="1" dirty="0"/>
              </a:p>
            </p:txBody>
          </p:sp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CF29204C-D6E5-4373-8A77-927DB5252A64}"/>
                  </a:ext>
                </a:extLst>
              </p:cNvPr>
              <p:cNvSpPr txBox="1"/>
              <p:nvPr/>
            </p:nvSpPr>
            <p:spPr>
              <a:xfrm>
                <a:off x="7942086" y="3564404"/>
                <a:ext cx="989572" cy="6134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000" b="1" dirty="0"/>
                  <a:t>H</a:t>
                </a:r>
              </a:p>
            </p:txBody>
          </p:sp>
        </p:grp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7697294D-3E1C-4C37-8658-585EDEA0C1C5}"/>
                </a:ext>
              </a:extLst>
            </p:cNvPr>
            <p:cNvSpPr txBox="1"/>
            <p:nvPr/>
          </p:nvSpPr>
          <p:spPr>
            <a:xfrm>
              <a:off x="2327200" y="1350841"/>
              <a:ext cx="23579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b="1" dirty="0"/>
                <a:t>C</a:t>
              </a:r>
              <a:endParaRPr lang="zh-CN" altLang="en-US" sz="1100" b="1" dirty="0"/>
            </a:p>
          </p:txBody>
        </p: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8AF1F466-332B-45A9-A4B4-9C47BC46048D}"/>
              </a:ext>
            </a:extLst>
          </p:cNvPr>
          <p:cNvGrpSpPr/>
          <p:nvPr/>
        </p:nvGrpSpPr>
        <p:grpSpPr>
          <a:xfrm>
            <a:off x="1764301" y="2229989"/>
            <a:ext cx="1333529" cy="1291476"/>
            <a:chOff x="1229461" y="1288891"/>
            <a:chExt cx="1333529" cy="1291476"/>
          </a:xfrm>
        </p:grpSpPr>
        <p:grpSp>
          <p:nvGrpSpPr>
            <p:cNvPr id="33" name="组合 32">
              <a:extLst>
                <a:ext uri="{FF2B5EF4-FFF2-40B4-BE49-F238E27FC236}">
                  <a16:creationId xmlns:a16="http://schemas.microsoft.com/office/drawing/2014/main" id="{EEBCC670-36D7-4BFE-9B63-25FA372F2E86}"/>
                </a:ext>
              </a:extLst>
            </p:cNvPr>
            <p:cNvGrpSpPr/>
            <p:nvPr/>
          </p:nvGrpSpPr>
          <p:grpSpPr>
            <a:xfrm>
              <a:off x="1229461" y="1288891"/>
              <a:ext cx="1333528" cy="1291476"/>
              <a:chOff x="7942086" y="2236662"/>
              <a:chExt cx="3071125" cy="3217778"/>
            </a:xfrm>
          </p:grpSpPr>
          <p:sp>
            <p:nvSpPr>
              <p:cNvPr id="35" name="立方体 34">
                <a:extLst>
                  <a:ext uri="{FF2B5EF4-FFF2-40B4-BE49-F238E27FC236}">
                    <a16:creationId xmlns:a16="http://schemas.microsoft.com/office/drawing/2014/main" id="{AA63695E-53C7-4F99-BD51-75076229E45B}"/>
                  </a:ext>
                </a:extLst>
              </p:cNvPr>
              <p:cNvSpPr/>
              <p:nvPr/>
            </p:nvSpPr>
            <p:spPr>
              <a:xfrm>
                <a:off x="8436873" y="2236662"/>
                <a:ext cx="2576338" cy="2655485"/>
              </a:xfrm>
              <a:prstGeom prst="cub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69E32E83-FA29-492A-8191-0FF72A3D9C56}"/>
                  </a:ext>
                </a:extLst>
              </p:cNvPr>
              <p:cNvSpPr txBox="1"/>
              <p:nvPr/>
            </p:nvSpPr>
            <p:spPr>
              <a:xfrm>
                <a:off x="9164375" y="4840968"/>
                <a:ext cx="877826" cy="6134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000" b="1" dirty="0"/>
                  <a:t>W</a:t>
                </a:r>
                <a:endParaRPr lang="zh-CN" altLang="en-US" sz="1000" b="1" dirty="0"/>
              </a:p>
            </p:txBody>
          </p:sp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81C8D576-F7BF-4956-A134-97D99DD10EE2}"/>
                  </a:ext>
                </a:extLst>
              </p:cNvPr>
              <p:cNvSpPr txBox="1"/>
              <p:nvPr/>
            </p:nvSpPr>
            <p:spPr>
              <a:xfrm>
                <a:off x="7942086" y="3564404"/>
                <a:ext cx="989572" cy="6134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000" b="1" dirty="0"/>
                  <a:t>H</a:t>
                </a:r>
              </a:p>
            </p:txBody>
          </p:sp>
        </p:grp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AA2C1211-B055-433B-A48A-C327F8207D08}"/>
                </a:ext>
              </a:extLst>
            </p:cNvPr>
            <p:cNvSpPr txBox="1"/>
            <p:nvPr/>
          </p:nvSpPr>
          <p:spPr>
            <a:xfrm>
              <a:off x="2327200" y="1350841"/>
              <a:ext cx="23579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b="1" dirty="0"/>
                <a:t>C</a:t>
              </a:r>
              <a:endParaRPr lang="zh-CN" altLang="en-US" sz="1100" b="1" dirty="0"/>
            </a:p>
          </p:txBody>
        </p:sp>
      </p:grp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4533C8C3-DCB9-439D-B181-D12D09084460}"/>
              </a:ext>
            </a:extLst>
          </p:cNvPr>
          <p:cNvGrpSpPr/>
          <p:nvPr/>
        </p:nvGrpSpPr>
        <p:grpSpPr>
          <a:xfrm>
            <a:off x="2961859" y="2229989"/>
            <a:ext cx="1333529" cy="1291476"/>
            <a:chOff x="1229461" y="1288891"/>
            <a:chExt cx="1333529" cy="1291476"/>
          </a:xfrm>
        </p:grpSpPr>
        <p:grpSp>
          <p:nvGrpSpPr>
            <p:cNvPr id="39" name="组合 38">
              <a:extLst>
                <a:ext uri="{FF2B5EF4-FFF2-40B4-BE49-F238E27FC236}">
                  <a16:creationId xmlns:a16="http://schemas.microsoft.com/office/drawing/2014/main" id="{4780839A-378D-4FFA-A0AC-10EA9B6A2DA0}"/>
                </a:ext>
              </a:extLst>
            </p:cNvPr>
            <p:cNvGrpSpPr/>
            <p:nvPr/>
          </p:nvGrpSpPr>
          <p:grpSpPr>
            <a:xfrm>
              <a:off x="1229461" y="1288891"/>
              <a:ext cx="1333528" cy="1291476"/>
              <a:chOff x="7942086" y="2236662"/>
              <a:chExt cx="3071125" cy="3217778"/>
            </a:xfrm>
          </p:grpSpPr>
          <p:sp>
            <p:nvSpPr>
              <p:cNvPr id="41" name="立方体 40">
                <a:extLst>
                  <a:ext uri="{FF2B5EF4-FFF2-40B4-BE49-F238E27FC236}">
                    <a16:creationId xmlns:a16="http://schemas.microsoft.com/office/drawing/2014/main" id="{A51DAD97-D6C3-48D8-9C30-50D7302DE627}"/>
                  </a:ext>
                </a:extLst>
              </p:cNvPr>
              <p:cNvSpPr/>
              <p:nvPr/>
            </p:nvSpPr>
            <p:spPr>
              <a:xfrm>
                <a:off x="8436873" y="2236662"/>
                <a:ext cx="2576338" cy="2655485"/>
              </a:xfrm>
              <a:prstGeom prst="cub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CBA1FFCA-552A-4F62-8A31-E2A1F8912BF9}"/>
                  </a:ext>
                </a:extLst>
              </p:cNvPr>
              <p:cNvSpPr txBox="1"/>
              <p:nvPr/>
            </p:nvSpPr>
            <p:spPr>
              <a:xfrm>
                <a:off x="9164375" y="4840968"/>
                <a:ext cx="877826" cy="6134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000" b="1" dirty="0"/>
                  <a:t>W</a:t>
                </a:r>
                <a:endParaRPr lang="zh-CN" altLang="en-US" sz="1000" b="1" dirty="0"/>
              </a:p>
            </p:txBody>
          </p:sp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131439FB-4B80-4B9A-AFFE-67B59B6DD53C}"/>
                  </a:ext>
                </a:extLst>
              </p:cNvPr>
              <p:cNvSpPr txBox="1"/>
              <p:nvPr/>
            </p:nvSpPr>
            <p:spPr>
              <a:xfrm>
                <a:off x="7942086" y="3564404"/>
                <a:ext cx="989572" cy="6134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000" b="1" dirty="0"/>
                  <a:t>H</a:t>
                </a:r>
              </a:p>
            </p:txBody>
          </p:sp>
        </p:grp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9BDAEB63-CB77-41C2-A04D-F171F7D15DB7}"/>
                </a:ext>
              </a:extLst>
            </p:cNvPr>
            <p:cNvSpPr txBox="1"/>
            <p:nvPr/>
          </p:nvSpPr>
          <p:spPr>
            <a:xfrm>
              <a:off x="2327200" y="1350841"/>
              <a:ext cx="23579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b="1" dirty="0"/>
                <a:t>C</a:t>
              </a:r>
              <a:endParaRPr lang="zh-CN" altLang="en-US" sz="1100" b="1" dirty="0"/>
            </a:p>
          </p:txBody>
        </p:sp>
      </p:grp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EFA7BDDA-92DB-449C-AABC-132F54963BB3}"/>
              </a:ext>
            </a:extLst>
          </p:cNvPr>
          <p:cNvGrpSpPr/>
          <p:nvPr/>
        </p:nvGrpSpPr>
        <p:grpSpPr>
          <a:xfrm>
            <a:off x="5356975" y="2229989"/>
            <a:ext cx="1333529" cy="1291476"/>
            <a:chOff x="1229461" y="1288891"/>
            <a:chExt cx="1333529" cy="1291476"/>
          </a:xfrm>
        </p:grpSpPr>
        <p:grpSp>
          <p:nvGrpSpPr>
            <p:cNvPr id="51" name="组合 50">
              <a:extLst>
                <a:ext uri="{FF2B5EF4-FFF2-40B4-BE49-F238E27FC236}">
                  <a16:creationId xmlns:a16="http://schemas.microsoft.com/office/drawing/2014/main" id="{544F9DDF-DEA2-43B6-95D5-487777F01D00}"/>
                </a:ext>
              </a:extLst>
            </p:cNvPr>
            <p:cNvGrpSpPr/>
            <p:nvPr/>
          </p:nvGrpSpPr>
          <p:grpSpPr>
            <a:xfrm>
              <a:off x="1229461" y="1288891"/>
              <a:ext cx="1333528" cy="1291476"/>
              <a:chOff x="7942086" y="2236662"/>
              <a:chExt cx="3071125" cy="3217778"/>
            </a:xfrm>
          </p:grpSpPr>
          <p:sp>
            <p:nvSpPr>
              <p:cNvPr id="53" name="立方体 52">
                <a:extLst>
                  <a:ext uri="{FF2B5EF4-FFF2-40B4-BE49-F238E27FC236}">
                    <a16:creationId xmlns:a16="http://schemas.microsoft.com/office/drawing/2014/main" id="{D4375595-03B9-442A-B2D1-68966E74A972}"/>
                  </a:ext>
                </a:extLst>
              </p:cNvPr>
              <p:cNvSpPr/>
              <p:nvPr/>
            </p:nvSpPr>
            <p:spPr>
              <a:xfrm>
                <a:off x="8436873" y="2236662"/>
                <a:ext cx="2576338" cy="2655485"/>
              </a:xfrm>
              <a:prstGeom prst="cub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4" name="文本框 53">
                <a:extLst>
                  <a:ext uri="{FF2B5EF4-FFF2-40B4-BE49-F238E27FC236}">
                    <a16:creationId xmlns:a16="http://schemas.microsoft.com/office/drawing/2014/main" id="{F9345371-F1E4-4BA9-BDFE-28E3E922AB04}"/>
                  </a:ext>
                </a:extLst>
              </p:cNvPr>
              <p:cNvSpPr txBox="1"/>
              <p:nvPr/>
            </p:nvSpPr>
            <p:spPr>
              <a:xfrm>
                <a:off x="9164375" y="4840968"/>
                <a:ext cx="877826" cy="6134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000" b="1" dirty="0"/>
                  <a:t>W</a:t>
                </a:r>
                <a:endParaRPr lang="zh-CN" altLang="en-US" sz="1000" b="1" dirty="0"/>
              </a:p>
            </p:txBody>
          </p:sp>
          <p:sp>
            <p:nvSpPr>
              <p:cNvPr id="55" name="文本框 54">
                <a:extLst>
                  <a:ext uri="{FF2B5EF4-FFF2-40B4-BE49-F238E27FC236}">
                    <a16:creationId xmlns:a16="http://schemas.microsoft.com/office/drawing/2014/main" id="{9A1D56C1-EDE5-4F2F-B632-1C62C0F961C4}"/>
                  </a:ext>
                </a:extLst>
              </p:cNvPr>
              <p:cNvSpPr txBox="1"/>
              <p:nvPr/>
            </p:nvSpPr>
            <p:spPr>
              <a:xfrm>
                <a:off x="7942086" y="3564404"/>
                <a:ext cx="989572" cy="6134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000" b="1" dirty="0"/>
                  <a:t>H</a:t>
                </a:r>
              </a:p>
            </p:txBody>
          </p:sp>
        </p:grpSp>
        <p:sp>
          <p:nvSpPr>
            <p:cNvPr id="52" name="文本框 51">
              <a:extLst>
                <a:ext uri="{FF2B5EF4-FFF2-40B4-BE49-F238E27FC236}">
                  <a16:creationId xmlns:a16="http://schemas.microsoft.com/office/drawing/2014/main" id="{7DBF265D-09EE-454A-B336-9104122DDC4F}"/>
                </a:ext>
              </a:extLst>
            </p:cNvPr>
            <p:cNvSpPr txBox="1"/>
            <p:nvPr/>
          </p:nvSpPr>
          <p:spPr>
            <a:xfrm>
              <a:off x="2327200" y="1350841"/>
              <a:ext cx="23579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b="1" dirty="0"/>
                <a:t>C</a:t>
              </a:r>
              <a:endParaRPr lang="zh-CN" altLang="en-US" sz="1100" b="1" dirty="0"/>
            </a:p>
          </p:txBody>
        </p:sp>
      </p:grpSp>
      <p:sp>
        <p:nvSpPr>
          <p:cNvPr id="10" name="文本框 9">
            <a:extLst>
              <a:ext uri="{FF2B5EF4-FFF2-40B4-BE49-F238E27FC236}">
                <a16:creationId xmlns:a16="http://schemas.microsoft.com/office/drawing/2014/main" id="{8C593847-A6B5-4818-A8F1-EA6C917636A1}"/>
              </a:ext>
            </a:extLst>
          </p:cNvPr>
          <p:cNvSpPr txBox="1"/>
          <p:nvPr/>
        </p:nvSpPr>
        <p:spPr>
          <a:xfrm>
            <a:off x="4667977" y="2701331"/>
            <a:ext cx="10278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……</a:t>
            </a:r>
            <a:endParaRPr lang="zh-CN" altLang="en-US" b="1" dirty="0"/>
          </a:p>
        </p:txBody>
      </p:sp>
      <p:sp>
        <p:nvSpPr>
          <p:cNvPr id="11" name="左大括号 10">
            <a:extLst>
              <a:ext uri="{FF2B5EF4-FFF2-40B4-BE49-F238E27FC236}">
                <a16:creationId xmlns:a16="http://schemas.microsoft.com/office/drawing/2014/main" id="{8B598FB2-264C-43B1-BD71-7BD94F2511D6}"/>
              </a:ext>
            </a:extLst>
          </p:cNvPr>
          <p:cNvSpPr/>
          <p:nvPr/>
        </p:nvSpPr>
        <p:spPr>
          <a:xfrm rot="16200000">
            <a:off x="3339041" y="650230"/>
            <a:ext cx="794007" cy="6503793"/>
          </a:xfrm>
          <a:prstGeom prst="lef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1A7B4AD-95BD-4212-B170-1C010E5D7499}"/>
              </a:ext>
            </a:extLst>
          </p:cNvPr>
          <p:cNvSpPr txBox="1"/>
          <p:nvPr/>
        </p:nvSpPr>
        <p:spPr>
          <a:xfrm>
            <a:off x="3027241" y="4733589"/>
            <a:ext cx="12681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一个</a:t>
            </a:r>
            <a:r>
              <a:rPr lang="en-US" altLang="zh-CN" b="1" dirty="0"/>
              <a:t>Batch</a:t>
            </a:r>
            <a:endParaRPr lang="zh-CN" altLang="en-US" b="1" dirty="0"/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AB149C50-0D32-4EDC-8BF1-4B2369A27272}"/>
              </a:ext>
            </a:extLst>
          </p:cNvPr>
          <p:cNvSpPr txBox="1"/>
          <p:nvPr/>
        </p:nvSpPr>
        <p:spPr>
          <a:xfrm>
            <a:off x="4561381" y="4733589"/>
            <a:ext cx="21998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一共</a:t>
            </a:r>
            <a:r>
              <a:rPr lang="en-US" altLang="zh-CN" b="1" dirty="0"/>
              <a:t>B</a:t>
            </a:r>
            <a:r>
              <a:rPr lang="zh-CN" altLang="en-US" dirty="0"/>
              <a:t>个</a:t>
            </a:r>
            <a:endParaRPr lang="zh-CN" altLang="en-US" b="1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CE6C7A6-1F51-4249-8A3D-68E002FDADF6}"/>
              </a:ext>
            </a:extLst>
          </p:cNvPr>
          <p:cNvSpPr txBox="1"/>
          <p:nvPr/>
        </p:nvSpPr>
        <p:spPr>
          <a:xfrm>
            <a:off x="7519002" y="1961079"/>
            <a:ext cx="31503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每次训练的输入：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CD7009B-9B7E-4C37-8909-14F96C51103D}"/>
              </a:ext>
            </a:extLst>
          </p:cNvPr>
          <p:cNvSpPr txBox="1"/>
          <p:nvPr/>
        </p:nvSpPr>
        <p:spPr>
          <a:xfrm>
            <a:off x="8483229" y="2791733"/>
            <a:ext cx="24028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x (B, C, H, W)</a:t>
            </a:r>
            <a:endParaRPr lang="zh-CN" altLang="en-US" sz="2400" b="1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7D1047F-0F36-4856-B12D-BE07C2365D79}"/>
              </a:ext>
            </a:extLst>
          </p:cNvPr>
          <p:cNvSpPr txBox="1"/>
          <p:nvPr/>
        </p:nvSpPr>
        <p:spPr>
          <a:xfrm>
            <a:off x="9217419" y="3622387"/>
            <a:ext cx="16686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四维张量</a:t>
            </a:r>
          </a:p>
        </p:txBody>
      </p:sp>
    </p:spTree>
    <p:extLst>
      <p:ext uri="{BB962C8B-B14F-4D97-AF65-F5344CB8AC3E}">
        <p14:creationId xmlns:p14="http://schemas.microsoft.com/office/powerpoint/2010/main" val="6369512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B106840B-AF03-49F7-B778-3DC70955B1D8}"/>
              </a:ext>
            </a:extLst>
          </p:cNvPr>
          <p:cNvSpPr txBox="1"/>
          <p:nvPr/>
        </p:nvSpPr>
        <p:spPr>
          <a:xfrm>
            <a:off x="225631" y="95003"/>
            <a:ext cx="49698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离散 </a:t>
            </a:r>
            <a:r>
              <a:rPr lang="en-US" altLang="zh-CN" sz="2400" b="1" dirty="0"/>
              <a:t>2D</a:t>
            </a:r>
            <a:r>
              <a:rPr lang="zh-CN" altLang="en-US" sz="2400" b="1" dirty="0"/>
              <a:t>傅里叶变换 </a:t>
            </a:r>
            <a:r>
              <a:rPr lang="en-US" altLang="zh-CN" sz="2400" b="1" dirty="0"/>
              <a:t>——  2D DFT</a:t>
            </a:r>
            <a:endParaRPr lang="zh-CN" altLang="en-US" sz="2400" b="1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39E47CE-96F2-473D-8D80-722C6AFDD89F}"/>
              </a:ext>
            </a:extLst>
          </p:cNvPr>
          <p:cNvSpPr/>
          <p:nvPr/>
        </p:nvSpPr>
        <p:spPr>
          <a:xfrm>
            <a:off x="974469" y="2120807"/>
            <a:ext cx="2643083" cy="2616386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4AC15E66-4E4E-47AA-92D7-4CAD682CF321}"/>
                  </a:ext>
                </a:extLst>
              </p:cNvPr>
              <p:cNvSpPr txBox="1"/>
              <p:nvPr/>
            </p:nvSpPr>
            <p:spPr>
              <a:xfrm>
                <a:off x="1389000" y="4985815"/>
                <a:ext cx="221591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/>
                  <a:t>W = 1,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2,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…,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dirty="0"/>
                  <a:t>-1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4AC15E66-4E4E-47AA-92D7-4CAD682CF3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9000" y="4985815"/>
                <a:ext cx="2215918" cy="369332"/>
              </a:xfrm>
              <a:prstGeom prst="rect">
                <a:avLst/>
              </a:prstGeom>
              <a:blipFill>
                <a:blip r:embed="rId3"/>
                <a:stretch>
                  <a:fillRect l="-2479" t="-10000" b="-2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F604809C-00A8-498B-9181-C4E32261A7B0}"/>
                  </a:ext>
                </a:extLst>
              </p:cNvPr>
              <p:cNvSpPr txBox="1"/>
              <p:nvPr/>
            </p:nvSpPr>
            <p:spPr>
              <a:xfrm rot="16200000">
                <a:off x="-553981" y="3117519"/>
                <a:ext cx="221591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/>
                  <a:t>H = 1,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2,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…,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dirty="0"/>
                  <a:t>-1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F604809C-00A8-498B-9181-C4E32261A7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-553981" y="3117519"/>
                <a:ext cx="2215918" cy="369332"/>
              </a:xfrm>
              <a:prstGeom prst="rect">
                <a:avLst/>
              </a:prstGeom>
              <a:blipFill>
                <a:blip r:embed="rId4"/>
                <a:stretch>
                  <a:fillRect l="-10000" r="-26667" b="-24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图片 12">
            <a:extLst>
              <a:ext uri="{FF2B5EF4-FFF2-40B4-BE49-F238E27FC236}">
                <a16:creationId xmlns:a16="http://schemas.microsoft.com/office/drawing/2014/main" id="{B8AFCDB5-2EA4-4E69-ABD3-C4A561C189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87100" y="2349102"/>
            <a:ext cx="3108077" cy="766197"/>
          </a:xfrm>
          <a:prstGeom prst="rect">
            <a:avLst/>
          </a:prstGeom>
        </p:spPr>
      </p:pic>
      <p:sp>
        <p:nvSpPr>
          <p:cNvPr id="45" name="矩形 44">
            <a:extLst>
              <a:ext uri="{FF2B5EF4-FFF2-40B4-BE49-F238E27FC236}">
                <a16:creationId xmlns:a16="http://schemas.microsoft.com/office/drawing/2014/main" id="{A79E0125-2A81-47DD-82AD-D5C9FBDD676D}"/>
              </a:ext>
            </a:extLst>
          </p:cNvPr>
          <p:cNvSpPr/>
          <p:nvPr/>
        </p:nvSpPr>
        <p:spPr>
          <a:xfrm>
            <a:off x="7981531" y="2120807"/>
            <a:ext cx="2643083" cy="2616386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箭头: 右 13">
            <a:extLst>
              <a:ext uri="{FF2B5EF4-FFF2-40B4-BE49-F238E27FC236}">
                <a16:creationId xmlns:a16="http://schemas.microsoft.com/office/drawing/2014/main" id="{A8C88FCD-FDE8-4509-A1F4-98E83568F342}"/>
              </a:ext>
            </a:extLst>
          </p:cNvPr>
          <p:cNvSpPr/>
          <p:nvPr/>
        </p:nvSpPr>
        <p:spPr>
          <a:xfrm>
            <a:off x="4592022" y="3429000"/>
            <a:ext cx="2162523" cy="2286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9EC14AC-1391-46E9-87FB-409E112022CA}"/>
              </a:ext>
            </a:extLst>
          </p:cNvPr>
          <p:cNvSpPr txBox="1"/>
          <p:nvPr/>
        </p:nvSpPr>
        <p:spPr>
          <a:xfrm>
            <a:off x="1101284" y="5567626"/>
            <a:ext cx="22159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实数矩阵</a:t>
            </a: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607E6462-45B2-4C59-9EA9-17151BBC1B13}"/>
              </a:ext>
            </a:extLst>
          </p:cNvPr>
          <p:cNvSpPr txBox="1"/>
          <p:nvPr/>
        </p:nvSpPr>
        <p:spPr>
          <a:xfrm>
            <a:off x="8195113" y="5355147"/>
            <a:ext cx="22159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复数矩阵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558E4883-DA70-4E67-B91C-5BAE4C3E2F4D}"/>
                  </a:ext>
                </a:extLst>
              </p:cNvPr>
              <p:cNvSpPr txBox="1"/>
              <p:nvPr/>
            </p:nvSpPr>
            <p:spPr>
              <a:xfrm>
                <a:off x="8302621" y="4838976"/>
                <a:ext cx="221591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/>
                  <a:t>W = 1,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2,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…,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dirty="0"/>
                  <a:t>-1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558E4883-DA70-4E67-B91C-5BAE4C3E2F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2621" y="4838976"/>
                <a:ext cx="2215918" cy="369332"/>
              </a:xfrm>
              <a:prstGeom prst="rect">
                <a:avLst/>
              </a:prstGeom>
              <a:blipFill>
                <a:blip r:embed="rId6"/>
                <a:stretch>
                  <a:fillRect l="-2479" t="-10000" b="-2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文本框 47">
                <a:extLst>
                  <a:ext uri="{FF2B5EF4-FFF2-40B4-BE49-F238E27FC236}">
                    <a16:creationId xmlns:a16="http://schemas.microsoft.com/office/drawing/2014/main" id="{418BB2FC-BF64-487D-A17B-36890B871F3F}"/>
                  </a:ext>
                </a:extLst>
              </p:cNvPr>
              <p:cNvSpPr txBox="1"/>
              <p:nvPr/>
            </p:nvSpPr>
            <p:spPr>
              <a:xfrm rot="16200000">
                <a:off x="6517606" y="2996267"/>
                <a:ext cx="221591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/>
                  <a:t>H = 1,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2,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…,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dirty="0"/>
                  <a:t>-1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48" name="文本框 47">
                <a:extLst>
                  <a:ext uri="{FF2B5EF4-FFF2-40B4-BE49-F238E27FC236}">
                    <a16:creationId xmlns:a16="http://schemas.microsoft.com/office/drawing/2014/main" id="{418BB2FC-BF64-487D-A17B-36890B871F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6517606" y="2996267"/>
                <a:ext cx="2215918" cy="369332"/>
              </a:xfrm>
              <a:prstGeom prst="rect">
                <a:avLst/>
              </a:prstGeom>
              <a:blipFill>
                <a:blip r:embed="rId7"/>
                <a:stretch>
                  <a:fillRect l="-10000" r="-26667" b="-219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文本框 48">
            <a:extLst>
              <a:ext uri="{FF2B5EF4-FFF2-40B4-BE49-F238E27FC236}">
                <a16:creationId xmlns:a16="http://schemas.microsoft.com/office/drawing/2014/main" id="{3265A02C-D855-4224-9B5E-84D0FC4DE800}"/>
              </a:ext>
            </a:extLst>
          </p:cNvPr>
          <p:cNvSpPr txBox="1"/>
          <p:nvPr/>
        </p:nvSpPr>
        <p:spPr>
          <a:xfrm>
            <a:off x="738644" y="4616483"/>
            <a:ext cx="1802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o</a:t>
            </a:r>
            <a:endParaRPr lang="zh-CN" altLang="en-US" b="1" dirty="0"/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A62D2F54-2174-455F-ABCA-458DA7A088B5}"/>
              </a:ext>
            </a:extLst>
          </p:cNvPr>
          <p:cNvSpPr txBox="1"/>
          <p:nvPr/>
        </p:nvSpPr>
        <p:spPr>
          <a:xfrm>
            <a:off x="7729770" y="4616483"/>
            <a:ext cx="1802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o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8914140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B106840B-AF03-49F7-B778-3DC70955B1D8}"/>
              </a:ext>
            </a:extLst>
          </p:cNvPr>
          <p:cNvSpPr txBox="1"/>
          <p:nvPr/>
        </p:nvSpPr>
        <p:spPr>
          <a:xfrm>
            <a:off x="225631" y="95003"/>
            <a:ext cx="49698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离散 </a:t>
            </a:r>
            <a:r>
              <a:rPr lang="en-US" altLang="zh-CN" sz="2400" b="1" dirty="0"/>
              <a:t>2D</a:t>
            </a:r>
            <a:r>
              <a:rPr lang="zh-CN" altLang="en-US" sz="2400" b="1" dirty="0"/>
              <a:t>傅里叶变换 </a:t>
            </a:r>
            <a:r>
              <a:rPr lang="en-US" altLang="zh-CN" sz="2400" b="1" dirty="0"/>
              <a:t>——  2D DFT</a:t>
            </a:r>
            <a:endParaRPr lang="zh-CN" altLang="en-US" sz="2400" b="1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39E47CE-96F2-473D-8D80-722C6AFDD89F}"/>
              </a:ext>
            </a:extLst>
          </p:cNvPr>
          <p:cNvSpPr/>
          <p:nvPr/>
        </p:nvSpPr>
        <p:spPr>
          <a:xfrm>
            <a:off x="974469" y="2120807"/>
            <a:ext cx="2643083" cy="2616386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4AC15E66-4E4E-47AA-92D7-4CAD682CF321}"/>
                  </a:ext>
                </a:extLst>
              </p:cNvPr>
              <p:cNvSpPr txBox="1"/>
              <p:nvPr/>
            </p:nvSpPr>
            <p:spPr>
              <a:xfrm>
                <a:off x="1389000" y="4985815"/>
                <a:ext cx="221591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/>
                  <a:t>W = 1,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2,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…,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dirty="0"/>
                  <a:t>-1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4AC15E66-4E4E-47AA-92D7-4CAD682CF3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9000" y="4985815"/>
                <a:ext cx="2215918" cy="369332"/>
              </a:xfrm>
              <a:prstGeom prst="rect">
                <a:avLst/>
              </a:prstGeom>
              <a:blipFill>
                <a:blip r:embed="rId3"/>
                <a:stretch>
                  <a:fillRect l="-2479" t="-10000" b="-2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F604809C-00A8-498B-9181-C4E32261A7B0}"/>
                  </a:ext>
                </a:extLst>
              </p:cNvPr>
              <p:cNvSpPr txBox="1"/>
              <p:nvPr/>
            </p:nvSpPr>
            <p:spPr>
              <a:xfrm rot="16200000">
                <a:off x="-553981" y="3117519"/>
                <a:ext cx="221591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/>
                  <a:t>H = 1,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2,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…,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dirty="0"/>
                  <a:t>-1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F604809C-00A8-498B-9181-C4E32261A7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-553981" y="3117519"/>
                <a:ext cx="2215918" cy="369332"/>
              </a:xfrm>
              <a:prstGeom prst="rect">
                <a:avLst/>
              </a:prstGeom>
              <a:blipFill>
                <a:blip r:embed="rId4"/>
                <a:stretch>
                  <a:fillRect l="-10000" r="-26667" b="-24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图片 12">
            <a:extLst>
              <a:ext uri="{FF2B5EF4-FFF2-40B4-BE49-F238E27FC236}">
                <a16:creationId xmlns:a16="http://schemas.microsoft.com/office/drawing/2014/main" id="{B8AFCDB5-2EA4-4E69-ABD3-C4A561C189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87100" y="2349102"/>
            <a:ext cx="3108077" cy="766197"/>
          </a:xfrm>
          <a:prstGeom prst="rect">
            <a:avLst/>
          </a:prstGeom>
        </p:spPr>
      </p:pic>
      <p:sp>
        <p:nvSpPr>
          <p:cNvPr id="45" name="矩形 44">
            <a:extLst>
              <a:ext uri="{FF2B5EF4-FFF2-40B4-BE49-F238E27FC236}">
                <a16:creationId xmlns:a16="http://schemas.microsoft.com/office/drawing/2014/main" id="{A79E0125-2A81-47DD-82AD-D5C9FBDD676D}"/>
              </a:ext>
            </a:extLst>
          </p:cNvPr>
          <p:cNvSpPr/>
          <p:nvPr/>
        </p:nvSpPr>
        <p:spPr>
          <a:xfrm>
            <a:off x="7981531" y="2120807"/>
            <a:ext cx="2643083" cy="2616386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箭头: 右 13">
            <a:extLst>
              <a:ext uri="{FF2B5EF4-FFF2-40B4-BE49-F238E27FC236}">
                <a16:creationId xmlns:a16="http://schemas.microsoft.com/office/drawing/2014/main" id="{A8C88FCD-FDE8-4509-A1F4-98E83568F342}"/>
              </a:ext>
            </a:extLst>
          </p:cNvPr>
          <p:cNvSpPr/>
          <p:nvPr/>
        </p:nvSpPr>
        <p:spPr>
          <a:xfrm>
            <a:off x="4592022" y="3429000"/>
            <a:ext cx="2162523" cy="2286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9EC14AC-1391-46E9-87FB-409E112022CA}"/>
              </a:ext>
            </a:extLst>
          </p:cNvPr>
          <p:cNvSpPr txBox="1"/>
          <p:nvPr/>
        </p:nvSpPr>
        <p:spPr>
          <a:xfrm>
            <a:off x="1101284" y="5567626"/>
            <a:ext cx="22159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实数矩阵</a:t>
            </a: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607E6462-45B2-4C59-9EA9-17151BBC1B13}"/>
              </a:ext>
            </a:extLst>
          </p:cNvPr>
          <p:cNvSpPr txBox="1"/>
          <p:nvPr/>
        </p:nvSpPr>
        <p:spPr>
          <a:xfrm>
            <a:off x="8195113" y="5355147"/>
            <a:ext cx="22159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复数矩阵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D583B00-4F48-4A1E-BA15-6685FB481438}"/>
              </a:ext>
            </a:extLst>
          </p:cNvPr>
          <p:cNvSpPr txBox="1"/>
          <p:nvPr/>
        </p:nvSpPr>
        <p:spPr>
          <a:xfrm>
            <a:off x="7353417" y="5382960"/>
            <a:ext cx="11079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</a:rPr>
              <a:t>共轭对称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4B833579-C70E-4E92-8167-32129134D3C4}"/>
              </a:ext>
            </a:extLst>
          </p:cNvPr>
          <p:cNvCxnSpPr/>
          <p:nvPr/>
        </p:nvCxnSpPr>
        <p:spPr>
          <a:xfrm>
            <a:off x="7475387" y="3429000"/>
            <a:ext cx="4018020" cy="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AEADC0AD-37B7-429F-ADE1-6FB5644DE88D}"/>
              </a:ext>
            </a:extLst>
          </p:cNvPr>
          <p:cNvCxnSpPr>
            <a:cxnSpLocks/>
          </p:cNvCxnSpPr>
          <p:nvPr/>
        </p:nvCxnSpPr>
        <p:spPr>
          <a:xfrm>
            <a:off x="9303072" y="1632738"/>
            <a:ext cx="53395" cy="3592524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931E1B8E-C3E9-4EE7-8912-CD38DC93939B}"/>
              </a:ext>
            </a:extLst>
          </p:cNvPr>
          <p:cNvSpPr txBox="1"/>
          <p:nvPr/>
        </p:nvSpPr>
        <p:spPr>
          <a:xfrm>
            <a:off x="738644" y="4616483"/>
            <a:ext cx="1802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o</a:t>
            </a:r>
            <a:endParaRPr lang="zh-CN" altLang="en-US" b="1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F351324-5FC1-4616-9685-C960B16E7E12}"/>
              </a:ext>
            </a:extLst>
          </p:cNvPr>
          <p:cNvSpPr txBox="1"/>
          <p:nvPr/>
        </p:nvSpPr>
        <p:spPr>
          <a:xfrm>
            <a:off x="7729770" y="4616483"/>
            <a:ext cx="1802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o</a:t>
            </a:r>
            <a:endParaRPr lang="zh-CN" altLang="en-US" b="1" dirty="0"/>
          </a:p>
        </p:txBody>
      </p: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A0290475-B341-46C0-8301-ADAFFD07F041}"/>
              </a:ext>
            </a:extLst>
          </p:cNvPr>
          <p:cNvCxnSpPr>
            <a:cxnSpLocks/>
          </p:cNvCxnSpPr>
          <p:nvPr/>
        </p:nvCxnSpPr>
        <p:spPr>
          <a:xfrm>
            <a:off x="9323094" y="2970131"/>
            <a:ext cx="6675" cy="934424"/>
          </a:xfrm>
          <a:prstGeom prst="straightConnector1">
            <a:avLst/>
          </a:prstGeom>
          <a:ln w="12700">
            <a:solidFill>
              <a:srgbClr val="FF0000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0FBF709C-1B57-469B-B705-FE07F9E3D6EF}"/>
              </a:ext>
            </a:extLst>
          </p:cNvPr>
          <p:cNvCxnSpPr>
            <a:cxnSpLocks/>
          </p:cNvCxnSpPr>
          <p:nvPr/>
        </p:nvCxnSpPr>
        <p:spPr>
          <a:xfrm flipH="1">
            <a:off x="8863673" y="3429000"/>
            <a:ext cx="916623" cy="8343"/>
          </a:xfrm>
          <a:prstGeom prst="straightConnector1">
            <a:avLst/>
          </a:prstGeom>
          <a:ln w="12700">
            <a:solidFill>
              <a:srgbClr val="FF0000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本框 31">
            <a:extLst>
              <a:ext uri="{FF2B5EF4-FFF2-40B4-BE49-F238E27FC236}">
                <a16:creationId xmlns:a16="http://schemas.microsoft.com/office/drawing/2014/main" id="{6498429A-B086-4E75-B724-BE9A8BAD027E}"/>
              </a:ext>
            </a:extLst>
          </p:cNvPr>
          <p:cNvSpPr txBox="1"/>
          <p:nvPr/>
        </p:nvSpPr>
        <p:spPr>
          <a:xfrm>
            <a:off x="11047682" y="3068011"/>
            <a:ext cx="10957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对称轴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DC60796A-862C-48D5-B657-8137253B4642}"/>
              </a:ext>
            </a:extLst>
          </p:cNvPr>
          <p:cNvSpPr txBox="1"/>
          <p:nvPr/>
        </p:nvSpPr>
        <p:spPr>
          <a:xfrm>
            <a:off x="9090955" y="1204038"/>
            <a:ext cx="10957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对称轴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BE9B9855-5B24-4642-BF22-EEB4283F733A}"/>
              </a:ext>
            </a:extLst>
          </p:cNvPr>
          <p:cNvSpPr txBox="1"/>
          <p:nvPr/>
        </p:nvSpPr>
        <p:spPr>
          <a:xfrm>
            <a:off x="5010644" y="3657600"/>
            <a:ext cx="12509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/>
              <a:t>FFT</a:t>
            </a:r>
            <a:endParaRPr lang="zh-CN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9548474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矩形 44">
            <a:extLst>
              <a:ext uri="{FF2B5EF4-FFF2-40B4-BE49-F238E27FC236}">
                <a16:creationId xmlns:a16="http://schemas.microsoft.com/office/drawing/2014/main" id="{A79E0125-2A81-47DD-82AD-D5C9FBDD676D}"/>
              </a:ext>
            </a:extLst>
          </p:cNvPr>
          <p:cNvSpPr/>
          <p:nvPr/>
        </p:nvSpPr>
        <p:spPr>
          <a:xfrm>
            <a:off x="7981531" y="2120807"/>
            <a:ext cx="2643083" cy="2616386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106840B-AF03-49F7-B778-3DC70955B1D8}"/>
              </a:ext>
            </a:extLst>
          </p:cNvPr>
          <p:cNvSpPr txBox="1"/>
          <p:nvPr/>
        </p:nvSpPr>
        <p:spPr>
          <a:xfrm>
            <a:off x="225631" y="95003"/>
            <a:ext cx="49698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离散 </a:t>
            </a:r>
            <a:r>
              <a:rPr lang="en-US" altLang="zh-CN" sz="2400" b="1" dirty="0"/>
              <a:t>2D</a:t>
            </a:r>
            <a:r>
              <a:rPr lang="zh-CN" altLang="en-US" sz="2400" b="1" dirty="0"/>
              <a:t>傅里叶变换 </a:t>
            </a:r>
            <a:r>
              <a:rPr lang="en-US" altLang="zh-CN" sz="2400" b="1" dirty="0"/>
              <a:t>——  2D DFT</a:t>
            </a:r>
            <a:endParaRPr lang="zh-CN" altLang="en-US" sz="2400" b="1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39E47CE-96F2-473D-8D80-722C6AFDD89F}"/>
              </a:ext>
            </a:extLst>
          </p:cNvPr>
          <p:cNvSpPr/>
          <p:nvPr/>
        </p:nvSpPr>
        <p:spPr>
          <a:xfrm>
            <a:off x="974469" y="2120807"/>
            <a:ext cx="2643083" cy="2616386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4AC15E66-4E4E-47AA-92D7-4CAD682CF321}"/>
                  </a:ext>
                </a:extLst>
              </p:cNvPr>
              <p:cNvSpPr txBox="1"/>
              <p:nvPr/>
            </p:nvSpPr>
            <p:spPr>
              <a:xfrm>
                <a:off x="1389000" y="4985815"/>
                <a:ext cx="221591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/>
                  <a:t>W = 1,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2,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…,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dirty="0"/>
                  <a:t>-1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4AC15E66-4E4E-47AA-92D7-4CAD682CF3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9000" y="4985815"/>
                <a:ext cx="2215918" cy="369332"/>
              </a:xfrm>
              <a:prstGeom prst="rect">
                <a:avLst/>
              </a:prstGeom>
              <a:blipFill>
                <a:blip r:embed="rId3"/>
                <a:stretch>
                  <a:fillRect l="-2479" t="-10000" b="-2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F604809C-00A8-498B-9181-C4E32261A7B0}"/>
                  </a:ext>
                </a:extLst>
              </p:cNvPr>
              <p:cNvSpPr txBox="1"/>
              <p:nvPr/>
            </p:nvSpPr>
            <p:spPr>
              <a:xfrm rot="16200000">
                <a:off x="-553981" y="3117519"/>
                <a:ext cx="221591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/>
                  <a:t>H = 1,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2,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…,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dirty="0"/>
                  <a:t>-1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F604809C-00A8-498B-9181-C4E32261A7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-553981" y="3117519"/>
                <a:ext cx="2215918" cy="369332"/>
              </a:xfrm>
              <a:prstGeom prst="rect">
                <a:avLst/>
              </a:prstGeom>
              <a:blipFill>
                <a:blip r:embed="rId4"/>
                <a:stretch>
                  <a:fillRect l="-10000" r="-26667" b="-24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图片 12">
            <a:extLst>
              <a:ext uri="{FF2B5EF4-FFF2-40B4-BE49-F238E27FC236}">
                <a16:creationId xmlns:a16="http://schemas.microsoft.com/office/drawing/2014/main" id="{B8AFCDB5-2EA4-4E69-ABD3-C4A561C189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87100" y="2349102"/>
            <a:ext cx="3108077" cy="766197"/>
          </a:xfrm>
          <a:prstGeom prst="rect">
            <a:avLst/>
          </a:prstGeom>
        </p:spPr>
      </p:pic>
      <p:sp>
        <p:nvSpPr>
          <p:cNvPr id="14" name="箭头: 右 13">
            <a:extLst>
              <a:ext uri="{FF2B5EF4-FFF2-40B4-BE49-F238E27FC236}">
                <a16:creationId xmlns:a16="http://schemas.microsoft.com/office/drawing/2014/main" id="{A8C88FCD-FDE8-4509-A1F4-98E83568F342}"/>
              </a:ext>
            </a:extLst>
          </p:cNvPr>
          <p:cNvSpPr/>
          <p:nvPr/>
        </p:nvSpPr>
        <p:spPr>
          <a:xfrm>
            <a:off x="4592022" y="3429000"/>
            <a:ext cx="2162523" cy="2286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9EC14AC-1391-46E9-87FB-409E112022CA}"/>
              </a:ext>
            </a:extLst>
          </p:cNvPr>
          <p:cNvSpPr txBox="1"/>
          <p:nvPr/>
        </p:nvSpPr>
        <p:spPr>
          <a:xfrm>
            <a:off x="1101284" y="5567626"/>
            <a:ext cx="22159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实数矩阵</a:t>
            </a: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607E6462-45B2-4C59-9EA9-17151BBC1B13}"/>
              </a:ext>
            </a:extLst>
          </p:cNvPr>
          <p:cNvSpPr txBox="1"/>
          <p:nvPr/>
        </p:nvSpPr>
        <p:spPr>
          <a:xfrm>
            <a:off x="8195113" y="5355147"/>
            <a:ext cx="22159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复数矩阵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D583B00-4F48-4A1E-BA15-6685FB481438}"/>
              </a:ext>
            </a:extLst>
          </p:cNvPr>
          <p:cNvSpPr txBox="1"/>
          <p:nvPr/>
        </p:nvSpPr>
        <p:spPr>
          <a:xfrm>
            <a:off x="7353417" y="5382960"/>
            <a:ext cx="11079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</a:rPr>
              <a:t>共轭对称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31E1B8E-C3E9-4EE7-8912-CD38DC93939B}"/>
              </a:ext>
            </a:extLst>
          </p:cNvPr>
          <p:cNvSpPr txBox="1"/>
          <p:nvPr/>
        </p:nvSpPr>
        <p:spPr>
          <a:xfrm>
            <a:off x="738644" y="4616483"/>
            <a:ext cx="1802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o</a:t>
            </a:r>
            <a:endParaRPr lang="zh-CN" altLang="en-US" b="1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F351324-5FC1-4616-9685-C960B16E7E12}"/>
              </a:ext>
            </a:extLst>
          </p:cNvPr>
          <p:cNvSpPr txBox="1"/>
          <p:nvPr/>
        </p:nvSpPr>
        <p:spPr>
          <a:xfrm>
            <a:off x="7729770" y="4616483"/>
            <a:ext cx="1802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o</a:t>
            </a:r>
            <a:endParaRPr lang="zh-CN" altLang="en-US" b="1" dirty="0"/>
          </a:p>
        </p:txBody>
      </p: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A0290475-B341-46C0-8301-ADAFFD07F041}"/>
              </a:ext>
            </a:extLst>
          </p:cNvPr>
          <p:cNvCxnSpPr>
            <a:cxnSpLocks/>
          </p:cNvCxnSpPr>
          <p:nvPr/>
        </p:nvCxnSpPr>
        <p:spPr>
          <a:xfrm>
            <a:off x="9323094" y="2970131"/>
            <a:ext cx="6675" cy="934424"/>
          </a:xfrm>
          <a:prstGeom prst="straightConnector1">
            <a:avLst/>
          </a:prstGeom>
          <a:ln w="12700">
            <a:solidFill>
              <a:srgbClr val="FF0000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本框 31">
            <a:extLst>
              <a:ext uri="{FF2B5EF4-FFF2-40B4-BE49-F238E27FC236}">
                <a16:creationId xmlns:a16="http://schemas.microsoft.com/office/drawing/2014/main" id="{6498429A-B086-4E75-B724-BE9A8BAD027E}"/>
              </a:ext>
            </a:extLst>
          </p:cNvPr>
          <p:cNvSpPr txBox="1"/>
          <p:nvPr/>
        </p:nvSpPr>
        <p:spPr>
          <a:xfrm>
            <a:off x="11047682" y="3068011"/>
            <a:ext cx="10957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对称轴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DC60796A-862C-48D5-B657-8137253B4642}"/>
              </a:ext>
            </a:extLst>
          </p:cNvPr>
          <p:cNvSpPr txBox="1"/>
          <p:nvPr/>
        </p:nvSpPr>
        <p:spPr>
          <a:xfrm>
            <a:off x="9090955" y="1204038"/>
            <a:ext cx="10957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对称轴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BDE54F9-6E58-415D-BB1C-77F9E232B791}"/>
              </a:ext>
            </a:extLst>
          </p:cNvPr>
          <p:cNvSpPr/>
          <p:nvPr/>
        </p:nvSpPr>
        <p:spPr>
          <a:xfrm>
            <a:off x="8001556" y="2129151"/>
            <a:ext cx="1473947" cy="260804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4B833579-C70E-4E92-8167-32129134D3C4}"/>
              </a:ext>
            </a:extLst>
          </p:cNvPr>
          <p:cNvCxnSpPr/>
          <p:nvPr/>
        </p:nvCxnSpPr>
        <p:spPr>
          <a:xfrm>
            <a:off x="7475279" y="3429000"/>
            <a:ext cx="4018020" cy="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AEADC0AD-37B7-429F-ADE1-6FB5644DE88D}"/>
              </a:ext>
            </a:extLst>
          </p:cNvPr>
          <p:cNvCxnSpPr>
            <a:cxnSpLocks/>
          </p:cNvCxnSpPr>
          <p:nvPr/>
        </p:nvCxnSpPr>
        <p:spPr>
          <a:xfrm>
            <a:off x="9303072" y="1632738"/>
            <a:ext cx="53395" cy="3592524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BF423FA1-4F78-4C63-A706-D15163019B60}"/>
              </a:ext>
            </a:extLst>
          </p:cNvPr>
          <p:cNvCxnSpPr/>
          <p:nvPr/>
        </p:nvCxnSpPr>
        <p:spPr>
          <a:xfrm flipH="1">
            <a:off x="6540964" y="4410144"/>
            <a:ext cx="1601868" cy="50892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4B347706-652E-4E64-8A6F-1BF6DF962A22}"/>
              </a:ext>
            </a:extLst>
          </p:cNvPr>
          <p:cNvSpPr txBox="1"/>
          <p:nvPr/>
        </p:nvSpPr>
        <p:spPr>
          <a:xfrm>
            <a:off x="5421883" y="4801149"/>
            <a:ext cx="11412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计算机</a:t>
            </a:r>
            <a:br>
              <a:rPr lang="en-US" altLang="zh-CN" dirty="0"/>
            </a:br>
            <a:r>
              <a:rPr lang="zh-CN" altLang="en-US" dirty="0">
                <a:solidFill>
                  <a:srgbClr val="C00000"/>
                </a:solidFill>
              </a:rPr>
              <a:t>实际储存</a:t>
            </a:r>
          </a:p>
        </p:txBody>
      </p: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989BB1D7-1D3B-47FA-A4DF-E1844B048203}"/>
              </a:ext>
            </a:extLst>
          </p:cNvPr>
          <p:cNvCxnSpPr>
            <a:cxnSpLocks/>
            <a:endCxn id="20" idx="0"/>
          </p:cNvCxnSpPr>
          <p:nvPr/>
        </p:nvCxnSpPr>
        <p:spPr>
          <a:xfrm>
            <a:off x="9484289" y="4737194"/>
            <a:ext cx="1327496" cy="64576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B241F728-E054-4CB7-AA24-BD33E52AEB84}"/>
              </a:ext>
            </a:extLst>
          </p:cNvPr>
          <p:cNvSpPr txBox="1"/>
          <p:nvPr/>
        </p:nvSpPr>
        <p:spPr>
          <a:xfrm>
            <a:off x="10237782" y="5382960"/>
            <a:ext cx="11480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W/2 + 1</a:t>
            </a:r>
            <a:endParaRPr lang="zh-CN" altLang="en-US" b="1" dirty="0"/>
          </a:p>
        </p:txBody>
      </p: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CD0EB822-DE4C-467B-A9DA-A9052688F177}"/>
              </a:ext>
            </a:extLst>
          </p:cNvPr>
          <p:cNvCxnSpPr/>
          <p:nvPr/>
        </p:nvCxnSpPr>
        <p:spPr>
          <a:xfrm>
            <a:off x="9010511" y="2970131"/>
            <a:ext cx="874353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本框 34">
            <a:extLst>
              <a:ext uri="{FF2B5EF4-FFF2-40B4-BE49-F238E27FC236}">
                <a16:creationId xmlns:a16="http://schemas.microsoft.com/office/drawing/2014/main" id="{B46F9447-AD03-4805-A0F7-64D465CCCF14}"/>
              </a:ext>
            </a:extLst>
          </p:cNvPr>
          <p:cNvSpPr txBox="1"/>
          <p:nvPr/>
        </p:nvSpPr>
        <p:spPr>
          <a:xfrm>
            <a:off x="9523364" y="2481228"/>
            <a:ext cx="11948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对称还原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D800B1E3-237B-44EC-8768-0554FC4917B7}"/>
              </a:ext>
            </a:extLst>
          </p:cNvPr>
          <p:cNvSpPr txBox="1"/>
          <p:nvPr/>
        </p:nvSpPr>
        <p:spPr>
          <a:xfrm>
            <a:off x="5010644" y="3657600"/>
            <a:ext cx="12509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/>
              <a:t>FFT</a:t>
            </a:r>
            <a:endParaRPr lang="zh-CN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2494275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立方体 26">
            <a:extLst>
              <a:ext uri="{FF2B5EF4-FFF2-40B4-BE49-F238E27FC236}">
                <a16:creationId xmlns:a16="http://schemas.microsoft.com/office/drawing/2014/main" id="{547D412C-5946-46F2-94E0-BB0C4B29DA6D}"/>
              </a:ext>
            </a:extLst>
          </p:cNvPr>
          <p:cNvSpPr/>
          <p:nvPr/>
        </p:nvSpPr>
        <p:spPr>
          <a:xfrm>
            <a:off x="8442102" y="2147774"/>
            <a:ext cx="2162523" cy="2068949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106840B-AF03-49F7-B778-3DC70955B1D8}"/>
              </a:ext>
            </a:extLst>
          </p:cNvPr>
          <p:cNvSpPr txBox="1"/>
          <p:nvPr/>
        </p:nvSpPr>
        <p:spPr>
          <a:xfrm>
            <a:off x="225631" y="95003"/>
            <a:ext cx="49698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离散 </a:t>
            </a:r>
            <a:r>
              <a:rPr lang="en-US" altLang="zh-CN" sz="2400" b="1" dirty="0"/>
              <a:t>2D</a:t>
            </a:r>
            <a:r>
              <a:rPr lang="zh-CN" altLang="en-US" sz="2400" b="1" dirty="0"/>
              <a:t>傅里叶变换 </a:t>
            </a:r>
            <a:r>
              <a:rPr lang="en-US" altLang="zh-CN" sz="2400" b="1" dirty="0"/>
              <a:t>——  2D DFT</a:t>
            </a:r>
            <a:endParaRPr lang="zh-CN" altLang="en-US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4AC15E66-4E4E-47AA-92D7-4CAD682CF321}"/>
                  </a:ext>
                </a:extLst>
              </p:cNvPr>
              <p:cNvSpPr txBox="1"/>
              <p:nvPr/>
            </p:nvSpPr>
            <p:spPr>
              <a:xfrm>
                <a:off x="1389000" y="4985815"/>
                <a:ext cx="221591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/>
                  <a:t>W = 1,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2,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…,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dirty="0"/>
                  <a:t>-1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4AC15E66-4E4E-47AA-92D7-4CAD682CF3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9000" y="4985815"/>
                <a:ext cx="2215918" cy="369332"/>
              </a:xfrm>
              <a:prstGeom prst="rect">
                <a:avLst/>
              </a:prstGeom>
              <a:blipFill>
                <a:blip r:embed="rId3"/>
                <a:stretch>
                  <a:fillRect l="-2479" t="-10000" b="-2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F604809C-00A8-498B-9181-C4E32261A7B0}"/>
                  </a:ext>
                </a:extLst>
              </p:cNvPr>
              <p:cNvSpPr txBox="1"/>
              <p:nvPr/>
            </p:nvSpPr>
            <p:spPr>
              <a:xfrm rot="16200000">
                <a:off x="-553981" y="3117519"/>
                <a:ext cx="221591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/>
                  <a:t>H = 1,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2,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…,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dirty="0"/>
                  <a:t>-1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F604809C-00A8-498B-9181-C4E32261A7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-553981" y="3117519"/>
                <a:ext cx="2215918" cy="369332"/>
              </a:xfrm>
              <a:prstGeom prst="rect">
                <a:avLst/>
              </a:prstGeom>
              <a:blipFill>
                <a:blip r:embed="rId4"/>
                <a:stretch>
                  <a:fillRect l="-10000" r="-26667" b="-24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图片 12">
            <a:extLst>
              <a:ext uri="{FF2B5EF4-FFF2-40B4-BE49-F238E27FC236}">
                <a16:creationId xmlns:a16="http://schemas.microsoft.com/office/drawing/2014/main" id="{B8AFCDB5-2EA4-4E69-ABD3-C4A561C189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87100" y="2349102"/>
            <a:ext cx="3108077" cy="766197"/>
          </a:xfrm>
          <a:prstGeom prst="rect">
            <a:avLst/>
          </a:prstGeom>
        </p:spPr>
      </p:pic>
      <p:sp>
        <p:nvSpPr>
          <p:cNvPr id="14" name="箭头: 右 13">
            <a:extLst>
              <a:ext uri="{FF2B5EF4-FFF2-40B4-BE49-F238E27FC236}">
                <a16:creationId xmlns:a16="http://schemas.microsoft.com/office/drawing/2014/main" id="{A8C88FCD-FDE8-4509-A1F4-98E83568F342}"/>
              </a:ext>
            </a:extLst>
          </p:cNvPr>
          <p:cNvSpPr/>
          <p:nvPr/>
        </p:nvSpPr>
        <p:spPr>
          <a:xfrm>
            <a:off x="4592022" y="3429000"/>
            <a:ext cx="2162523" cy="2286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9EC14AC-1391-46E9-87FB-409E112022CA}"/>
              </a:ext>
            </a:extLst>
          </p:cNvPr>
          <p:cNvSpPr txBox="1"/>
          <p:nvPr/>
        </p:nvSpPr>
        <p:spPr>
          <a:xfrm>
            <a:off x="1101284" y="5567626"/>
            <a:ext cx="22159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实数矩阵</a:t>
            </a: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607E6462-45B2-4C59-9EA9-17151BBC1B13}"/>
              </a:ext>
            </a:extLst>
          </p:cNvPr>
          <p:cNvSpPr txBox="1"/>
          <p:nvPr/>
        </p:nvSpPr>
        <p:spPr>
          <a:xfrm>
            <a:off x="8195113" y="5355147"/>
            <a:ext cx="22159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复数矩阵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D583B00-4F48-4A1E-BA15-6685FB481438}"/>
              </a:ext>
            </a:extLst>
          </p:cNvPr>
          <p:cNvSpPr txBox="1"/>
          <p:nvPr/>
        </p:nvSpPr>
        <p:spPr>
          <a:xfrm>
            <a:off x="7353417" y="5382960"/>
            <a:ext cx="11079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</a:rPr>
              <a:t>共轭对称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31E1B8E-C3E9-4EE7-8912-CD38DC93939B}"/>
              </a:ext>
            </a:extLst>
          </p:cNvPr>
          <p:cNvSpPr txBox="1"/>
          <p:nvPr/>
        </p:nvSpPr>
        <p:spPr>
          <a:xfrm>
            <a:off x="738644" y="4616483"/>
            <a:ext cx="1802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o</a:t>
            </a:r>
            <a:endParaRPr lang="zh-CN" altLang="en-US" b="1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F351324-5FC1-4616-9685-C960B16E7E12}"/>
              </a:ext>
            </a:extLst>
          </p:cNvPr>
          <p:cNvSpPr txBox="1"/>
          <p:nvPr/>
        </p:nvSpPr>
        <p:spPr>
          <a:xfrm>
            <a:off x="7729770" y="4616483"/>
            <a:ext cx="1802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o</a:t>
            </a:r>
            <a:endParaRPr lang="zh-CN" altLang="en-US" b="1" dirty="0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6498429A-B086-4E75-B724-BE9A8BAD027E}"/>
              </a:ext>
            </a:extLst>
          </p:cNvPr>
          <p:cNvSpPr txBox="1"/>
          <p:nvPr/>
        </p:nvSpPr>
        <p:spPr>
          <a:xfrm>
            <a:off x="11047682" y="3068011"/>
            <a:ext cx="10957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对称轴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DC60796A-862C-48D5-B657-8137253B4642}"/>
              </a:ext>
            </a:extLst>
          </p:cNvPr>
          <p:cNvSpPr txBox="1"/>
          <p:nvPr/>
        </p:nvSpPr>
        <p:spPr>
          <a:xfrm>
            <a:off x="9090955" y="1204038"/>
            <a:ext cx="10957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对称轴</a:t>
            </a:r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BF423FA1-4F78-4C63-A706-D15163019B60}"/>
              </a:ext>
            </a:extLst>
          </p:cNvPr>
          <p:cNvCxnSpPr/>
          <p:nvPr/>
        </p:nvCxnSpPr>
        <p:spPr>
          <a:xfrm flipH="1">
            <a:off x="6540964" y="4410144"/>
            <a:ext cx="1601868" cy="50892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4B347706-652E-4E64-8A6F-1BF6DF962A22}"/>
              </a:ext>
            </a:extLst>
          </p:cNvPr>
          <p:cNvSpPr txBox="1"/>
          <p:nvPr/>
        </p:nvSpPr>
        <p:spPr>
          <a:xfrm>
            <a:off x="5421883" y="4801149"/>
            <a:ext cx="11412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计算机</a:t>
            </a:r>
            <a:br>
              <a:rPr lang="en-US" altLang="zh-CN" dirty="0"/>
            </a:br>
            <a:r>
              <a:rPr lang="zh-CN" altLang="en-US" dirty="0">
                <a:solidFill>
                  <a:srgbClr val="C00000"/>
                </a:solidFill>
              </a:rPr>
              <a:t>实际储存</a:t>
            </a:r>
          </a:p>
        </p:txBody>
      </p: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989BB1D7-1D3B-47FA-A4DF-E1844B048203}"/>
              </a:ext>
            </a:extLst>
          </p:cNvPr>
          <p:cNvCxnSpPr>
            <a:cxnSpLocks/>
            <a:endCxn id="20" idx="0"/>
          </p:cNvCxnSpPr>
          <p:nvPr/>
        </p:nvCxnSpPr>
        <p:spPr>
          <a:xfrm>
            <a:off x="9484289" y="4737194"/>
            <a:ext cx="1327496" cy="64576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B241F728-E054-4CB7-AA24-BD33E52AEB84}"/>
              </a:ext>
            </a:extLst>
          </p:cNvPr>
          <p:cNvSpPr txBox="1"/>
          <p:nvPr/>
        </p:nvSpPr>
        <p:spPr>
          <a:xfrm>
            <a:off x="10237782" y="5382960"/>
            <a:ext cx="11480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W/2 + 1</a:t>
            </a:r>
            <a:endParaRPr lang="zh-CN" altLang="en-US" b="1" dirty="0"/>
          </a:p>
        </p:txBody>
      </p: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CD0EB822-DE4C-467B-A9DA-A9052688F177}"/>
              </a:ext>
            </a:extLst>
          </p:cNvPr>
          <p:cNvCxnSpPr/>
          <p:nvPr/>
        </p:nvCxnSpPr>
        <p:spPr>
          <a:xfrm>
            <a:off x="9010511" y="2970131"/>
            <a:ext cx="874353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本框 34">
            <a:extLst>
              <a:ext uri="{FF2B5EF4-FFF2-40B4-BE49-F238E27FC236}">
                <a16:creationId xmlns:a16="http://schemas.microsoft.com/office/drawing/2014/main" id="{B46F9447-AD03-4805-A0F7-64D465CCCF14}"/>
              </a:ext>
            </a:extLst>
          </p:cNvPr>
          <p:cNvSpPr txBox="1"/>
          <p:nvPr/>
        </p:nvSpPr>
        <p:spPr>
          <a:xfrm>
            <a:off x="9523364" y="2481228"/>
            <a:ext cx="11948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对称还原</a:t>
            </a:r>
          </a:p>
        </p:txBody>
      </p:sp>
      <p:sp>
        <p:nvSpPr>
          <p:cNvPr id="3" name="立方体 2">
            <a:extLst>
              <a:ext uri="{FF2B5EF4-FFF2-40B4-BE49-F238E27FC236}">
                <a16:creationId xmlns:a16="http://schemas.microsoft.com/office/drawing/2014/main" id="{131C2711-71F2-4687-8904-E49037A39606}"/>
              </a:ext>
            </a:extLst>
          </p:cNvPr>
          <p:cNvSpPr/>
          <p:nvPr/>
        </p:nvSpPr>
        <p:spPr>
          <a:xfrm>
            <a:off x="1381610" y="2267710"/>
            <a:ext cx="2162523" cy="2068949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7EA2830-8415-467D-B827-620363309C06}"/>
              </a:ext>
            </a:extLst>
          </p:cNvPr>
          <p:cNvSpPr/>
          <p:nvPr/>
        </p:nvSpPr>
        <p:spPr>
          <a:xfrm>
            <a:off x="8442102" y="2665894"/>
            <a:ext cx="988792" cy="155082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平行四边形 17">
            <a:extLst>
              <a:ext uri="{FF2B5EF4-FFF2-40B4-BE49-F238E27FC236}">
                <a16:creationId xmlns:a16="http://schemas.microsoft.com/office/drawing/2014/main" id="{A1B80FC9-9965-4A15-82A5-F8A2DCE8AE40}"/>
              </a:ext>
            </a:extLst>
          </p:cNvPr>
          <p:cNvSpPr/>
          <p:nvPr/>
        </p:nvSpPr>
        <p:spPr>
          <a:xfrm>
            <a:off x="8442102" y="2147775"/>
            <a:ext cx="1517238" cy="518120"/>
          </a:xfrm>
          <a:prstGeom prst="parallelogram">
            <a:avLst>
              <a:gd name="adj" fmla="val 100651"/>
            </a:avLst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4B833579-C70E-4E92-8167-32129134D3C4}"/>
              </a:ext>
            </a:extLst>
          </p:cNvPr>
          <p:cNvCxnSpPr/>
          <p:nvPr/>
        </p:nvCxnSpPr>
        <p:spPr>
          <a:xfrm>
            <a:off x="7475279" y="3429000"/>
            <a:ext cx="4018020" cy="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AEADC0AD-37B7-429F-ADE1-6FB5644DE88D}"/>
              </a:ext>
            </a:extLst>
          </p:cNvPr>
          <p:cNvCxnSpPr>
            <a:cxnSpLocks/>
          </p:cNvCxnSpPr>
          <p:nvPr/>
        </p:nvCxnSpPr>
        <p:spPr>
          <a:xfrm>
            <a:off x="9283750" y="1632738"/>
            <a:ext cx="53395" cy="3592524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>
            <a:extLst>
              <a:ext uri="{FF2B5EF4-FFF2-40B4-BE49-F238E27FC236}">
                <a16:creationId xmlns:a16="http://schemas.microsoft.com/office/drawing/2014/main" id="{4C3A09AF-BC56-49E6-B661-BADA4D86161D}"/>
              </a:ext>
            </a:extLst>
          </p:cNvPr>
          <p:cNvSpPr txBox="1"/>
          <p:nvPr/>
        </p:nvSpPr>
        <p:spPr>
          <a:xfrm>
            <a:off x="5010644" y="3657600"/>
            <a:ext cx="12509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/>
              <a:t>FFT</a:t>
            </a:r>
            <a:endParaRPr lang="zh-CN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2707838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E2253F4F-F2F5-4D27-832D-154FB31309CF}"/>
              </a:ext>
            </a:extLst>
          </p:cNvPr>
          <p:cNvCxnSpPr>
            <a:cxnSpLocks/>
          </p:cNvCxnSpPr>
          <p:nvPr/>
        </p:nvCxnSpPr>
        <p:spPr>
          <a:xfrm>
            <a:off x="4284717" y="4266515"/>
            <a:ext cx="3548643" cy="63314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B106840B-AF03-49F7-B778-3DC70955B1D8}"/>
              </a:ext>
            </a:extLst>
          </p:cNvPr>
          <p:cNvSpPr txBox="1"/>
          <p:nvPr/>
        </p:nvSpPr>
        <p:spPr>
          <a:xfrm>
            <a:off x="225630" y="95003"/>
            <a:ext cx="57255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 err="1"/>
              <a:t>Einsum</a:t>
            </a:r>
            <a:r>
              <a:rPr lang="en-US" altLang="zh-CN" sz="2400" b="1" dirty="0"/>
              <a:t> </a:t>
            </a:r>
            <a:r>
              <a:rPr lang="zh-CN" altLang="en-US" sz="2400" b="1" dirty="0"/>
              <a:t>通道维度收缩 </a:t>
            </a:r>
            <a:r>
              <a:rPr lang="en-US" altLang="zh-CN" sz="2400" b="1" dirty="0"/>
              <a:t>—— </a:t>
            </a:r>
            <a:r>
              <a:rPr lang="zh-CN" altLang="en-US" sz="2400" b="1" dirty="0"/>
              <a:t>复数点乘</a:t>
            </a:r>
          </a:p>
        </p:txBody>
      </p:sp>
      <p:sp>
        <p:nvSpPr>
          <p:cNvPr id="26" name="立方体 25">
            <a:extLst>
              <a:ext uri="{FF2B5EF4-FFF2-40B4-BE49-F238E27FC236}">
                <a16:creationId xmlns:a16="http://schemas.microsoft.com/office/drawing/2014/main" id="{66FCB122-626C-45B1-915E-19D4EAEC416A}"/>
              </a:ext>
            </a:extLst>
          </p:cNvPr>
          <p:cNvSpPr/>
          <p:nvPr/>
        </p:nvSpPr>
        <p:spPr>
          <a:xfrm>
            <a:off x="7354495" y="1940050"/>
            <a:ext cx="2070250" cy="3409190"/>
          </a:xfrm>
          <a:prstGeom prst="cube">
            <a:avLst>
              <a:gd name="adj" fmla="val 2647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8" name="立方体 27">
            <a:extLst>
              <a:ext uri="{FF2B5EF4-FFF2-40B4-BE49-F238E27FC236}">
                <a16:creationId xmlns:a16="http://schemas.microsoft.com/office/drawing/2014/main" id="{48E6A159-F756-441E-B01A-EA557F5AE581}"/>
              </a:ext>
            </a:extLst>
          </p:cNvPr>
          <p:cNvSpPr/>
          <p:nvPr/>
        </p:nvSpPr>
        <p:spPr>
          <a:xfrm>
            <a:off x="1719167" y="1508760"/>
            <a:ext cx="2565550" cy="3840480"/>
          </a:xfrm>
          <a:prstGeom prst="cube">
            <a:avLst>
              <a:gd name="adj" fmla="val 4133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6874C98-328D-42C7-AD11-D13AB0D9449F}"/>
              </a:ext>
            </a:extLst>
          </p:cNvPr>
          <p:cNvSpPr txBox="1"/>
          <p:nvPr/>
        </p:nvSpPr>
        <p:spPr>
          <a:xfrm>
            <a:off x="629620" y="1724405"/>
            <a:ext cx="11682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Input</a:t>
            </a:r>
            <a:br>
              <a:rPr lang="en-US" altLang="zh-CN" dirty="0"/>
            </a:br>
            <a:r>
              <a:rPr lang="en-US" altLang="zh-CN" dirty="0"/>
              <a:t>Channel </a:t>
            </a:r>
            <a:endParaRPr lang="zh-CN" altLang="en-US" dirty="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3C242A0A-F591-4F6B-A127-9FA2FE6541E4}"/>
              </a:ext>
            </a:extLst>
          </p:cNvPr>
          <p:cNvSpPr txBox="1"/>
          <p:nvPr/>
        </p:nvSpPr>
        <p:spPr>
          <a:xfrm>
            <a:off x="9560485" y="2042958"/>
            <a:ext cx="11682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Output</a:t>
            </a:r>
            <a:br>
              <a:rPr lang="en-US" altLang="zh-CN" dirty="0"/>
            </a:br>
            <a:r>
              <a:rPr lang="en-US" altLang="zh-CN" dirty="0"/>
              <a:t>Channel </a:t>
            </a:r>
            <a:endParaRPr lang="zh-CN" altLang="en-US" dirty="0"/>
          </a:p>
        </p:txBody>
      </p: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FB3444DB-0D50-405A-9321-0E5E67D5B2D5}"/>
              </a:ext>
            </a:extLst>
          </p:cNvPr>
          <p:cNvCxnSpPr>
            <a:cxnSpLocks/>
          </p:cNvCxnSpPr>
          <p:nvPr/>
        </p:nvCxnSpPr>
        <p:spPr>
          <a:xfrm>
            <a:off x="4284717" y="1519562"/>
            <a:ext cx="3622568" cy="39936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E833B65D-B983-470B-BFEE-36CCA3FA6318}"/>
              </a:ext>
            </a:extLst>
          </p:cNvPr>
          <p:cNvCxnSpPr>
            <a:cxnSpLocks/>
          </p:cNvCxnSpPr>
          <p:nvPr/>
        </p:nvCxnSpPr>
        <p:spPr>
          <a:xfrm flipV="1">
            <a:off x="3216834" y="2500979"/>
            <a:ext cx="4137661" cy="8292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F5AB4500-0B86-41C7-9B50-703107F312A2}"/>
              </a:ext>
            </a:extLst>
          </p:cNvPr>
          <p:cNvCxnSpPr>
            <a:cxnSpLocks/>
          </p:cNvCxnSpPr>
          <p:nvPr/>
        </p:nvCxnSpPr>
        <p:spPr>
          <a:xfrm>
            <a:off x="3216834" y="5348555"/>
            <a:ext cx="4138856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箭头: 右 44">
            <a:extLst>
              <a:ext uri="{FF2B5EF4-FFF2-40B4-BE49-F238E27FC236}">
                <a16:creationId xmlns:a16="http://schemas.microsoft.com/office/drawing/2014/main" id="{5DAE2BCA-16A3-4136-9421-0254C2211787}"/>
              </a:ext>
            </a:extLst>
          </p:cNvPr>
          <p:cNvSpPr/>
          <p:nvPr/>
        </p:nvSpPr>
        <p:spPr>
          <a:xfrm>
            <a:off x="5052059" y="3261206"/>
            <a:ext cx="1310640" cy="3200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FC825A5F-B1D3-4C67-BB26-52E2B695AF31}"/>
              </a:ext>
            </a:extLst>
          </p:cNvPr>
          <p:cNvSpPr txBox="1"/>
          <p:nvPr/>
        </p:nvSpPr>
        <p:spPr>
          <a:xfrm>
            <a:off x="2232660" y="5463540"/>
            <a:ext cx="495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W</a:t>
            </a:r>
            <a:endParaRPr lang="zh-CN" altLang="en-US" b="1" dirty="0"/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C5C99BFA-436D-4F29-A2D4-E20A8976F566}"/>
              </a:ext>
            </a:extLst>
          </p:cNvPr>
          <p:cNvSpPr txBox="1"/>
          <p:nvPr/>
        </p:nvSpPr>
        <p:spPr>
          <a:xfrm>
            <a:off x="1223866" y="3794760"/>
            <a:ext cx="495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H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33352884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E2253F4F-F2F5-4D27-832D-154FB31309CF}"/>
              </a:ext>
            </a:extLst>
          </p:cNvPr>
          <p:cNvCxnSpPr>
            <a:cxnSpLocks/>
          </p:cNvCxnSpPr>
          <p:nvPr/>
        </p:nvCxnSpPr>
        <p:spPr>
          <a:xfrm>
            <a:off x="4284717" y="4266515"/>
            <a:ext cx="3548643" cy="63314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B106840B-AF03-49F7-B778-3DC70955B1D8}"/>
              </a:ext>
            </a:extLst>
          </p:cNvPr>
          <p:cNvSpPr txBox="1"/>
          <p:nvPr/>
        </p:nvSpPr>
        <p:spPr>
          <a:xfrm>
            <a:off x="225630" y="95003"/>
            <a:ext cx="57255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 err="1"/>
              <a:t>Einsum</a:t>
            </a:r>
            <a:r>
              <a:rPr lang="en-US" altLang="zh-CN" sz="2400" b="1" dirty="0"/>
              <a:t> </a:t>
            </a:r>
            <a:r>
              <a:rPr lang="zh-CN" altLang="en-US" sz="2400" b="1" dirty="0"/>
              <a:t>通道维度收缩 </a:t>
            </a:r>
            <a:r>
              <a:rPr lang="en-US" altLang="zh-CN" sz="2400" b="1" dirty="0"/>
              <a:t>—— </a:t>
            </a:r>
            <a:r>
              <a:rPr lang="zh-CN" altLang="en-US" sz="2400" b="1" dirty="0"/>
              <a:t>复数点乘</a:t>
            </a:r>
          </a:p>
        </p:txBody>
      </p:sp>
      <p:sp>
        <p:nvSpPr>
          <p:cNvPr id="26" name="立方体 25">
            <a:extLst>
              <a:ext uri="{FF2B5EF4-FFF2-40B4-BE49-F238E27FC236}">
                <a16:creationId xmlns:a16="http://schemas.microsoft.com/office/drawing/2014/main" id="{66FCB122-626C-45B1-915E-19D4EAEC416A}"/>
              </a:ext>
            </a:extLst>
          </p:cNvPr>
          <p:cNvSpPr/>
          <p:nvPr/>
        </p:nvSpPr>
        <p:spPr>
          <a:xfrm>
            <a:off x="7354495" y="1940050"/>
            <a:ext cx="2070250" cy="3409190"/>
          </a:xfrm>
          <a:prstGeom prst="cube">
            <a:avLst>
              <a:gd name="adj" fmla="val 2647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8" name="立方体 27">
            <a:extLst>
              <a:ext uri="{FF2B5EF4-FFF2-40B4-BE49-F238E27FC236}">
                <a16:creationId xmlns:a16="http://schemas.microsoft.com/office/drawing/2014/main" id="{48E6A159-F756-441E-B01A-EA557F5AE581}"/>
              </a:ext>
            </a:extLst>
          </p:cNvPr>
          <p:cNvSpPr/>
          <p:nvPr/>
        </p:nvSpPr>
        <p:spPr>
          <a:xfrm>
            <a:off x="1719167" y="1508760"/>
            <a:ext cx="2565550" cy="3840480"/>
          </a:xfrm>
          <a:prstGeom prst="cube">
            <a:avLst>
              <a:gd name="adj" fmla="val 4133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6874C98-328D-42C7-AD11-D13AB0D9449F}"/>
              </a:ext>
            </a:extLst>
          </p:cNvPr>
          <p:cNvSpPr txBox="1"/>
          <p:nvPr/>
        </p:nvSpPr>
        <p:spPr>
          <a:xfrm>
            <a:off x="629620" y="1724405"/>
            <a:ext cx="11682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Input</a:t>
            </a:r>
            <a:br>
              <a:rPr lang="en-US" altLang="zh-CN" dirty="0"/>
            </a:br>
            <a:r>
              <a:rPr lang="en-US" altLang="zh-CN" dirty="0"/>
              <a:t>Channel </a:t>
            </a:r>
            <a:endParaRPr lang="zh-CN" altLang="en-US" dirty="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3C242A0A-F591-4F6B-A127-9FA2FE6541E4}"/>
              </a:ext>
            </a:extLst>
          </p:cNvPr>
          <p:cNvSpPr txBox="1"/>
          <p:nvPr/>
        </p:nvSpPr>
        <p:spPr>
          <a:xfrm>
            <a:off x="9560485" y="2042958"/>
            <a:ext cx="11682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Output</a:t>
            </a:r>
            <a:br>
              <a:rPr lang="en-US" altLang="zh-CN" dirty="0"/>
            </a:br>
            <a:r>
              <a:rPr lang="en-US" altLang="zh-CN" dirty="0"/>
              <a:t>Channel </a:t>
            </a:r>
            <a:endParaRPr lang="zh-CN" altLang="en-US" dirty="0"/>
          </a:p>
        </p:txBody>
      </p: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FB3444DB-0D50-405A-9321-0E5E67D5B2D5}"/>
              </a:ext>
            </a:extLst>
          </p:cNvPr>
          <p:cNvCxnSpPr>
            <a:cxnSpLocks/>
          </p:cNvCxnSpPr>
          <p:nvPr/>
        </p:nvCxnSpPr>
        <p:spPr>
          <a:xfrm>
            <a:off x="4284717" y="1519562"/>
            <a:ext cx="5140028" cy="42048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F5AB4500-0B86-41C7-9B50-703107F312A2}"/>
              </a:ext>
            </a:extLst>
          </p:cNvPr>
          <p:cNvCxnSpPr>
            <a:cxnSpLocks/>
          </p:cNvCxnSpPr>
          <p:nvPr/>
        </p:nvCxnSpPr>
        <p:spPr>
          <a:xfrm>
            <a:off x="3216834" y="5348555"/>
            <a:ext cx="4138856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立方体 1">
            <a:extLst>
              <a:ext uri="{FF2B5EF4-FFF2-40B4-BE49-F238E27FC236}">
                <a16:creationId xmlns:a16="http://schemas.microsoft.com/office/drawing/2014/main" id="{0FAB02BC-933A-4EE2-A587-425256074916}"/>
              </a:ext>
            </a:extLst>
          </p:cNvPr>
          <p:cNvSpPr/>
          <p:nvPr/>
        </p:nvSpPr>
        <p:spPr>
          <a:xfrm>
            <a:off x="2971800" y="1509637"/>
            <a:ext cx="1312917" cy="1309764"/>
          </a:xfrm>
          <a:prstGeom prst="cube">
            <a:avLst>
              <a:gd name="adj" fmla="val 80723"/>
            </a:avLst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立方体 11">
            <a:extLst>
              <a:ext uri="{FF2B5EF4-FFF2-40B4-BE49-F238E27FC236}">
                <a16:creationId xmlns:a16="http://schemas.microsoft.com/office/drawing/2014/main" id="{126C2096-456F-448F-9971-D8CEA0635298}"/>
              </a:ext>
            </a:extLst>
          </p:cNvPr>
          <p:cNvSpPr/>
          <p:nvPr/>
        </p:nvSpPr>
        <p:spPr>
          <a:xfrm>
            <a:off x="8622122" y="1940049"/>
            <a:ext cx="802624" cy="818391"/>
          </a:xfrm>
          <a:prstGeom prst="cube">
            <a:avLst>
              <a:gd name="adj" fmla="val 68381"/>
            </a:avLst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E833B65D-B983-470B-BFEE-36CCA3FA6318}"/>
              </a:ext>
            </a:extLst>
          </p:cNvPr>
          <p:cNvCxnSpPr>
            <a:cxnSpLocks/>
          </p:cNvCxnSpPr>
          <p:nvPr/>
        </p:nvCxnSpPr>
        <p:spPr>
          <a:xfrm flipV="1">
            <a:off x="3216834" y="2491740"/>
            <a:ext cx="5668086" cy="9216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箭头: 右 4">
            <a:extLst>
              <a:ext uri="{FF2B5EF4-FFF2-40B4-BE49-F238E27FC236}">
                <a16:creationId xmlns:a16="http://schemas.microsoft.com/office/drawing/2014/main" id="{E7A83B08-88EA-4A45-B640-29CE5FCE899B}"/>
              </a:ext>
            </a:extLst>
          </p:cNvPr>
          <p:cNvSpPr/>
          <p:nvPr/>
        </p:nvSpPr>
        <p:spPr>
          <a:xfrm>
            <a:off x="5052059" y="3261206"/>
            <a:ext cx="1310640" cy="3200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2613BAD3-26B9-4B52-902E-3D74F2D90DD0}"/>
              </a:ext>
            </a:extLst>
          </p:cNvPr>
          <p:cNvCxnSpPr/>
          <p:nvPr/>
        </p:nvCxnSpPr>
        <p:spPr>
          <a:xfrm>
            <a:off x="3086100" y="2689289"/>
            <a:ext cx="1531620" cy="3086671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7795F196-478B-4498-9929-8D28ACE21EA3}"/>
              </a:ext>
            </a:extLst>
          </p:cNvPr>
          <p:cNvSpPr txBox="1"/>
          <p:nvPr/>
        </p:nvSpPr>
        <p:spPr>
          <a:xfrm>
            <a:off x="4284717" y="5855523"/>
            <a:ext cx="2956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一个点 </a:t>
            </a:r>
            <a:r>
              <a:rPr lang="en-US" altLang="zh-CN" dirty="0"/>
              <a:t>W=W1</a:t>
            </a:r>
            <a:r>
              <a:rPr lang="zh-CN" altLang="en-US" dirty="0"/>
              <a:t>，</a:t>
            </a:r>
            <a:r>
              <a:rPr lang="en-US" altLang="zh-CN" dirty="0"/>
              <a:t>H=H1</a:t>
            </a:r>
            <a:endParaRPr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311E0EE-9B09-4F20-8961-861C9F3F2B67}"/>
              </a:ext>
            </a:extLst>
          </p:cNvPr>
          <p:cNvSpPr txBox="1"/>
          <p:nvPr/>
        </p:nvSpPr>
        <p:spPr>
          <a:xfrm>
            <a:off x="2232660" y="5463540"/>
            <a:ext cx="495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W</a:t>
            </a:r>
            <a:endParaRPr lang="zh-CN" altLang="en-US" b="1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1134372-68A9-471B-BFF1-4DDB8E73955D}"/>
              </a:ext>
            </a:extLst>
          </p:cNvPr>
          <p:cNvSpPr txBox="1"/>
          <p:nvPr/>
        </p:nvSpPr>
        <p:spPr>
          <a:xfrm>
            <a:off x="1223866" y="3794760"/>
            <a:ext cx="495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H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33526662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B106840B-AF03-49F7-B778-3DC70955B1D8}"/>
              </a:ext>
            </a:extLst>
          </p:cNvPr>
          <p:cNvSpPr txBox="1"/>
          <p:nvPr/>
        </p:nvSpPr>
        <p:spPr>
          <a:xfrm>
            <a:off x="225630" y="95003"/>
            <a:ext cx="57255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 err="1"/>
              <a:t>Einsum</a:t>
            </a:r>
            <a:r>
              <a:rPr lang="en-US" altLang="zh-CN" sz="2400" b="1" dirty="0"/>
              <a:t> </a:t>
            </a:r>
            <a:r>
              <a:rPr lang="zh-CN" altLang="en-US" sz="2400" b="1" dirty="0"/>
              <a:t>通道维度收缩 </a:t>
            </a:r>
            <a:r>
              <a:rPr lang="en-US" altLang="zh-CN" sz="2400" b="1" dirty="0"/>
              <a:t>—— </a:t>
            </a:r>
            <a:r>
              <a:rPr lang="zh-CN" altLang="en-US" sz="2400" b="1" dirty="0"/>
              <a:t>复数点乘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6874C98-328D-42C7-AD11-D13AB0D9449F}"/>
              </a:ext>
            </a:extLst>
          </p:cNvPr>
          <p:cNvSpPr txBox="1"/>
          <p:nvPr/>
        </p:nvSpPr>
        <p:spPr>
          <a:xfrm>
            <a:off x="2251936" y="1538771"/>
            <a:ext cx="11682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Input</a:t>
            </a:r>
            <a:br>
              <a:rPr lang="en-US" altLang="zh-CN" dirty="0"/>
            </a:br>
            <a:r>
              <a:rPr lang="en-US" altLang="zh-CN" dirty="0"/>
              <a:t>Channel </a:t>
            </a:r>
            <a:endParaRPr lang="zh-CN" altLang="en-US" dirty="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3C242A0A-F591-4F6B-A127-9FA2FE6541E4}"/>
              </a:ext>
            </a:extLst>
          </p:cNvPr>
          <p:cNvSpPr txBox="1"/>
          <p:nvPr/>
        </p:nvSpPr>
        <p:spPr>
          <a:xfrm>
            <a:off x="9560485" y="2042958"/>
            <a:ext cx="11682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Output</a:t>
            </a:r>
            <a:br>
              <a:rPr lang="en-US" altLang="zh-CN" dirty="0"/>
            </a:br>
            <a:r>
              <a:rPr lang="en-US" altLang="zh-CN" dirty="0"/>
              <a:t>Channel </a:t>
            </a:r>
            <a:endParaRPr lang="zh-CN" altLang="en-US" dirty="0"/>
          </a:p>
        </p:txBody>
      </p:sp>
      <p:sp>
        <p:nvSpPr>
          <p:cNvPr id="2" name="立方体 1">
            <a:extLst>
              <a:ext uri="{FF2B5EF4-FFF2-40B4-BE49-F238E27FC236}">
                <a16:creationId xmlns:a16="http://schemas.microsoft.com/office/drawing/2014/main" id="{0FAB02BC-933A-4EE2-A587-425256074916}"/>
              </a:ext>
            </a:extLst>
          </p:cNvPr>
          <p:cNvSpPr/>
          <p:nvPr/>
        </p:nvSpPr>
        <p:spPr>
          <a:xfrm>
            <a:off x="2971800" y="1509637"/>
            <a:ext cx="1312917" cy="1309764"/>
          </a:xfrm>
          <a:prstGeom prst="cube">
            <a:avLst>
              <a:gd name="adj" fmla="val 80723"/>
            </a:avLst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立方体 11">
            <a:extLst>
              <a:ext uri="{FF2B5EF4-FFF2-40B4-BE49-F238E27FC236}">
                <a16:creationId xmlns:a16="http://schemas.microsoft.com/office/drawing/2014/main" id="{126C2096-456F-448F-9971-D8CEA0635298}"/>
              </a:ext>
            </a:extLst>
          </p:cNvPr>
          <p:cNvSpPr/>
          <p:nvPr/>
        </p:nvSpPr>
        <p:spPr>
          <a:xfrm>
            <a:off x="8622122" y="1940049"/>
            <a:ext cx="802624" cy="818391"/>
          </a:xfrm>
          <a:prstGeom prst="cube">
            <a:avLst>
              <a:gd name="adj" fmla="val 68381"/>
            </a:avLst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DD8BB66A-8DE6-4250-B3C3-7A33FBDBDABA}"/>
              </a:ext>
            </a:extLst>
          </p:cNvPr>
          <p:cNvCxnSpPr>
            <a:cxnSpLocks/>
          </p:cNvCxnSpPr>
          <p:nvPr/>
        </p:nvCxnSpPr>
        <p:spPr>
          <a:xfrm>
            <a:off x="4284717" y="1519562"/>
            <a:ext cx="5140028" cy="42048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159D4F19-45F2-47D3-9B7C-813B978903E1}"/>
              </a:ext>
            </a:extLst>
          </p:cNvPr>
          <p:cNvCxnSpPr>
            <a:cxnSpLocks/>
          </p:cNvCxnSpPr>
          <p:nvPr/>
        </p:nvCxnSpPr>
        <p:spPr>
          <a:xfrm flipV="1">
            <a:off x="3216834" y="2491740"/>
            <a:ext cx="5668086" cy="9216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62255C49-24E6-44A9-9BBF-C2CAFE8E13C8}"/>
              </a:ext>
            </a:extLst>
          </p:cNvPr>
          <p:cNvCxnSpPr/>
          <p:nvPr/>
        </p:nvCxnSpPr>
        <p:spPr>
          <a:xfrm>
            <a:off x="3086100" y="2689289"/>
            <a:ext cx="1531620" cy="3086671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A0849A2B-45E1-4D30-8EB6-154AC02A33F2}"/>
              </a:ext>
            </a:extLst>
          </p:cNvPr>
          <p:cNvSpPr txBox="1"/>
          <p:nvPr/>
        </p:nvSpPr>
        <p:spPr>
          <a:xfrm>
            <a:off x="4284717" y="5855523"/>
            <a:ext cx="2956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一个点 </a:t>
            </a:r>
            <a:r>
              <a:rPr lang="en-US" altLang="zh-CN" dirty="0"/>
              <a:t>W=W1</a:t>
            </a:r>
            <a:r>
              <a:rPr lang="zh-CN" altLang="en-US" dirty="0"/>
              <a:t>，</a:t>
            </a:r>
            <a:r>
              <a:rPr lang="en-US" altLang="zh-CN" dirty="0"/>
              <a:t>H=H1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526110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B106840B-AF03-49F7-B778-3DC70955B1D8}"/>
              </a:ext>
            </a:extLst>
          </p:cNvPr>
          <p:cNvSpPr txBox="1"/>
          <p:nvPr/>
        </p:nvSpPr>
        <p:spPr>
          <a:xfrm>
            <a:off x="225630" y="95003"/>
            <a:ext cx="57255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 err="1"/>
              <a:t>Einsum</a:t>
            </a:r>
            <a:r>
              <a:rPr lang="en-US" altLang="zh-CN" sz="2400" b="1" dirty="0"/>
              <a:t> </a:t>
            </a:r>
            <a:r>
              <a:rPr lang="zh-CN" altLang="en-US" sz="2400" b="1" dirty="0"/>
              <a:t>通道维度收缩 </a:t>
            </a:r>
            <a:r>
              <a:rPr lang="en-US" altLang="zh-CN" sz="2400" b="1" dirty="0"/>
              <a:t>—— </a:t>
            </a:r>
            <a:r>
              <a:rPr lang="zh-CN" altLang="en-US" sz="2400" b="1" dirty="0"/>
              <a:t>复数点乘</a:t>
            </a:r>
          </a:p>
        </p:txBody>
      </p:sp>
      <p:grpSp>
        <p:nvGrpSpPr>
          <p:cNvPr id="47" name="组合 46">
            <a:extLst>
              <a:ext uri="{FF2B5EF4-FFF2-40B4-BE49-F238E27FC236}">
                <a16:creationId xmlns:a16="http://schemas.microsoft.com/office/drawing/2014/main" id="{B3D851B0-C214-41F0-B936-EA2211C73925}"/>
              </a:ext>
            </a:extLst>
          </p:cNvPr>
          <p:cNvGrpSpPr/>
          <p:nvPr/>
        </p:nvGrpSpPr>
        <p:grpSpPr>
          <a:xfrm>
            <a:off x="1690661" y="1419487"/>
            <a:ext cx="5524693" cy="3632573"/>
            <a:chOff x="1690661" y="1419487"/>
            <a:chExt cx="5524693" cy="3632573"/>
          </a:xfrm>
        </p:grpSpPr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86874C98-328D-42C7-AD11-D13AB0D9449F}"/>
                </a:ext>
              </a:extLst>
            </p:cNvPr>
            <p:cNvSpPr txBox="1"/>
            <p:nvPr/>
          </p:nvSpPr>
          <p:spPr>
            <a:xfrm>
              <a:off x="4365281" y="1419487"/>
              <a:ext cx="116825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Input</a:t>
              </a:r>
              <a:br>
                <a:rPr lang="en-US" altLang="zh-CN" dirty="0"/>
              </a:br>
              <a:r>
                <a:rPr lang="en-US" altLang="zh-CN" dirty="0"/>
                <a:t>Channel </a:t>
              </a:r>
              <a:endParaRPr lang="zh-CN" altLang="en-US" dirty="0"/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3C242A0A-F591-4F6B-A127-9FA2FE6541E4}"/>
                </a:ext>
              </a:extLst>
            </p:cNvPr>
            <p:cNvSpPr txBox="1"/>
            <p:nvPr/>
          </p:nvSpPr>
          <p:spPr>
            <a:xfrm>
              <a:off x="1690661" y="3391776"/>
              <a:ext cx="116825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Output</a:t>
              </a:r>
              <a:br>
                <a:rPr lang="en-US" altLang="zh-CN" dirty="0"/>
              </a:br>
              <a:r>
                <a:rPr lang="en-US" altLang="zh-CN" dirty="0"/>
                <a:t>Channel </a:t>
              </a:r>
              <a:endParaRPr lang="zh-CN" altLang="en-US" dirty="0"/>
            </a:p>
          </p:txBody>
        </p:sp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EB58E450-8523-429C-806E-C240C1ACFF60}"/>
                </a:ext>
              </a:extLst>
            </p:cNvPr>
            <p:cNvGrpSpPr/>
            <p:nvPr/>
          </p:nvGrpSpPr>
          <p:grpSpPr>
            <a:xfrm>
              <a:off x="2858911" y="2194091"/>
              <a:ext cx="287236" cy="2857969"/>
              <a:chOff x="3096044" y="2476031"/>
              <a:chExt cx="287236" cy="2857969"/>
            </a:xfrm>
          </p:grpSpPr>
          <p:cxnSp>
            <p:nvCxnSpPr>
              <p:cNvPr id="7" name="直接连接符 6">
                <a:extLst>
                  <a:ext uri="{FF2B5EF4-FFF2-40B4-BE49-F238E27FC236}">
                    <a16:creationId xmlns:a16="http://schemas.microsoft.com/office/drawing/2014/main" id="{A02C6BD8-CAEE-4EAB-A91D-923FAC80DB43}"/>
                  </a:ext>
                </a:extLst>
              </p:cNvPr>
              <p:cNvCxnSpPr/>
              <p:nvPr/>
            </p:nvCxnSpPr>
            <p:spPr>
              <a:xfrm>
                <a:off x="3101340" y="2491271"/>
                <a:ext cx="281940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" name="直接连接符 16">
                <a:extLst>
                  <a:ext uri="{FF2B5EF4-FFF2-40B4-BE49-F238E27FC236}">
                    <a16:creationId xmlns:a16="http://schemas.microsoft.com/office/drawing/2014/main" id="{13BAE70C-12DC-4DB1-9C05-D3374AE54BB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08960" y="2476031"/>
                <a:ext cx="0" cy="2857969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9" name="直接连接符 18">
                <a:extLst>
                  <a:ext uri="{FF2B5EF4-FFF2-40B4-BE49-F238E27FC236}">
                    <a16:creationId xmlns:a16="http://schemas.microsoft.com/office/drawing/2014/main" id="{B808AA4C-389D-45C8-B16D-644DFBE804E7}"/>
                  </a:ext>
                </a:extLst>
              </p:cNvPr>
              <p:cNvCxnSpPr/>
              <p:nvPr/>
            </p:nvCxnSpPr>
            <p:spPr>
              <a:xfrm>
                <a:off x="3096044" y="5334000"/>
                <a:ext cx="281940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21" name="组合 20">
              <a:extLst>
                <a:ext uri="{FF2B5EF4-FFF2-40B4-BE49-F238E27FC236}">
                  <a16:creationId xmlns:a16="http://schemas.microsoft.com/office/drawing/2014/main" id="{5997ED60-AACE-412B-93E3-C03DAF6D5BCE}"/>
                </a:ext>
              </a:extLst>
            </p:cNvPr>
            <p:cNvGrpSpPr/>
            <p:nvPr/>
          </p:nvGrpSpPr>
          <p:grpSpPr>
            <a:xfrm rot="10800000">
              <a:off x="6928118" y="2194091"/>
              <a:ext cx="287236" cy="2857969"/>
              <a:chOff x="3096044" y="2476031"/>
              <a:chExt cx="287236" cy="2857969"/>
            </a:xfrm>
          </p:grpSpPr>
          <p:cxnSp>
            <p:nvCxnSpPr>
              <p:cNvPr id="22" name="直接连接符 21">
                <a:extLst>
                  <a:ext uri="{FF2B5EF4-FFF2-40B4-BE49-F238E27FC236}">
                    <a16:creationId xmlns:a16="http://schemas.microsoft.com/office/drawing/2014/main" id="{54D3EDC8-23F6-4627-A3AB-93331D60E793}"/>
                  </a:ext>
                </a:extLst>
              </p:cNvPr>
              <p:cNvCxnSpPr/>
              <p:nvPr/>
            </p:nvCxnSpPr>
            <p:spPr>
              <a:xfrm>
                <a:off x="3101340" y="2491271"/>
                <a:ext cx="281940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3" name="直接连接符 22">
                <a:extLst>
                  <a:ext uri="{FF2B5EF4-FFF2-40B4-BE49-F238E27FC236}">
                    <a16:creationId xmlns:a16="http://schemas.microsoft.com/office/drawing/2014/main" id="{4E8646D1-2643-40A1-A41C-93C0BE1D704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08960" y="2476031"/>
                <a:ext cx="0" cy="2857969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4" name="直接连接符 23">
                <a:extLst>
                  <a:ext uri="{FF2B5EF4-FFF2-40B4-BE49-F238E27FC236}">
                    <a16:creationId xmlns:a16="http://schemas.microsoft.com/office/drawing/2014/main" id="{D445C715-E433-4B9A-8924-3D0E12A59AF9}"/>
                  </a:ext>
                </a:extLst>
              </p:cNvPr>
              <p:cNvCxnSpPr/>
              <p:nvPr/>
            </p:nvCxnSpPr>
            <p:spPr>
              <a:xfrm>
                <a:off x="3096044" y="5334000"/>
                <a:ext cx="281940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7A56CF71-E8B0-43E2-88A9-D3EF838A5CA0}"/>
                </a:ext>
              </a:extLst>
            </p:cNvPr>
            <p:cNvSpPr/>
            <p:nvPr/>
          </p:nvSpPr>
          <p:spPr>
            <a:xfrm>
              <a:off x="2999881" y="2324099"/>
              <a:ext cx="4096923" cy="2592065"/>
            </a:xfrm>
            <a:prstGeom prst="rect">
              <a:avLst/>
            </a:prstGeom>
            <a:solidFill>
              <a:schemeClr val="accent3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4797F094-1A08-450D-9EA5-858505F20106}"/>
              </a:ext>
            </a:extLst>
          </p:cNvPr>
          <p:cNvGrpSpPr/>
          <p:nvPr/>
        </p:nvGrpSpPr>
        <p:grpSpPr>
          <a:xfrm>
            <a:off x="7479081" y="1419487"/>
            <a:ext cx="287236" cy="4343527"/>
            <a:chOff x="3096044" y="2476031"/>
            <a:chExt cx="287236" cy="2857969"/>
          </a:xfrm>
        </p:grpSpPr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EA5AA68B-9D1C-421A-99A1-4E833FB1F76E}"/>
                </a:ext>
              </a:extLst>
            </p:cNvPr>
            <p:cNvCxnSpPr/>
            <p:nvPr/>
          </p:nvCxnSpPr>
          <p:spPr>
            <a:xfrm>
              <a:off x="3101340" y="2491271"/>
              <a:ext cx="281940" cy="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9A31456F-377E-4BA5-99B9-1D4F6F9088B0}"/>
                </a:ext>
              </a:extLst>
            </p:cNvPr>
            <p:cNvCxnSpPr>
              <a:cxnSpLocks/>
            </p:cNvCxnSpPr>
            <p:nvPr/>
          </p:nvCxnSpPr>
          <p:spPr>
            <a:xfrm>
              <a:off x="3108960" y="2476031"/>
              <a:ext cx="0" cy="2857969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4BF6E513-B688-46D1-B9FF-ADD917DC5A82}"/>
                </a:ext>
              </a:extLst>
            </p:cNvPr>
            <p:cNvCxnSpPr/>
            <p:nvPr/>
          </p:nvCxnSpPr>
          <p:spPr>
            <a:xfrm>
              <a:off x="3096044" y="5334000"/>
              <a:ext cx="281940" cy="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036AC5A0-1CEF-41E8-A417-DB3F08D8B248}"/>
              </a:ext>
            </a:extLst>
          </p:cNvPr>
          <p:cNvGrpSpPr/>
          <p:nvPr/>
        </p:nvGrpSpPr>
        <p:grpSpPr>
          <a:xfrm rot="10800000">
            <a:off x="8074967" y="1442347"/>
            <a:ext cx="287236" cy="4343527"/>
            <a:chOff x="3096044" y="2476031"/>
            <a:chExt cx="287236" cy="2857969"/>
          </a:xfrm>
        </p:grpSpPr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34EB1CF1-0D08-4675-9E8A-BC90BCB7D92E}"/>
                </a:ext>
              </a:extLst>
            </p:cNvPr>
            <p:cNvCxnSpPr/>
            <p:nvPr/>
          </p:nvCxnSpPr>
          <p:spPr>
            <a:xfrm>
              <a:off x="3101340" y="2491271"/>
              <a:ext cx="281940" cy="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042BFF10-1E20-411D-9D84-D30544D7042A}"/>
                </a:ext>
              </a:extLst>
            </p:cNvPr>
            <p:cNvCxnSpPr>
              <a:cxnSpLocks/>
            </p:cNvCxnSpPr>
            <p:nvPr/>
          </p:nvCxnSpPr>
          <p:spPr>
            <a:xfrm>
              <a:off x="3108960" y="2476031"/>
              <a:ext cx="0" cy="2857969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4D264842-65C4-41A2-A28C-60914AEDFFF6}"/>
                </a:ext>
              </a:extLst>
            </p:cNvPr>
            <p:cNvCxnSpPr/>
            <p:nvPr/>
          </p:nvCxnSpPr>
          <p:spPr>
            <a:xfrm>
              <a:off x="3096044" y="5334000"/>
              <a:ext cx="281940" cy="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3" name="矩形 12">
            <a:extLst>
              <a:ext uri="{FF2B5EF4-FFF2-40B4-BE49-F238E27FC236}">
                <a16:creationId xmlns:a16="http://schemas.microsoft.com/office/drawing/2014/main" id="{3F0D8F96-A894-4F87-879D-8BDF1693E647}"/>
              </a:ext>
            </a:extLst>
          </p:cNvPr>
          <p:cNvSpPr/>
          <p:nvPr/>
        </p:nvSpPr>
        <p:spPr>
          <a:xfrm>
            <a:off x="7679773" y="1573882"/>
            <a:ext cx="487669" cy="395477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5C39C2B1-2F5C-4166-8D4A-89DA4F2D3ECF}"/>
              </a:ext>
            </a:extLst>
          </p:cNvPr>
          <p:cNvSpPr txBox="1"/>
          <p:nvPr/>
        </p:nvSpPr>
        <p:spPr>
          <a:xfrm>
            <a:off x="8499661" y="3228105"/>
            <a:ext cx="8067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/>
              <a:t>=</a:t>
            </a:r>
            <a:endParaRPr lang="zh-CN" altLang="en-US" sz="3600" b="1" dirty="0"/>
          </a:p>
        </p:txBody>
      </p: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573F392E-C49E-4D49-AD0C-6F52625E40F0}"/>
              </a:ext>
            </a:extLst>
          </p:cNvPr>
          <p:cNvGrpSpPr/>
          <p:nvPr/>
        </p:nvGrpSpPr>
        <p:grpSpPr>
          <a:xfrm>
            <a:off x="9328654" y="2194094"/>
            <a:ext cx="287236" cy="2819867"/>
            <a:chOff x="3096044" y="2476031"/>
            <a:chExt cx="287236" cy="2857969"/>
          </a:xfrm>
        </p:grpSpPr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2039F043-FAD0-4409-9C87-E731F5E06B71}"/>
                </a:ext>
              </a:extLst>
            </p:cNvPr>
            <p:cNvCxnSpPr/>
            <p:nvPr/>
          </p:nvCxnSpPr>
          <p:spPr>
            <a:xfrm>
              <a:off x="3101340" y="2491271"/>
              <a:ext cx="281940" cy="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9D4972AA-2426-467A-90D1-5AE5584DCF53}"/>
                </a:ext>
              </a:extLst>
            </p:cNvPr>
            <p:cNvCxnSpPr>
              <a:cxnSpLocks/>
            </p:cNvCxnSpPr>
            <p:nvPr/>
          </p:nvCxnSpPr>
          <p:spPr>
            <a:xfrm>
              <a:off x="3108960" y="2476031"/>
              <a:ext cx="0" cy="2857969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542C6831-F533-43DC-A95E-2AD87491492A}"/>
                </a:ext>
              </a:extLst>
            </p:cNvPr>
            <p:cNvCxnSpPr/>
            <p:nvPr/>
          </p:nvCxnSpPr>
          <p:spPr>
            <a:xfrm>
              <a:off x="3096044" y="5334000"/>
              <a:ext cx="281940" cy="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BEDFE8E9-4D0B-4E03-B8AB-8087363E2371}"/>
              </a:ext>
            </a:extLst>
          </p:cNvPr>
          <p:cNvGrpSpPr/>
          <p:nvPr/>
        </p:nvGrpSpPr>
        <p:grpSpPr>
          <a:xfrm rot="10800000">
            <a:off x="9924540" y="2216953"/>
            <a:ext cx="287236" cy="2819867"/>
            <a:chOff x="3096044" y="2476031"/>
            <a:chExt cx="287236" cy="2857969"/>
          </a:xfrm>
        </p:grpSpPr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A554A42E-9B86-43BA-922B-AF4491772234}"/>
                </a:ext>
              </a:extLst>
            </p:cNvPr>
            <p:cNvCxnSpPr/>
            <p:nvPr/>
          </p:nvCxnSpPr>
          <p:spPr>
            <a:xfrm>
              <a:off x="3101340" y="2491271"/>
              <a:ext cx="281940" cy="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5ED10FD3-D0AC-497E-9C2C-1194E1F28FF8}"/>
                </a:ext>
              </a:extLst>
            </p:cNvPr>
            <p:cNvCxnSpPr>
              <a:cxnSpLocks/>
            </p:cNvCxnSpPr>
            <p:nvPr/>
          </p:nvCxnSpPr>
          <p:spPr>
            <a:xfrm>
              <a:off x="3108960" y="2476031"/>
              <a:ext cx="0" cy="2857969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3491289D-121F-4C0F-AAE5-561B5F9556AA}"/>
                </a:ext>
              </a:extLst>
            </p:cNvPr>
            <p:cNvCxnSpPr/>
            <p:nvPr/>
          </p:nvCxnSpPr>
          <p:spPr>
            <a:xfrm>
              <a:off x="3096044" y="5334000"/>
              <a:ext cx="281940" cy="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4" name="矩形 43">
            <a:extLst>
              <a:ext uri="{FF2B5EF4-FFF2-40B4-BE49-F238E27FC236}">
                <a16:creationId xmlns:a16="http://schemas.microsoft.com/office/drawing/2014/main" id="{4F250927-B534-43BF-BAF0-236D597C2DDC}"/>
              </a:ext>
            </a:extLst>
          </p:cNvPr>
          <p:cNvSpPr/>
          <p:nvPr/>
        </p:nvSpPr>
        <p:spPr>
          <a:xfrm>
            <a:off x="9560527" y="2323336"/>
            <a:ext cx="487669" cy="2592064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5D675359-E252-425A-862E-74EBC024B35D}"/>
              </a:ext>
            </a:extLst>
          </p:cNvPr>
          <p:cNvSpPr txBox="1"/>
          <p:nvPr/>
        </p:nvSpPr>
        <p:spPr>
          <a:xfrm>
            <a:off x="4543371" y="5423273"/>
            <a:ext cx="1284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矩阵乘法</a:t>
            </a:r>
          </a:p>
        </p:txBody>
      </p:sp>
    </p:spTree>
    <p:extLst>
      <p:ext uri="{BB962C8B-B14F-4D97-AF65-F5344CB8AC3E}">
        <p14:creationId xmlns:p14="http://schemas.microsoft.com/office/powerpoint/2010/main" val="6696480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B106840B-AF03-49F7-B778-3DC70955B1D8}"/>
              </a:ext>
            </a:extLst>
          </p:cNvPr>
          <p:cNvSpPr txBox="1"/>
          <p:nvPr/>
        </p:nvSpPr>
        <p:spPr>
          <a:xfrm>
            <a:off x="225630" y="95003"/>
            <a:ext cx="57255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 err="1"/>
              <a:t>Einsum</a:t>
            </a:r>
            <a:r>
              <a:rPr lang="en-US" altLang="zh-CN" sz="2400" b="1" dirty="0"/>
              <a:t> </a:t>
            </a:r>
            <a:r>
              <a:rPr lang="zh-CN" altLang="en-US" sz="2400" b="1" dirty="0"/>
              <a:t>通道维度收缩 </a:t>
            </a:r>
            <a:r>
              <a:rPr lang="en-US" altLang="zh-CN" sz="2400" b="1" dirty="0"/>
              <a:t>—— </a:t>
            </a:r>
            <a:r>
              <a:rPr lang="zh-CN" altLang="en-US" sz="2400" b="1" dirty="0"/>
              <a:t>复数点乘</a:t>
            </a:r>
          </a:p>
        </p:txBody>
      </p:sp>
      <p:sp>
        <p:nvSpPr>
          <p:cNvPr id="26" name="立方体 25">
            <a:extLst>
              <a:ext uri="{FF2B5EF4-FFF2-40B4-BE49-F238E27FC236}">
                <a16:creationId xmlns:a16="http://schemas.microsoft.com/office/drawing/2014/main" id="{66FCB122-626C-45B1-915E-19D4EAEC416A}"/>
              </a:ext>
            </a:extLst>
          </p:cNvPr>
          <p:cNvSpPr/>
          <p:nvPr/>
        </p:nvSpPr>
        <p:spPr>
          <a:xfrm>
            <a:off x="7354495" y="1940050"/>
            <a:ext cx="2070250" cy="3409190"/>
          </a:xfrm>
          <a:prstGeom prst="cube">
            <a:avLst>
              <a:gd name="adj" fmla="val 2647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8" name="立方体 27">
            <a:extLst>
              <a:ext uri="{FF2B5EF4-FFF2-40B4-BE49-F238E27FC236}">
                <a16:creationId xmlns:a16="http://schemas.microsoft.com/office/drawing/2014/main" id="{48E6A159-F756-441E-B01A-EA557F5AE581}"/>
              </a:ext>
            </a:extLst>
          </p:cNvPr>
          <p:cNvSpPr/>
          <p:nvPr/>
        </p:nvSpPr>
        <p:spPr>
          <a:xfrm>
            <a:off x="1719167" y="1508760"/>
            <a:ext cx="2565550" cy="3840480"/>
          </a:xfrm>
          <a:prstGeom prst="cube">
            <a:avLst>
              <a:gd name="adj" fmla="val 4133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6874C98-328D-42C7-AD11-D13AB0D9449F}"/>
              </a:ext>
            </a:extLst>
          </p:cNvPr>
          <p:cNvSpPr txBox="1"/>
          <p:nvPr/>
        </p:nvSpPr>
        <p:spPr>
          <a:xfrm>
            <a:off x="629620" y="1724405"/>
            <a:ext cx="11682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Input</a:t>
            </a:r>
            <a:br>
              <a:rPr lang="en-US" altLang="zh-CN" dirty="0"/>
            </a:br>
            <a:r>
              <a:rPr lang="en-US" altLang="zh-CN" dirty="0"/>
              <a:t>Channel </a:t>
            </a:r>
            <a:endParaRPr lang="zh-CN" altLang="en-US" dirty="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3C242A0A-F591-4F6B-A127-9FA2FE6541E4}"/>
              </a:ext>
            </a:extLst>
          </p:cNvPr>
          <p:cNvSpPr txBox="1"/>
          <p:nvPr/>
        </p:nvSpPr>
        <p:spPr>
          <a:xfrm>
            <a:off x="9560485" y="2042958"/>
            <a:ext cx="11682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Output</a:t>
            </a:r>
            <a:br>
              <a:rPr lang="en-US" altLang="zh-CN" dirty="0"/>
            </a:br>
            <a:r>
              <a:rPr lang="en-US" altLang="zh-CN" dirty="0"/>
              <a:t>Channel </a:t>
            </a:r>
            <a:endParaRPr lang="zh-CN" altLang="en-US" dirty="0"/>
          </a:p>
        </p:txBody>
      </p:sp>
      <p:sp>
        <p:nvSpPr>
          <p:cNvPr id="2" name="立方体 1">
            <a:extLst>
              <a:ext uri="{FF2B5EF4-FFF2-40B4-BE49-F238E27FC236}">
                <a16:creationId xmlns:a16="http://schemas.microsoft.com/office/drawing/2014/main" id="{0FAB02BC-933A-4EE2-A587-425256074916}"/>
              </a:ext>
            </a:extLst>
          </p:cNvPr>
          <p:cNvSpPr/>
          <p:nvPr/>
        </p:nvSpPr>
        <p:spPr>
          <a:xfrm>
            <a:off x="2971800" y="1509637"/>
            <a:ext cx="1312917" cy="1309764"/>
          </a:xfrm>
          <a:prstGeom prst="cube">
            <a:avLst>
              <a:gd name="adj" fmla="val 80723"/>
            </a:avLst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立方体 11">
            <a:extLst>
              <a:ext uri="{FF2B5EF4-FFF2-40B4-BE49-F238E27FC236}">
                <a16:creationId xmlns:a16="http://schemas.microsoft.com/office/drawing/2014/main" id="{126C2096-456F-448F-9971-D8CEA0635298}"/>
              </a:ext>
            </a:extLst>
          </p:cNvPr>
          <p:cNvSpPr/>
          <p:nvPr/>
        </p:nvSpPr>
        <p:spPr>
          <a:xfrm>
            <a:off x="8622122" y="1940049"/>
            <a:ext cx="802624" cy="818391"/>
          </a:xfrm>
          <a:prstGeom prst="cube">
            <a:avLst>
              <a:gd name="adj" fmla="val 68381"/>
            </a:avLst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311E0EE-9B09-4F20-8961-861C9F3F2B67}"/>
              </a:ext>
            </a:extLst>
          </p:cNvPr>
          <p:cNvSpPr txBox="1"/>
          <p:nvPr/>
        </p:nvSpPr>
        <p:spPr>
          <a:xfrm>
            <a:off x="2232660" y="5463540"/>
            <a:ext cx="495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W</a:t>
            </a:r>
            <a:endParaRPr lang="zh-CN" altLang="en-US" b="1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1134372-68A9-471B-BFF1-4DDB8E73955D}"/>
              </a:ext>
            </a:extLst>
          </p:cNvPr>
          <p:cNvSpPr txBox="1"/>
          <p:nvPr/>
        </p:nvSpPr>
        <p:spPr>
          <a:xfrm>
            <a:off x="1223866" y="3794760"/>
            <a:ext cx="495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H</a:t>
            </a:r>
            <a:endParaRPr lang="zh-CN" altLang="en-US" b="1" dirty="0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46E38755-61D2-4629-A13B-857FC19E02EA}"/>
              </a:ext>
            </a:extLst>
          </p:cNvPr>
          <p:cNvGrpSpPr/>
          <p:nvPr/>
        </p:nvGrpSpPr>
        <p:grpSpPr>
          <a:xfrm>
            <a:off x="5196943" y="2798483"/>
            <a:ext cx="1798114" cy="1025986"/>
            <a:chOff x="4998924" y="2960112"/>
            <a:chExt cx="1798114" cy="1025986"/>
          </a:xfrm>
        </p:grpSpPr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D2564141-2623-4080-B326-46AC9B7D3C37}"/>
                </a:ext>
              </a:extLst>
            </p:cNvPr>
            <p:cNvGrpSpPr/>
            <p:nvPr/>
          </p:nvGrpSpPr>
          <p:grpSpPr>
            <a:xfrm>
              <a:off x="4998924" y="3263559"/>
              <a:ext cx="1227619" cy="722539"/>
              <a:chOff x="2858911" y="2194091"/>
              <a:chExt cx="4356443" cy="2857969"/>
            </a:xfrm>
          </p:grpSpPr>
          <p:grpSp>
            <p:nvGrpSpPr>
              <p:cNvPr id="22" name="组合 21">
                <a:extLst>
                  <a:ext uri="{FF2B5EF4-FFF2-40B4-BE49-F238E27FC236}">
                    <a16:creationId xmlns:a16="http://schemas.microsoft.com/office/drawing/2014/main" id="{70B686F7-24F8-41EC-99DB-6816E8B2DE87}"/>
                  </a:ext>
                </a:extLst>
              </p:cNvPr>
              <p:cNvGrpSpPr/>
              <p:nvPr/>
            </p:nvGrpSpPr>
            <p:grpSpPr>
              <a:xfrm>
                <a:off x="2858911" y="2194091"/>
                <a:ext cx="287236" cy="2857969"/>
                <a:chOff x="3096044" y="2476031"/>
                <a:chExt cx="287236" cy="2857969"/>
              </a:xfrm>
            </p:grpSpPr>
            <p:cxnSp>
              <p:nvCxnSpPr>
                <p:cNvPr id="31" name="直接连接符 30">
                  <a:extLst>
                    <a:ext uri="{FF2B5EF4-FFF2-40B4-BE49-F238E27FC236}">
                      <a16:creationId xmlns:a16="http://schemas.microsoft.com/office/drawing/2014/main" id="{9C8EC1A2-C589-4E10-888E-5F10392BE9D8}"/>
                    </a:ext>
                  </a:extLst>
                </p:cNvPr>
                <p:cNvCxnSpPr/>
                <p:nvPr/>
              </p:nvCxnSpPr>
              <p:spPr>
                <a:xfrm>
                  <a:off x="3101340" y="2491271"/>
                  <a:ext cx="281940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直接连接符 31">
                  <a:extLst>
                    <a:ext uri="{FF2B5EF4-FFF2-40B4-BE49-F238E27FC236}">
                      <a16:creationId xmlns:a16="http://schemas.microsoft.com/office/drawing/2014/main" id="{5F6C5053-65CF-4309-AB5E-86AA562446E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108960" y="2476031"/>
                  <a:ext cx="0" cy="2857969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直接连接符 33">
                  <a:extLst>
                    <a:ext uri="{FF2B5EF4-FFF2-40B4-BE49-F238E27FC236}">
                      <a16:creationId xmlns:a16="http://schemas.microsoft.com/office/drawing/2014/main" id="{E7A214E1-5D12-44B0-AD76-80E8DBF06A9D}"/>
                    </a:ext>
                  </a:extLst>
                </p:cNvPr>
                <p:cNvCxnSpPr/>
                <p:nvPr/>
              </p:nvCxnSpPr>
              <p:spPr>
                <a:xfrm>
                  <a:off x="3096044" y="5334000"/>
                  <a:ext cx="281940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" name="组合 22">
                <a:extLst>
                  <a:ext uri="{FF2B5EF4-FFF2-40B4-BE49-F238E27FC236}">
                    <a16:creationId xmlns:a16="http://schemas.microsoft.com/office/drawing/2014/main" id="{CB3EDECD-41C5-4A8A-908B-EB7B5D42CE7A}"/>
                  </a:ext>
                </a:extLst>
              </p:cNvPr>
              <p:cNvGrpSpPr/>
              <p:nvPr/>
            </p:nvGrpSpPr>
            <p:grpSpPr>
              <a:xfrm rot="10800000">
                <a:off x="6928118" y="2194091"/>
                <a:ext cx="287236" cy="2857969"/>
                <a:chOff x="3096044" y="2476031"/>
                <a:chExt cx="287236" cy="2857969"/>
              </a:xfrm>
            </p:grpSpPr>
            <p:cxnSp>
              <p:nvCxnSpPr>
                <p:cNvPr id="25" name="直接连接符 24">
                  <a:extLst>
                    <a:ext uri="{FF2B5EF4-FFF2-40B4-BE49-F238E27FC236}">
                      <a16:creationId xmlns:a16="http://schemas.microsoft.com/office/drawing/2014/main" id="{39E90A0C-21CC-4063-B9CE-8233972086B3}"/>
                    </a:ext>
                  </a:extLst>
                </p:cNvPr>
                <p:cNvCxnSpPr/>
                <p:nvPr/>
              </p:nvCxnSpPr>
              <p:spPr>
                <a:xfrm>
                  <a:off x="3101340" y="2491271"/>
                  <a:ext cx="281940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直接连接符 26">
                  <a:extLst>
                    <a:ext uri="{FF2B5EF4-FFF2-40B4-BE49-F238E27FC236}">
                      <a16:creationId xmlns:a16="http://schemas.microsoft.com/office/drawing/2014/main" id="{BD533E8B-A4F4-49F8-A37C-F0D6B898CC1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108960" y="2476031"/>
                  <a:ext cx="0" cy="2857969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直接连接符 29">
                  <a:extLst>
                    <a:ext uri="{FF2B5EF4-FFF2-40B4-BE49-F238E27FC236}">
                      <a16:creationId xmlns:a16="http://schemas.microsoft.com/office/drawing/2014/main" id="{EC09CB19-044F-4E0A-BF2E-E0A361A237B0}"/>
                    </a:ext>
                  </a:extLst>
                </p:cNvPr>
                <p:cNvCxnSpPr/>
                <p:nvPr/>
              </p:nvCxnSpPr>
              <p:spPr>
                <a:xfrm>
                  <a:off x="3096044" y="5334000"/>
                  <a:ext cx="281940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4" name="矩形 23">
                <a:extLst>
                  <a:ext uri="{FF2B5EF4-FFF2-40B4-BE49-F238E27FC236}">
                    <a16:creationId xmlns:a16="http://schemas.microsoft.com/office/drawing/2014/main" id="{7B167755-522E-4F17-9986-C67BE3FB9363}"/>
                  </a:ext>
                </a:extLst>
              </p:cNvPr>
              <p:cNvSpPr/>
              <p:nvPr/>
            </p:nvSpPr>
            <p:spPr>
              <a:xfrm>
                <a:off x="2999881" y="2324100"/>
                <a:ext cx="4096922" cy="2592064"/>
              </a:xfrm>
              <a:prstGeom prst="rect">
                <a:avLst/>
              </a:prstGeom>
              <a:solidFill>
                <a:schemeClr val="accent3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700"/>
              </a:p>
            </p:txBody>
          </p:sp>
        </p:grpSp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3DB40BA6-ED34-430A-B988-416B236AB4BD}"/>
                </a:ext>
              </a:extLst>
            </p:cNvPr>
            <p:cNvSpPr txBox="1"/>
            <p:nvPr/>
          </p:nvSpPr>
          <p:spPr>
            <a:xfrm>
              <a:off x="5443746" y="2960112"/>
              <a:ext cx="4267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IC</a:t>
              </a:r>
              <a:endParaRPr lang="zh-CN" altLang="en-US" dirty="0"/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797F8507-5028-433A-97AB-1211E7005E7D}"/>
                </a:ext>
              </a:extLst>
            </p:cNvPr>
            <p:cNvSpPr txBox="1"/>
            <p:nvPr/>
          </p:nvSpPr>
          <p:spPr>
            <a:xfrm>
              <a:off x="6268943" y="3459979"/>
              <a:ext cx="5280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OC</a:t>
              </a:r>
              <a:endParaRPr lang="zh-CN" altLang="en-US" dirty="0"/>
            </a:p>
          </p:txBody>
        </p:sp>
      </p:grpSp>
      <p:sp>
        <p:nvSpPr>
          <p:cNvPr id="8" name="文本框 7">
            <a:extLst>
              <a:ext uri="{FF2B5EF4-FFF2-40B4-BE49-F238E27FC236}">
                <a16:creationId xmlns:a16="http://schemas.microsoft.com/office/drawing/2014/main" id="{DDFD96F4-1582-401B-A90B-ACB592370955}"/>
              </a:ext>
            </a:extLst>
          </p:cNvPr>
          <p:cNvSpPr txBox="1"/>
          <p:nvPr/>
        </p:nvSpPr>
        <p:spPr>
          <a:xfrm>
            <a:off x="5206902" y="3941761"/>
            <a:ext cx="17881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H x W</a:t>
            </a:r>
            <a:r>
              <a:rPr lang="zh-CN" altLang="en-US" dirty="0"/>
              <a:t>个矩阵</a:t>
            </a:r>
            <a:endParaRPr lang="en-US" altLang="zh-CN" dirty="0"/>
          </a:p>
          <a:p>
            <a:r>
              <a:rPr lang="zh-CN" altLang="en-US" dirty="0"/>
              <a:t>一个位置一个</a:t>
            </a:r>
          </a:p>
        </p:txBody>
      </p:sp>
      <p:sp>
        <p:nvSpPr>
          <p:cNvPr id="38" name="箭头: 右 37">
            <a:extLst>
              <a:ext uri="{FF2B5EF4-FFF2-40B4-BE49-F238E27FC236}">
                <a16:creationId xmlns:a16="http://schemas.microsoft.com/office/drawing/2014/main" id="{CC2A38D5-4D4E-4E77-B0E6-82F0E1893167}"/>
              </a:ext>
            </a:extLst>
          </p:cNvPr>
          <p:cNvSpPr/>
          <p:nvPr/>
        </p:nvSpPr>
        <p:spPr>
          <a:xfrm>
            <a:off x="5052059" y="4838546"/>
            <a:ext cx="1310640" cy="3200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34025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B106840B-AF03-49F7-B778-3DC70955B1D8}"/>
              </a:ext>
            </a:extLst>
          </p:cNvPr>
          <p:cNvSpPr txBox="1"/>
          <p:nvPr/>
        </p:nvSpPr>
        <p:spPr>
          <a:xfrm>
            <a:off x="225630" y="95003"/>
            <a:ext cx="57255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 err="1"/>
              <a:t>Einsum</a:t>
            </a:r>
            <a:r>
              <a:rPr lang="en-US" altLang="zh-CN" sz="2400" b="1" dirty="0"/>
              <a:t> </a:t>
            </a:r>
            <a:r>
              <a:rPr lang="zh-CN" altLang="en-US" sz="2400" b="1" dirty="0"/>
              <a:t>通道维度收缩 </a:t>
            </a:r>
            <a:r>
              <a:rPr lang="en-US" altLang="zh-CN" sz="2400" b="1" dirty="0"/>
              <a:t>—— </a:t>
            </a:r>
            <a:r>
              <a:rPr lang="zh-CN" altLang="en-US" sz="2400" b="1" dirty="0"/>
              <a:t>复数点乘</a:t>
            </a:r>
          </a:p>
        </p:txBody>
      </p:sp>
      <p:sp>
        <p:nvSpPr>
          <p:cNvPr id="26" name="立方体 25">
            <a:extLst>
              <a:ext uri="{FF2B5EF4-FFF2-40B4-BE49-F238E27FC236}">
                <a16:creationId xmlns:a16="http://schemas.microsoft.com/office/drawing/2014/main" id="{66FCB122-626C-45B1-915E-19D4EAEC416A}"/>
              </a:ext>
            </a:extLst>
          </p:cNvPr>
          <p:cNvSpPr/>
          <p:nvPr/>
        </p:nvSpPr>
        <p:spPr>
          <a:xfrm>
            <a:off x="7354495" y="1940050"/>
            <a:ext cx="2070250" cy="3409190"/>
          </a:xfrm>
          <a:prstGeom prst="cube">
            <a:avLst>
              <a:gd name="adj" fmla="val 2647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8" name="立方体 27">
            <a:extLst>
              <a:ext uri="{FF2B5EF4-FFF2-40B4-BE49-F238E27FC236}">
                <a16:creationId xmlns:a16="http://schemas.microsoft.com/office/drawing/2014/main" id="{48E6A159-F756-441E-B01A-EA557F5AE581}"/>
              </a:ext>
            </a:extLst>
          </p:cNvPr>
          <p:cNvSpPr/>
          <p:nvPr/>
        </p:nvSpPr>
        <p:spPr>
          <a:xfrm>
            <a:off x="1719167" y="1508760"/>
            <a:ext cx="2565550" cy="3840480"/>
          </a:xfrm>
          <a:prstGeom prst="cube">
            <a:avLst>
              <a:gd name="adj" fmla="val 4133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6874C98-328D-42C7-AD11-D13AB0D9449F}"/>
              </a:ext>
            </a:extLst>
          </p:cNvPr>
          <p:cNvSpPr txBox="1"/>
          <p:nvPr/>
        </p:nvSpPr>
        <p:spPr>
          <a:xfrm>
            <a:off x="629620" y="1724405"/>
            <a:ext cx="11682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I</a:t>
            </a:r>
            <a:r>
              <a:rPr lang="en-US" altLang="zh-CN" dirty="0"/>
              <a:t>nput</a:t>
            </a:r>
            <a:br>
              <a:rPr lang="en-US" altLang="zh-CN" dirty="0"/>
            </a:br>
            <a:r>
              <a:rPr lang="en-US" altLang="zh-CN" b="1" dirty="0"/>
              <a:t>C</a:t>
            </a:r>
            <a:r>
              <a:rPr lang="en-US" altLang="zh-CN" dirty="0"/>
              <a:t>hannel </a:t>
            </a:r>
            <a:endParaRPr lang="zh-CN" altLang="en-US" dirty="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3C242A0A-F591-4F6B-A127-9FA2FE6541E4}"/>
              </a:ext>
            </a:extLst>
          </p:cNvPr>
          <p:cNvSpPr txBox="1"/>
          <p:nvPr/>
        </p:nvSpPr>
        <p:spPr>
          <a:xfrm>
            <a:off x="9560485" y="2042958"/>
            <a:ext cx="11682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O</a:t>
            </a:r>
            <a:r>
              <a:rPr lang="en-US" altLang="zh-CN" dirty="0"/>
              <a:t>utput</a:t>
            </a:r>
            <a:br>
              <a:rPr lang="en-US" altLang="zh-CN" dirty="0"/>
            </a:br>
            <a:r>
              <a:rPr lang="en-US" altLang="zh-CN" b="1" dirty="0"/>
              <a:t>C</a:t>
            </a:r>
            <a:r>
              <a:rPr lang="en-US" altLang="zh-CN" dirty="0"/>
              <a:t>hannel </a:t>
            </a:r>
            <a:endParaRPr lang="zh-CN" altLang="en-US" dirty="0"/>
          </a:p>
        </p:txBody>
      </p:sp>
      <p:sp>
        <p:nvSpPr>
          <p:cNvPr id="2" name="立方体 1">
            <a:extLst>
              <a:ext uri="{FF2B5EF4-FFF2-40B4-BE49-F238E27FC236}">
                <a16:creationId xmlns:a16="http://schemas.microsoft.com/office/drawing/2014/main" id="{0FAB02BC-933A-4EE2-A587-425256074916}"/>
              </a:ext>
            </a:extLst>
          </p:cNvPr>
          <p:cNvSpPr/>
          <p:nvPr/>
        </p:nvSpPr>
        <p:spPr>
          <a:xfrm>
            <a:off x="2971800" y="1509637"/>
            <a:ext cx="1312917" cy="1309764"/>
          </a:xfrm>
          <a:prstGeom prst="cube">
            <a:avLst>
              <a:gd name="adj" fmla="val 80723"/>
            </a:avLst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立方体 11">
            <a:extLst>
              <a:ext uri="{FF2B5EF4-FFF2-40B4-BE49-F238E27FC236}">
                <a16:creationId xmlns:a16="http://schemas.microsoft.com/office/drawing/2014/main" id="{126C2096-456F-448F-9971-D8CEA0635298}"/>
              </a:ext>
            </a:extLst>
          </p:cNvPr>
          <p:cNvSpPr/>
          <p:nvPr/>
        </p:nvSpPr>
        <p:spPr>
          <a:xfrm>
            <a:off x="8622122" y="1940049"/>
            <a:ext cx="802624" cy="818391"/>
          </a:xfrm>
          <a:prstGeom prst="cube">
            <a:avLst>
              <a:gd name="adj" fmla="val 68381"/>
            </a:avLst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311E0EE-9B09-4F20-8961-861C9F3F2B67}"/>
              </a:ext>
            </a:extLst>
          </p:cNvPr>
          <p:cNvSpPr txBox="1"/>
          <p:nvPr/>
        </p:nvSpPr>
        <p:spPr>
          <a:xfrm>
            <a:off x="2232660" y="5463540"/>
            <a:ext cx="495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W</a:t>
            </a:r>
            <a:endParaRPr lang="zh-CN" altLang="en-US" b="1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1134372-68A9-471B-BFF1-4DDB8E73955D}"/>
              </a:ext>
            </a:extLst>
          </p:cNvPr>
          <p:cNvSpPr txBox="1"/>
          <p:nvPr/>
        </p:nvSpPr>
        <p:spPr>
          <a:xfrm>
            <a:off x="1223866" y="3794760"/>
            <a:ext cx="495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H</a:t>
            </a:r>
            <a:endParaRPr lang="zh-CN" altLang="en-US" b="1" dirty="0"/>
          </a:p>
        </p:txBody>
      </p:sp>
      <p:sp>
        <p:nvSpPr>
          <p:cNvPr id="38" name="箭头: 右 37">
            <a:extLst>
              <a:ext uri="{FF2B5EF4-FFF2-40B4-BE49-F238E27FC236}">
                <a16:creationId xmlns:a16="http://schemas.microsoft.com/office/drawing/2014/main" id="{CC2A38D5-4D4E-4E77-B0E6-82F0E1893167}"/>
              </a:ext>
            </a:extLst>
          </p:cNvPr>
          <p:cNvSpPr/>
          <p:nvPr/>
        </p:nvSpPr>
        <p:spPr>
          <a:xfrm>
            <a:off x="5052059" y="4838546"/>
            <a:ext cx="1310640" cy="3200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5309B61-435B-4422-B6BB-92F6FFC5423B}"/>
              </a:ext>
            </a:extLst>
          </p:cNvPr>
          <p:cNvSpPr txBox="1"/>
          <p:nvPr/>
        </p:nvSpPr>
        <p:spPr>
          <a:xfrm>
            <a:off x="5052059" y="2786735"/>
            <a:ext cx="11658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四维张量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D50B3F39-F021-4284-9A26-12E879821B93}"/>
              </a:ext>
            </a:extLst>
          </p:cNvPr>
          <p:cNvSpPr txBox="1"/>
          <p:nvPr/>
        </p:nvSpPr>
        <p:spPr>
          <a:xfrm>
            <a:off x="4448885" y="3535641"/>
            <a:ext cx="25169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w ( IC, OC, H, W)</a:t>
            </a:r>
            <a:endParaRPr lang="zh-CN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1865315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B106840B-AF03-49F7-B778-3DC70955B1D8}"/>
              </a:ext>
            </a:extLst>
          </p:cNvPr>
          <p:cNvSpPr txBox="1"/>
          <p:nvPr/>
        </p:nvSpPr>
        <p:spPr>
          <a:xfrm>
            <a:off x="225630" y="95003"/>
            <a:ext cx="57255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傅里叶神经算子 </a:t>
            </a:r>
            <a:r>
              <a:rPr lang="en-US" altLang="zh-CN" sz="2400" b="1" dirty="0"/>
              <a:t>FNO</a:t>
            </a:r>
            <a:endParaRPr lang="zh-CN" altLang="en-US" sz="2400" b="1" dirty="0"/>
          </a:p>
        </p:txBody>
      </p:sp>
      <p:sp>
        <p:nvSpPr>
          <p:cNvPr id="14" name="立方体 13">
            <a:extLst>
              <a:ext uri="{FF2B5EF4-FFF2-40B4-BE49-F238E27FC236}">
                <a16:creationId xmlns:a16="http://schemas.microsoft.com/office/drawing/2014/main" id="{CCCD3181-AFFA-429B-87AA-44DA7BF17F02}"/>
              </a:ext>
            </a:extLst>
          </p:cNvPr>
          <p:cNvSpPr/>
          <p:nvPr/>
        </p:nvSpPr>
        <p:spPr>
          <a:xfrm>
            <a:off x="951080" y="1783080"/>
            <a:ext cx="2516020" cy="2552700"/>
          </a:xfrm>
          <a:prstGeom prst="cube">
            <a:avLst>
              <a:gd name="adj" fmla="val 2076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9B6E91C-B3A2-4498-9883-0CEB40D87AEC}"/>
              </a:ext>
            </a:extLst>
          </p:cNvPr>
          <p:cNvSpPr txBox="1"/>
          <p:nvPr/>
        </p:nvSpPr>
        <p:spPr>
          <a:xfrm>
            <a:off x="749150" y="5516001"/>
            <a:ext cx="20626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B</a:t>
            </a:r>
            <a:r>
              <a:rPr lang="zh-CN" altLang="en-US" dirty="0"/>
              <a:t>维度不画出来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1CB4CFDC-331F-4306-B99E-E8F79CEB0D72}"/>
              </a:ext>
            </a:extLst>
          </p:cNvPr>
          <p:cNvSpPr txBox="1"/>
          <p:nvPr/>
        </p:nvSpPr>
        <p:spPr>
          <a:xfrm>
            <a:off x="749150" y="4925890"/>
            <a:ext cx="20626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输入 </a:t>
            </a:r>
            <a:r>
              <a:rPr lang="en-US" altLang="zh-CN" dirty="0"/>
              <a:t>x (B, C, H, W)</a:t>
            </a:r>
            <a:endParaRPr lang="zh-CN" alt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DD77CD41-1AE1-49E1-9F52-6C5A830DE3DB}"/>
              </a:ext>
            </a:extLst>
          </p:cNvPr>
          <p:cNvSpPr txBox="1"/>
          <p:nvPr/>
        </p:nvSpPr>
        <p:spPr>
          <a:xfrm>
            <a:off x="1696644" y="4335780"/>
            <a:ext cx="495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W</a:t>
            </a:r>
            <a:endParaRPr lang="zh-CN" altLang="en-US" b="1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629139C9-4B9C-4315-88DA-7DDDA44FD5AF}"/>
              </a:ext>
            </a:extLst>
          </p:cNvPr>
          <p:cNvSpPr txBox="1"/>
          <p:nvPr/>
        </p:nvSpPr>
        <p:spPr>
          <a:xfrm>
            <a:off x="501500" y="3182900"/>
            <a:ext cx="495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H</a:t>
            </a:r>
            <a:endParaRPr lang="zh-CN" altLang="en-US" b="1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6685A2F6-66DC-47E4-B849-DE62496D5051}"/>
              </a:ext>
            </a:extLst>
          </p:cNvPr>
          <p:cNvSpPr txBox="1"/>
          <p:nvPr/>
        </p:nvSpPr>
        <p:spPr>
          <a:xfrm>
            <a:off x="951080" y="1771822"/>
            <a:ext cx="495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C</a:t>
            </a:r>
            <a:endParaRPr lang="zh-CN" altLang="en-US" b="1" dirty="0"/>
          </a:p>
        </p:txBody>
      </p:sp>
      <p:sp>
        <p:nvSpPr>
          <p:cNvPr id="20" name="立方体 19">
            <a:extLst>
              <a:ext uri="{FF2B5EF4-FFF2-40B4-BE49-F238E27FC236}">
                <a16:creationId xmlns:a16="http://schemas.microsoft.com/office/drawing/2014/main" id="{1946B0BA-B1F7-4F78-B863-43AB16CF7688}"/>
              </a:ext>
            </a:extLst>
          </p:cNvPr>
          <p:cNvSpPr/>
          <p:nvPr/>
        </p:nvSpPr>
        <p:spPr>
          <a:xfrm>
            <a:off x="7892900" y="1783080"/>
            <a:ext cx="2516020" cy="2552700"/>
          </a:xfrm>
          <a:prstGeom prst="cube">
            <a:avLst>
              <a:gd name="adj" fmla="val 20760"/>
            </a:avLst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F489079-CCBF-4DB3-B8A6-6823B775FCF6}"/>
              </a:ext>
            </a:extLst>
          </p:cNvPr>
          <p:cNvSpPr txBox="1"/>
          <p:nvPr/>
        </p:nvSpPr>
        <p:spPr>
          <a:xfrm>
            <a:off x="8638464" y="4335780"/>
            <a:ext cx="495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W</a:t>
            </a:r>
            <a:endParaRPr lang="zh-CN" altLang="en-US" b="1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D47AC5DF-4D3D-4CD8-B2FE-AC14BEFCC0D7}"/>
              </a:ext>
            </a:extLst>
          </p:cNvPr>
          <p:cNvSpPr txBox="1"/>
          <p:nvPr/>
        </p:nvSpPr>
        <p:spPr>
          <a:xfrm>
            <a:off x="7443320" y="3182900"/>
            <a:ext cx="495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H</a:t>
            </a:r>
            <a:endParaRPr lang="zh-CN" altLang="en-US" b="1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A88134D2-C445-4EAA-81F3-F7D978169341}"/>
              </a:ext>
            </a:extLst>
          </p:cNvPr>
          <p:cNvSpPr txBox="1"/>
          <p:nvPr/>
        </p:nvSpPr>
        <p:spPr>
          <a:xfrm>
            <a:off x="7892900" y="1771822"/>
            <a:ext cx="495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C</a:t>
            </a:r>
            <a:endParaRPr lang="zh-CN" altLang="en-US" b="1" dirty="0"/>
          </a:p>
        </p:txBody>
      </p:sp>
      <p:sp>
        <p:nvSpPr>
          <p:cNvPr id="8" name="箭头: 右 7">
            <a:extLst>
              <a:ext uri="{FF2B5EF4-FFF2-40B4-BE49-F238E27FC236}">
                <a16:creationId xmlns:a16="http://schemas.microsoft.com/office/drawing/2014/main" id="{426F425F-CD6F-4FC7-B70D-7FFF4C4EA9E9}"/>
              </a:ext>
            </a:extLst>
          </p:cNvPr>
          <p:cNvSpPr/>
          <p:nvPr/>
        </p:nvSpPr>
        <p:spPr>
          <a:xfrm>
            <a:off x="4944315" y="3093246"/>
            <a:ext cx="922020" cy="5486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E8903EF-7308-4B3A-9383-1E904DC037D5}"/>
              </a:ext>
            </a:extLst>
          </p:cNvPr>
          <p:cNvSpPr txBox="1"/>
          <p:nvPr/>
        </p:nvSpPr>
        <p:spPr>
          <a:xfrm>
            <a:off x="5021225" y="2638307"/>
            <a:ext cx="13944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DFT</a:t>
            </a:r>
            <a:endParaRPr lang="zh-CN" altLang="en-US" b="1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A03151C4-D197-4BDB-B81C-0172D875D849}"/>
              </a:ext>
            </a:extLst>
          </p:cNvPr>
          <p:cNvSpPr txBox="1"/>
          <p:nvPr/>
        </p:nvSpPr>
        <p:spPr>
          <a:xfrm>
            <a:off x="7624294" y="4925890"/>
            <a:ext cx="30189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频域复数张量 </a:t>
            </a:r>
            <a:r>
              <a:rPr lang="en-US" altLang="zh-CN" dirty="0"/>
              <a:t>x (B, C, H, W)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2892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B106840B-AF03-49F7-B778-3DC70955B1D8}"/>
              </a:ext>
            </a:extLst>
          </p:cNvPr>
          <p:cNvSpPr txBox="1"/>
          <p:nvPr/>
        </p:nvSpPr>
        <p:spPr>
          <a:xfrm>
            <a:off x="225630" y="95003"/>
            <a:ext cx="57255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傅里叶神经算子 </a:t>
            </a:r>
            <a:r>
              <a:rPr lang="en-US" altLang="zh-CN" sz="2400" b="1" dirty="0"/>
              <a:t>FNO</a:t>
            </a:r>
            <a:endParaRPr lang="zh-CN" altLang="en-US" sz="2400" b="1" dirty="0"/>
          </a:p>
        </p:txBody>
      </p:sp>
      <p:sp>
        <p:nvSpPr>
          <p:cNvPr id="14" name="立方体 13">
            <a:extLst>
              <a:ext uri="{FF2B5EF4-FFF2-40B4-BE49-F238E27FC236}">
                <a16:creationId xmlns:a16="http://schemas.microsoft.com/office/drawing/2014/main" id="{CCCD3181-AFFA-429B-87AA-44DA7BF17F02}"/>
              </a:ext>
            </a:extLst>
          </p:cNvPr>
          <p:cNvSpPr/>
          <p:nvPr/>
        </p:nvSpPr>
        <p:spPr>
          <a:xfrm>
            <a:off x="951080" y="1783080"/>
            <a:ext cx="2516020" cy="2552700"/>
          </a:xfrm>
          <a:prstGeom prst="cube">
            <a:avLst>
              <a:gd name="adj" fmla="val 2076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9B6E91C-B3A2-4498-9883-0CEB40D87AEC}"/>
              </a:ext>
            </a:extLst>
          </p:cNvPr>
          <p:cNvSpPr txBox="1"/>
          <p:nvPr/>
        </p:nvSpPr>
        <p:spPr>
          <a:xfrm>
            <a:off x="749150" y="5516001"/>
            <a:ext cx="20626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B</a:t>
            </a:r>
            <a:r>
              <a:rPr lang="zh-CN" altLang="en-US" dirty="0"/>
              <a:t>维度不画出来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1CB4CFDC-331F-4306-B99E-E8F79CEB0D72}"/>
              </a:ext>
            </a:extLst>
          </p:cNvPr>
          <p:cNvSpPr txBox="1"/>
          <p:nvPr/>
        </p:nvSpPr>
        <p:spPr>
          <a:xfrm>
            <a:off x="749150" y="4925890"/>
            <a:ext cx="20626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输入 </a:t>
            </a:r>
            <a:r>
              <a:rPr lang="en-US" altLang="zh-CN" dirty="0"/>
              <a:t>x (B, C, H, W)</a:t>
            </a:r>
            <a:endParaRPr lang="zh-CN" alt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DD77CD41-1AE1-49E1-9F52-6C5A830DE3DB}"/>
              </a:ext>
            </a:extLst>
          </p:cNvPr>
          <p:cNvSpPr txBox="1"/>
          <p:nvPr/>
        </p:nvSpPr>
        <p:spPr>
          <a:xfrm>
            <a:off x="1696644" y="4335780"/>
            <a:ext cx="495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W</a:t>
            </a:r>
            <a:endParaRPr lang="zh-CN" altLang="en-US" b="1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629139C9-4B9C-4315-88DA-7DDDA44FD5AF}"/>
              </a:ext>
            </a:extLst>
          </p:cNvPr>
          <p:cNvSpPr txBox="1"/>
          <p:nvPr/>
        </p:nvSpPr>
        <p:spPr>
          <a:xfrm>
            <a:off x="501500" y="3182900"/>
            <a:ext cx="495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H</a:t>
            </a:r>
            <a:endParaRPr lang="zh-CN" altLang="en-US" b="1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6685A2F6-66DC-47E4-B849-DE62496D5051}"/>
              </a:ext>
            </a:extLst>
          </p:cNvPr>
          <p:cNvSpPr txBox="1"/>
          <p:nvPr/>
        </p:nvSpPr>
        <p:spPr>
          <a:xfrm>
            <a:off x="951080" y="1771822"/>
            <a:ext cx="495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C</a:t>
            </a:r>
            <a:endParaRPr lang="zh-CN" altLang="en-US" b="1" dirty="0"/>
          </a:p>
        </p:txBody>
      </p:sp>
      <p:sp>
        <p:nvSpPr>
          <p:cNvPr id="20" name="立方体 19">
            <a:extLst>
              <a:ext uri="{FF2B5EF4-FFF2-40B4-BE49-F238E27FC236}">
                <a16:creationId xmlns:a16="http://schemas.microsoft.com/office/drawing/2014/main" id="{1946B0BA-B1F7-4F78-B863-43AB16CF7688}"/>
              </a:ext>
            </a:extLst>
          </p:cNvPr>
          <p:cNvSpPr/>
          <p:nvPr/>
        </p:nvSpPr>
        <p:spPr>
          <a:xfrm>
            <a:off x="7892900" y="1783080"/>
            <a:ext cx="2516020" cy="2552700"/>
          </a:xfrm>
          <a:prstGeom prst="cube">
            <a:avLst>
              <a:gd name="adj" fmla="val 20760"/>
            </a:avLst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F489079-CCBF-4DB3-B8A6-6823B775FCF6}"/>
              </a:ext>
            </a:extLst>
          </p:cNvPr>
          <p:cNvSpPr txBox="1"/>
          <p:nvPr/>
        </p:nvSpPr>
        <p:spPr>
          <a:xfrm>
            <a:off x="8638464" y="4335780"/>
            <a:ext cx="495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W</a:t>
            </a:r>
            <a:endParaRPr lang="zh-CN" altLang="en-US" b="1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D47AC5DF-4D3D-4CD8-B2FE-AC14BEFCC0D7}"/>
              </a:ext>
            </a:extLst>
          </p:cNvPr>
          <p:cNvSpPr txBox="1"/>
          <p:nvPr/>
        </p:nvSpPr>
        <p:spPr>
          <a:xfrm>
            <a:off x="7443320" y="3182900"/>
            <a:ext cx="495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H</a:t>
            </a:r>
            <a:endParaRPr lang="zh-CN" altLang="en-US" b="1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A88134D2-C445-4EAA-81F3-F7D978169341}"/>
              </a:ext>
            </a:extLst>
          </p:cNvPr>
          <p:cNvSpPr txBox="1"/>
          <p:nvPr/>
        </p:nvSpPr>
        <p:spPr>
          <a:xfrm>
            <a:off x="7892900" y="1771822"/>
            <a:ext cx="495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C</a:t>
            </a:r>
            <a:endParaRPr lang="zh-CN" altLang="en-US" b="1" dirty="0"/>
          </a:p>
        </p:txBody>
      </p:sp>
      <p:sp>
        <p:nvSpPr>
          <p:cNvPr id="8" name="箭头: 右 7">
            <a:extLst>
              <a:ext uri="{FF2B5EF4-FFF2-40B4-BE49-F238E27FC236}">
                <a16:creationId xmlns:a16="http://schemas.microsoft.com/office/drawing/2014/main" id="{426F425F-CD6F-4FC7-B70D-7FFF4C4EA9E9}"/>
              </a:ext>
            </a:extLst>
          </p:cNvPr>
          <p:cNvSpPr/>
          <p:nvPr/>
        </p:nvSpPr>
        <p:spPr>
          <a:xfrm>
            <a:off x="4944315" y="3093246"/>
            <a:ext cx="922020" cy="5486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E8903EF-7308-4B3A-9383-1E904DC037D5}"/>
              </a:ext>
            </a:extLst>
          </p:cNvPr>
          <p:cNvSpPr txBox="1"/>
          <p:nvPr/>
        </p:nvSpPr>
        <p:spPr>
          <a:xfrm>
            <a:off x="5021225" y="2638307"/>
            <a:ext cx="13944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DFT</a:t>
            </a:r>
            <a:endParaRPr lang="zh-CN" altLang="en-US" b="1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A03151C4-D197-4BDB-B81C-0172D875D849}"/>
              </a:ext>
            </a:extLst>
          </p:cNvPr>
          <p:cNvSpPr txBox="1"/>
          <p:nvPr/>
        </p:nvSpPr>
        <p:spPr>
          <a:xfrm>
            <a:off x="7624294" y="4925890"/>
            <a:ext cx="39809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频域复数张量 </a:t>
            </a:r>
            <a:r>
              <a:rPr lang="en-US" altLang="zh-CN" dirty="0"/>
              <a:t>x (B, C, H, W/2</a:t>
            </a:r>
            <a:r>
              <a:rPr lang="zh-CN" altLang="en-US" dirty="0"/>
              <a:t> </a:t>
            </a:r>
            <a:r>
              <a:rPr lang="en-US" altLang="zh-CN" dirty="0"/>
              <a:t>+1</a:t>
            </a:r>
            <a:r>
              <a:rPr lang="zh-CN" altLang="en-US" dirty="0"/>
              <a:t> 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6FD8592-B280-4B66-9E22-58379FA31830}"/>
              </a:ext>
            </a:extLst>
          </p:cNvPr>
          <p:cNvSpPr/>
          <p:nvPr/>
        </p:nvSpPr>
        <p:spPr>
          <a:xfrm>
            <a:off x="7892900" y="2324100"/>
            <a:ext cx="1091080" cy="2011680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564164EA-9504-4A3C-8A0D-36E1BAE391C4}"/>
              </a:ext>
            </a:extLst>
          </p:cNvPr>
          <p:cNvSpPr/>
          <p:nvPr/>
        </p:nvSpPr>
        <p:spPr>
          <a:xfrm>
            <a:off x="7892900" y="1783080"/>
            <a:ext cx="1624480" cy="541020"/>
          </a:xfrm>
          <a:prstGeom prst="parallelogram">
            <a:avLst>
              <a:gd name="adj" fmla="val 99001"/>
            </a:avLst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49D0E8E-8113-4FC2-A221-A1A51D1B850D}"/>
              </a:ext>
            </a:extLst>
          </p:cNvPr>
          <p:cNvSpPr txBox="1"/>
          <p:nvPr/>
        </p:nvSpPr>
        <p:spPr>
          <a:xfrm>
            <a:off x="7359855" y="1107435"/>
            <a:ext cx="18908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计算机 实际储存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A421ED9-8964-429B-A431-C924290CE45A}"/>
              </a:ext>
            </a:extLst>
          </p:cNvPr>
          <p:cNvSpPr txBox="1"/>
          <p:nvPr/>
        </p:nvSpPr>
        <p:spPr>
          <a:xfrm>
            <a:off x="9080424" y="5821680"/>
            <a:ext cx="24714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H</a:t>
            </a:r>
            <a:r>
              <a:rPr lang="zh-CN" altLang="en-US" dirty="0"/>
              <a:t>或者</a:t>
            </a:r>
            <a:r>
              <a:rPr lang="en-US" altLang="zh-CN" dirty="0"/>
              <a:t>W</a:t>
            </a:r>
            <a:r>
              <a:rPr lang="zh-CN" altLang="en-US" dirty="0"/>
              <a:t>减半都可以</a:t>
            </a:r>
          </a:p>
        </p:txBody>
      </p:sp>
    </p:spTree>
    <p:extLst>
      <p:ext uri="{BB962C8B-B14F-4D97-AF65-F5344CB8AC3E}">
        <p14:creationId xmlns:p14="http://schemas.microsoft.com/office/powerpoint/2010/main" val="27289361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B106840B-AF03-49F7-B778-3DC70955B1D8}"/>
              </a:ext>
            </a:extLst>
          </p:cNvPr>
          <p:cNvSpPr txBox="1"/>
          <p:nvPr/>
        </p:nvSpPr>
        <p:spPr>
          <a:xfrm>
            <a:off x="225630" y="95003"/>
            <a:ext cx="57255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傅里叶神经算子 </a:t>
            </a:r>
            <a:r>
              <a:rPr lang="en-US" altLang="zh-CN" sz="2400" b="1" dirty="0"/>
              <a:t>FNO</a:t>
            </a:r>
            <a:endParaRPr lang="zh-CN" altLang="en-US" sz="2400" b="1" dirty="0"/>
          </a:p>
        </p:txBody>
      </p:sp>
      <p:sp>
        <p:nvSpPr>
          <p:cNvPr id="20" name="立方体 19">
            <a:extLst>
              <a:ext uri="{FF2B5EF4-FFF2-40B4-BE49-F238E27FC236}">
                <a16:creationId xmlns:a16="http://schemas.microsoft.com/office/drawing/2014/main" id="{1946B0BA-B1F7-4F78-B863-43AB16CF7688}"/>
              </a:ext>
            </a:extLst>
          </p:cNvPr>
          <p:cNvSpPr/>
          <p:nvPr/>
        </p:nvSpPr>
        <p:spPr>
          <a:xfrm>
            <a:off x="1041519" y="1687932"/>
            <a:ext cx="1738780" cy="2795862"/>
          </a:xfrm>
          <a:prstGeom prst="cube">
            <a:avLst>
              <a:gd name="adj" fmla="val 43110"/>
            </a:avLst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F489079-CCBF-4DB3-B8A6-6823B775FCF6}"/>
              </a:ext>
            </a:extLst>
          </p:cNvPr>
          <p:cNvSpPr txBox="1"/>
          <p:nvPr/>
        </p:nvSpPr>
        <p:spPr>
          <a:xfrm>
            <a:off x="2284999" y="4042648"/>
            <a:ext cx="495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W</a:t>
            </a:r>
            <a:endParaRPr lang="zh-CN" altLang="en-US" b="1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D47AC5DF-4D3D-4CD8-B2FE-AC14BEFCC0D7}"/>
              </a:ext>
            </a:extLst>
          </p:cNvPr>
          <p:cNvSpPr txBox="1"/>
          <p:nvPr/>
        </p:nvSpPr>
        <p:spPr>
          <a:xfrm>
            <a:off x="2774468" y="2706274"/>
            <a:ext cx="495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H</a:t>
            </a:r>
            <a:endParaRPr lang="zh-CN" altLang="en-US" b="1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A88134D2-C445-4EAA-81F3-F7D978169341}"/>
              </a:ext>
            </a:extLst>
          </p:cNvPr>
          <p:cNvSpPr txBox="1"/>
          <p:nvPr/>
        </p:nvSpPr>
        <p:spPr>
          <a:xfrm>
            <a:off x="2082049" y="1406934"/>
            <a:ext cx="495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C</a:t>
            </a:r>
            <a:endParaRPr lang="zh-CN" altLang="en-US" b="1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A03151C4-D197-4BDB-B81C-0172D875D849}"/>
              </a:ext>
            </a:extLst>
          </p:cNvPr>
          <p:cNvSpPr txBox="1"/>
          <p:nvPr/>
        </p:nvSpPr>
        <p:spPr>
          <a:xfrm>
            <a:off x="522454" y="4956370"/>
            <a:ext cx="30189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频域复数张量 </a:t>
            </a:r>
            <a:r>
              <a:rPr lang="en-US" altLang="zh-CN" dirty="0"/>
              <a:t>x (B, C, H, W)</a:t>
            </a:r>
            <a:endParaRPr lang="zh-CN" altLang="en-US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020C2EE-ADDA-4374-9BE8-2DF3A788C5EB}"/>
              </a:ext>
            </a:extLst>
          </p:cNvPr>
          <p:cNvSpPr txBox="1"/>
          <p:nvPr/>
        </p:nvSpPr>
        <p:spPr>
          <a:xfrm>
            <a:off x="775529" y="5461982"/>
            <a:ext cx="30189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注意维度</a:t>
            </a:r>
            <a:r>
              <a:rPr lang="zh-CN" altLang="en-US" dirty="0">
                <a:solidFill>
                  <a:srgbClr val="C00000"/>
                </a:solidFill>
              </a:rPr>
              <a:t>旋转</a:t>
            </a:r>
            <a:r>
              <a:rPr lang="zh-CN" altLang="en-US" dirty="0"/>
              <a:t>了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7686E71-4C94-43D1-89FD-50A81AC05726}"/>
              </a:ext>
            </a:extLst>
          </p:cNvPr>
          <p:cNvSpPr/>
          <p:nvPr/>
        </p:nvSpPr>
        <p:spPr>
          <a:xfrm>
            <a:off x="6007493" y="2126488"/>
            <a:ext cx="2643083" cy="2616386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552033E1-1BCD-46B8-924C-A45530089F04}"/>
              </a:ext>
            </a:extLst>
          </p:cNvPr>
          <p:cNvSpPr txBox="1"/>
          <p:nvPr/>
        </p:nvSpPr>
        <p:spPr>
          <a:xfrm>
            <a:off x="5755732" y="4622164"/>
            <a:ext cx="1802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o</a:t>
            </a:r>
            <a:endParaRPr lang="zh-CN" altLang="en-US" b="1" dirty="0"/>
          </a:p>
        </p:txBody>
      </p: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E7716946-06BE-4FBC-ADF1-427976F7B12D}"/>
              </a:ext>
            </a:extLst>
          </p:cNvPr>
          <p:cNvCxnSpPr>
            <a:cxnSpLocks/>
          </p:cNvCxnSpPr>
          <p:nvPr/>
        </p:nvCxnSpPr>
        <p:spPr>
          <a:xfrm>
            <a:off x="7349056" y="2975812"/>
            <a:ext cx="6675" cy="934424"/>
          </a:xfrm>
          <a:prstGeom prst="straightConnector1">
            <a:avLst/>
          </a:prstGeom>
          <a:ln w="12700">
            <a:solidFill>
              <a:srgbClr val="FF0000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B9A07173-4013-41EB-846D-9F356CBE2898}"/>
              </a:ext>
            </a:extLst>
          </p:cNvPr>
          <p:cNvCxnSpPr>
            <a:cxnSpLocks/>
          </p:cNvCxnSpPr>
          <p:nvPr/>
        </p:nvCxnSpPr>
        <p:spPr>
          <a:xfrm flipH="1">
            <a:off x="6889635" y="3434681"/>
            <a:ext cx="916623" cy="8343"/>
          </a:xfrm>
          <a:prstGeom prst="straightConnector1">
            <a:avLst/>
          </a:prstGeom>
          <a:ln w="12700">
            <a:solidFill>
              <a:srgbClr val="FF0000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本框 32">
            <a:extLst>
              <a:ext uri="{FF2B5EF4-FFF2-40B4-BE49-F238E27FC236}">
                <a16:creationId xmlns:a16="http://schemas.microsoft.com/office/drawing/2014/main" id="{16D250D7-3057-4535-BF7E-863CE05FE709}"/>
              </a:ext>
            </a:extLst>
          </p:cNvPr>
          <p:cNvSpPr txBox="1"/>
          <p:nvPr/>
        </p:nvSpPr>
        <p:spPr>
          <a:xfrm>
            <a:off x="7116917" y="1209719"/>
            <a:ext cx="10957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对称轴</a:t>
            </a:r>
          </a:p>
        </p:txBody>
      </p:sp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15E5353E-B0E1-4D07-BD83-AEC64ED2EC9E}"/>
              </a:ext>
            </a:extLst>
          </p:cNvPr>
          <p:cNvCxnSpPr>
            <a:cxnSpLocks/>
          </p:cNvCxnSpPr>
          <p:nvPr/>
        </p:nvCxnSpPr>
        <p:spPr>
          <a:xfrm>
            <a:off x="2682240" y="1867408"/>
            <a:ext cx="3325253" cy="121845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矩形 37">
            <a:extLst>
              <a:ext uri="{FF2B5EF4-FFF2-40B4-BE49-F238E27FC236}">
                <a16:creationId xmlns:a16="http://schemas.microsoft.com/office/drawing/2014/main" id="{C92BAF63-4E15-4815-BBBD-B7597C1EA269}"/>
              </a:ext>
            </a:extLst>
          </p:cNvPr>
          <p:cNvSpPr/>
          <p:nvPr/>
        </p:nvSpPr>
        <p:spPr>
          <a:xfrm>
            <a:off x="6016652" y="2134832"/>
            <a:ext cx="1420693" cy="260804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0D898FA-68A7-44B2-8424-FDBEF46C1F19}"/>
              </a:ext>
            </a:extLst>
          </p:cNvPr>
          <p:cNvSpPr/>
          <p:nvPr/>
        </p:nvSpPr>
        <p:spPr>
          <a:xfrm>
            <a:off x="6025320" y="3918580"/>
            <a:ext cx="1109424" cy="8242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3BB5A7B6-88DE-4D67-9F22-355D6E9B9201}"/>
              </a:ext>
            </a:extLst>
          </p:cNvPr>
          <p:cNvCxnSpPr/>
          <p:nvPr/>
        </p:nvCxnSpPr>
        <p:spPr>
          <a:xfrm>
            <a:off x="5501349" y="3434681"/>
            <a:ext cx="4018020" cy="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ACF740F9-7131-4EF4-BD6E-0307A9A2F34F}"/>
              </a:ext>
            </a:extLst>
          </p:cNvPr>
          <p:cNvCxnSpPr>
            <a:cxnSpLocks/>
          </p:cNvCxnSpPr>
          <p:nvPr/>
        </p:nvCxnSpPr>
        <p:spPr>
          <a:xfrm>
            <a:off x="7329034" y="1638419"/>
            <a:ext cx="18912" cy="3502617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237E6C12-8C80-47EE-8F86-8834653C562C}"/>
              </a:ext>
            </a:extLst>
          </p:cNvPr>
          <p:cNvCxnSpPr/>
          <p:nvPr/>
        </p:nvCxnSpPr>
        <p:spPr>
          <a:xfrm>
            <a:off x="7138832" y="4622164"/>
            <a:ext cx="9159" cy="83981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1C417738-C919-4BCB-A08E-87689BC8DDAD}"/>
              </a:ext>
            </a:extLst>
          </p:cNvPr>
          <p:cNvCxnSpPr>
            <a:cxnSpLocks/>
          </p:cNvCxnSpPr>
          <p:nvPr/>
        </p:nvCxnSpPr>
        <p:spPr>
          <a:xfrm flipH="1">
            <a:off x="5600371" y="3918580"/>
            <a:ext cx="1070015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5EDBE761-4E92-4556-9D7D-BB1BCBFF563C}"/>
              </a:ext>
            </a:extLst>
          </p:cNvPr>
          <p:cNvSpPr txBox="1"/>
          <p:nvPr/>
        </p:nvSpPr>
        <p:spPr>
          <a:xfrm>
            <a:off x="6571364" y="5503807"/>
            <a:ext cx="13230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</a:rPr>
              <a:t>截断频率</a:t>
            </a:r>
            <a:r>
              <a:rPr lang="en-US" altLang="zh-CN" b="1" dirty="0">
                <a:solidFill>
                  <a:srgbClr val="C00000"/>
                </a:solidFill>
              </a:rPr>
              <a:t>1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59738A8F-1846-414D-A8CA-59EAC5295EC8}"/>
              </a:ext>
            </a:extLst>
          </p:cNvPr>
          <p:cNvSpPr txBox="1"/>
          <p:nvPr/>
        </p:nvSpPr>
        <p:spPr>
          <a:xfrm>
            <a:off x="4393163" y="3733914"/>
            <a:ext cx="13230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</a:rPr>
              <a:t>截断频率</a:t>
            </a:r>
            <a:r>
              <a:rPr lang="en-US" altLang="zh-CN" b="1" dirty="0">
                <a:solidFill>
                  <a:srgbClr val="C00000"/>
                </a:solidFill>
              </a:rPr>
              <a:t>2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966E5083-9532-4E3E-BFA3-581FDCD63BD7}"/>
              </a:ext>
            </a:extLst>
          </p:cNvPr>
          <p:cNvSpPr txBox="1"/>
          <p:nvPr/>
        </p:nvSpPr>
        <p:spPr>
          <a:xfrm>
            <a:off x="3438947" y="1867408"/>
            <a:ext cx="16151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挑出一个</a:t>
            </a:r>
            <a:r>
              <a:rPr lang="en-US" altLang="zh-CN" dirty="0"/>
              <a:t>C</a:t>
            </a:r>
            <a:r>
              <a:rPr lang="zh-CN" altLang="en-US" dirty="0"/>
              <a:t>看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380BFB06-D718-4159-8424-EE61B62644D3}"/>
              </a:ext>
            </a:extLst>
          </p:cNvPr>
          <p:cNvSpPr/>
          <p:nvPr/>
        </p:nvSpPr>
        <p:spPr>
          <a:xfrm>
            <a:off x="6016652" y="2151518"/>
            <a:ext cx="1109424" cy="8242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23159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B106840B-AF03-49F7-B778-3DC70955B1D8}"/>
              </a:ext>
            </a:extLst>
          </p:cNvPr>
          <p:cNvSpPr txBox="1"/>
          <p:nvPr/>
        </p:nvSpPr>
        <p:spPr>
          <a:xfrm>
            <a:off x="225630" y="95003"/>
            <a:ext cx="57255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傅里叶神经算子 </a:t>
            </a:r>
            <a:r>
              <a:rPr lang="en-US" altLang="zh-CN" sz="2400" b="1" dirty="0"/>
              <a:t>FNO</a:t>
            </a:r>
            <a:endParaRPr lang="zh-CN" altLang="en-US" sz="2400" b="1" dirty="0"/>
          </a:p>
        </p:txBody>
      </p:sp>
      <p:sp>
        <p:nvSpPr>
          <p:cNvPr id="20" name="立方体 19">
            <a:extLst>
              <a:ext uri="{FF2B5EF4-FFF2-40B4-BE49-F238E27FC236}">
                <a16:creationId xmlns:a16="http://schemas.microsoft.com/office/drawing/2014/main" id="{1946B0BA-B1F7-4F78-B863-43AB16CF7688}"/>
              </a:ext>
            </a:extLst>
          </p:cNvPr>
          <p:cNvSpPr/>
          <p:nvPr/>
        </p:nvSpPr>
        <p:spPr>
          <a:xfrm>
            <a:off x="1041519" y="1687932"/>
            <a:ext cx="1738780" cy="2795862"/>
          </a:xfrm>
          <a:prstGeom prst="cube">
            <a:avLst>
              <a:gd name="adj" fmla="val 43110"/>
            </a:avLst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F489079-CCBF-4DB3-B8A6-6823B775FCF6}"/>
              </a:ext>
            </a:extLst>
          </p:cNvPr>
          <p:cNvSpPr txBox="1"/>
          <p:nvPr/>
        </p:nvSpPr>
        <p:spPr>
          <a:xfrm>
            <a:off x="2284999" y="4042648"/>
            <a:ext cx="495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W</a:t>
            </a:r>
            <a:endParaRPr lang="zh-CN" altLang="en-US" b="1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D47AC5DF-4D3D-4CD8-B2FE-AC14BEFCC0D7}"/>
              </a:ext>
            </a:extLst>
          </p:cNvPr>
          <p:cNvSpPr txBox="1"/>
          <p:nvPr/>
        </p:nvSpPr>
        <p:spPr>
          <a:xfrm>
            <a:off x="2774468" y="2706274"/>
            <a:ext cx="495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H</a:t>
            </a:r>
            <a:endParaRPr lang="zh-CN" altLang="en-US" b="1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A88134D2-C445-4EAA-81F3-F7D978169341}"/>
              </a:ext>
            </a:extLst>
          </p:cNvPr>
          <p:cNvSpPr txBox="1"/>
          <p:nvPr/>
        </p:nvSpPr>
        <p:spPr>
          <a:xfrm>
            <a:off x="2082049" y="1406934"/>
            <a:ext cx="495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C</a:t>
            </a:r>
            <a:endParaRPr lang="zh-CN" altLang="en-US" b="1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A03151C4-D197-4BDB-B81C-0172D875D849}"/>
              </a:ext>
            </a:extLst>
          </p:cNvPr>
          <p:cNvSpPr txBox="1"/>
          <p:nvPr/>
        </p:nvSpPr>
        <p:spPr>
          <a:xfrm>
            <a:off x="522454" y="4956370"/>
            <a:ext cx="30189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频域复数张量 </a:t>
            </a:r>
            <a:r>
              <a:rPr lang="en-US" altLang="zh-CN" dirty="0"/>
              <a:t>x (B, C, H, W)</a:t>
            </a:r>
            <a:endParaRPr lang="zh-CN" altLang="en-US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020C2EE-ADDA-4374-9BE8-2DF3A788C5EB}"/>
              </a:ext>
            </a:extLst>
          </p:cNvPr>
          <p:cNvSpPr txBox="1"/>
          <p:nvPr/>
        </p:nvSpPr>
        <p:spPr>
          <a:xfrm>
            <a:off x="775529" y="5461982"/>
            <a:ext cx="30189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注意维度</a:t>
            </a:r>
            <a:r>
              <a:rPr lang="zh-CN" altLang="en-US" dirty="0">
                <a:solidFill>
                  <a:srgbClr val="C00000"/>
                </a:solidFill>
              </a:rPr>
              <a:t>旋转</a:t>
            </a:r>
            <a:r>
              <a:rPr lang="zh-CN" altLang="en-US" dirty="0"/>
              <a:t>了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7686E71-4C94-43D1-89FD-50A81AC05726}"/>
              </a:ext>
            </a:extLst>
          </p:cNvPr>
          <p:cNvSpPr/>
          <p:nvPr/>
        </p:nvSpPr>
        <p:spPr>
          <a:xfrm>
            <a:off x="6007493" y="2126488"/>
            <a:ext cx="2643083" cy="2616386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552033E1-1BCD-46B8-924C-A45530089F04}"/>
              </a:ext>
            </a:extLst>
          </p:cNvPr>
          <p:cNvSpPr txBox="1"/>
          <p:nvPr/>
        </p:nvSpPr>
        <p:spPr>
          <a:xfrm>
            <a:off x="5755732" y="4622164"/>
            <a:ext cx="1802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o</a:t>
            </a:r>
            <a:endParaRPr lang="zh-CN" altLang="en-US" b="1" dirty="0"/>
          </a:p>
        </p:txBody>
      </p: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E7716946-06BE-4FBC-ADF1-427976F7B12D}"/>
              </a:ext>
            </a:extLst>
          </p:cNvPr>
          <p:cNvCxnSpPr>
            <a:cxnSpLocks/>
          </p:cNvCxnSpPr>
          <p:nvPr/>
        </p:nvCxnSpPr>
        <p:spPr>
          <a:xfrm>
            <a:off x="7349056" y="2975812"/>
            <a:ext cx="6675" cy="934424"/>
          </a:xfrm>
          <a:prstGeom prst="straightConnector1">
            <a:avLst/>
          </a:prstGeom>
          <a:ln w="12700">
            <a:solidFill>
              <a:srgbClr val="FF0000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B9A07173-4013-41EB-846D-9F356CBE2898}"/>
              </a:ext>
            </a:extLst>
          </p:cNvPr>
          <p:cNvCxnSpPr>
            <a:cxnSpLocks/>
          </p:cNvCxnSpPr>
          <p:nvPr/>
        </p:nvCxnSpPr>
        <p:spPr>
          <a:xfrm flipH="1">
            <a:off x="6889635" y="3434681"/>
            <a:ext cx="916623" cy="8343"/>
          </a:xfrm>
          <a:prstGeom prst="straightConnector1">
            <a:avLst/>
          </a:prstGeom>
          <a:ln w="12700">
            <a:solidFill>
              <a:srgbClr val="FF0000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本框 32">
            <a:extLst>
              <a:ext uri="{FF2B5EF4-FFF2-40B4-BE49-F238E27FC236}">
                <a16:creationId xmlns:a16="http://schemas.microsoft.com/office/drawing/2014/main" id="{16D250D7-3057-4535-BF7E-863CE05FE709}"/>
              </a:ext>
            </a:extLst>
          </p:cNvPr>
          <p:cNvSpPr txBox="1"/>
          <p:nvPr/>
        </p:nvSpPr>
        <p:spPr>
          <a:xfrm>
            <a:off x="7116917" y="1209719"/>
            <a:ext cx="10957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对称轴</a:t>
            </a:r>
          </a:p>
        </p:txBody>
      </p:sp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15E5353E-B0E1-4D07-BD83-AEC64ED2EC9E}"/>
              </a:ext>
            </a:extLst>
          </p:cNvPr>
          <p:cNvCxnSpPr>
            <a:cxnSpLocks/>
          </p:cNvCxnSpPr>
          <p:nvPr/>
        </p:nvCxnSpPr>
        <p:spPr>
          <a:xfrm>
            <a:off x="2682240" y="1867408"/>
            <a:ext cx="3325253" cy="121845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矩形 34">
            <a:extLst>
              <a:ext uri="{FF2B5EF4-FFF2-40B4-BE49-F238E27FC236}">
                <a16:creationId xmlns:a16="http://schemas.microsoft.com/office/drawing/2014/main" id="{0A5F1C44-9962-43B8-AD32-DF5301A0EFF0}"/>
              </a:ext>
            </a:extLst>
          </p:cNvPr>
          <p:cNvSpPr/>
          <p:nvPr/>
        </p:nvSpPr>
        <p:spPr>
          <a:xfrm>
            <a:off x="7523205" y="2143175"/>
            <a:ext cx="1109424" cy="8242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97D3B0A0-1B51-441B-8DE5-9D66B5A6FA80}"/>
              </a:ext>
            </a:extLst>
          </p:cNvPr>
          <p:cNvSpPr/>
          <p:nvPr/>
        </p:nvSpPr>
        <p:spPr>
          <a:xfrm>
            <a:off x="7541152" y="3893551"/>
            <a:ext cx="1109424" cy="8242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C92BAF63-4E15-4815-BBBD-B7597C1EA269}"/>
              </a:ext>
            </a:extLst>
          </p:cNvPr>
          <p:cNvSpPr/>
          <p:nvPr/>
        </p:nvSpPr>
        <p:spPr>
          <a:xfrm>
            <a:off x="6016652" y="2134832"/>
            <a:ext cx="1420693" cy="260804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0D898FA-68A7-44B2-8424-FDBEF46C1F19}"/>
              </a:ext>
            </a:extLst>
          </p:cNvPr>
          <p:cNvSpPr/>
          <p:nvPr/>
        </p:nvSpPr>
        <p:spPr>
          <a:xfrm>
            <a:off x="6025320" y="3918580"/>
            <a:ext cx="1109424" cy="8242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10988F3B-7654-4AE8-9A9C-81EBEA67CFAA}"/>
              </a:ext>
            </a:extLst>
          </p:cNvPr>
          <p:cNvSpPr/>
          <p:nvPr/>
        </p:nvSpPr>
        <p:spPr>
          <a:xfrm>
            <a:off x="6016652" y="2151518"/>
            <a:ext cx="1109424" cy="8242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3BB5A7B6-88DE-4D67-9F22-355D6E9B9201}"/>
              </a:ext>
            </a:extLst>
          </p:cNvPr>
          <p:cNvCxnSpPr/>
          <p:nvPr/>
        </p:nvCxnSpPr>
        <p:spPr>
          <a:xfrm>
            <a:off x="5501349" y="3434681"/>
            <a:ext cx="4018020" cy="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ACF740F9-7131-4EF4-BD6E-0307A9A2F34F}"/>
              </a:ext>
            </a:extLst>
          </p:cNvPr>
          <p:cNvCxnSpPr>
            <a:cxnSpLocks/>
          </p:cNvCxnSpPr>
          <p:nvPr/>
        </p:nvCxnSpPr>
        <p:spPr>
          <a:xfrm>
            <a:off x="7329034" y="1638419"/>
            <a:ext cx="18912" cy="3502617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237E6C12-8C80-47EE-8F86-8834653C562C}"/>
              </a:ext>
            </a:extLst>
          </p:cNvPr>
          <p:cNvCxnSpPr/>
          <p:nvPr/>
        </p:nvCxnSpPr>
        <p:spPr>
          <a:xfrm>
            <a:off x="7138832" y="4622164"/>
            <a:ext cx="9159" cy="83981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1C417738-C919-4BCB-A08E-87689BC8DDAD}"/>
              </a:ext>
            </a:extLst>
          </p:cNvPr>
          <p:cNvCxnSpPr>
            <a:cxnSpLocks/>
          </p:cNvCxnSpPr>
          <p:nvPr/>
        </p:nvCxnSpPr>
        <p:spPr>
          <a:xfrm flipH="1">
            <a:off x="5600371" y="3918580"/>
            <a:ext cx="1070015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5EDBE761-4E92-4556-9D7D-BB1BCBFF563C}"/>
              </a:ext>
            </a:extLst>
          </p:cNvPr>
          <p:cNvSpPr txBox="1"/>
          <p:nvPr/>
        </p:nvSpPr>
        <p:spPr>
          <a:xfrm>
            <a:off x="6571364" y="5503807"/>
            <a:ext cx="13230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</a:rPr>
              <a:t>截断频率</a:t>
            </a:r>
            <a:r>
              <a:rPr lang="en-US" altLang="zh-CN" b="1" dirty="0">
                <a:solidFill>
                  <a:srgbClr val="C00000"/>
                </a:solidFill>
              </a:rPr>
              <a:t>1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59738A8F-1846-414D-A8CA-59EAC5295EC8}"/>
              </a:ext>
            </a:extLst>
          </p:cNvPr>
          <p:cNvSpPr txBox="1"/>
          <p:nvPr/>
        </p:nvSpPr>
        <p:spPr>
          <a:xfrm>
            <a:off x="4393163" y="3733914"/>
            <a:ext cx="13230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</a:rPr>
              <a:t>截断频率</a:t>
            </a:r>
            <a:r>
              <a:rPr lang="en-US" altLang="zh-CN" b="1" dirty="0">
                <a:solidFill>
                  <a:srgbClr val="C00000"/>
                </a:solidFill>
              </a:rPr>
              <a:t>2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966E5083-9532-4E3E-BFA3-581FDCD63BD7}"/>
              </a:ext>
            </a:extLst>
          </p:cNvPr>
          <p:cNvSpPr txBox="1"/>
          <p:nvPr/>
        </p:nvSpPr>
        <p:spPr>
          <a:xfrm>
            <a:off x="3438947" y="1867408"/>
            <a:ext cx="16151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挑出一个</a:t>
            </a:r>
            <a:r>
              <a:rPr lang="en-US" altLang="zh-CN" dirty="0"/>
              <a:t>C</a:t>
            </a:r>
            <a:r>
              <a:rPr lang="zh-CN" altLang="en-US" dirty="0"/>
              <a:t>看</a:t>
            </a:r>
          </a:p>
        </p:txBody>
      </p:sp>
    </p:spTree>
    <p:extLst>
      <p:ext uri="{BB962C8B-B14F-4D97-AF65-F5344CB8AC3E}">
        <p14:creationId xmlns:p14="http://schemas.microsoft.com/office/powerpoint/2010/main" val="29394278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B106840B-AF03-49F7-B778-3DC70955B1D8}"/>
              </a:ext>
            </a:extLst>
          </p:cNvPr>
          <p:cNvSpPr txBox="1"/>
          <p:nvPr/>
        </p:nvSpPr>
        <p:spPr>
          <a:xfrm>
            <a:off x="225630" y="95003"/>
            <a:ext cx="57255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傅里叶神经算子 </a:t>
            </a:r>
            <a:r>
              <a:rPr lang="en-US" altLang="zh-CN" sz="2400" b="1" dirty="0"/>
              <a:t>FNO</a:t>
            </a:r>
            <a:endParaRPr lang="zh-CN" altLang="en-US" sz="2400" b="1" dirty="0"/>
          </a:p>
        </p:txBody>
      </p:sp>
      <p:sp>
        <p:nvSpPr>
          <p:cNvPr id="20" name="立方体 19">
            <a:extLst>
              <a:ext uri="{FF2B5EF4-FFF2-40B4-BE49-F238E27FC236}">
                <a16:creationId xmlns:a16="http://schemas.microsoft.com/office/drawing/2014/main" id="{1946B0BA-B1F7-4F78-B863-43AB16CF7688}"/>
              </a:ext>
            </a:extLst>
          </p:cNvPr>
          <p:cNvSpPr/>
          <p:nvPr/>
        </p:nvSpPr>
        <p:spPr>
          <a:xfrm>
            <a:off x="1041519" y="1687932"/>
            <a:ext cx="1738780" cy="2795862"/>
          </a:xfrm>
          <a:prstGeom prst="cube">
            <a:avLst>
              <a:gd name="adj" fmla="val 43110"/>
            </a:avLst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F489079-CCBF-4DB3-B8A6-6823B775FCF6}"/>
              </a:ext>
            </a:extLst>
          </p:cNvPr>
          <p:cNvSpPr txBox="1"/>
          <p:nvPr/>
        </p:nvSpPr>
        <p:spPr>
          <a:xfrm>
            <a:off x="2284999" y="4042648"/>
            <a:ext cx="495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W</a:t>
            </a:r>
            <a:endParaRPr lang="zh-CN" altLang="en-US" b="1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D47AC5DF-4D3D-4CD8-B2FE-AC14BEFCC0D7}"/>
              </a:ext>
            </a:extLst>
          </p:cNvPr>
          <p:cNvSpPr txBox="1"/>
          <p:nvPr/>
        </p:nvSpPr>
        <p:spPr>
          <a:xfrm>
            <a:off x="2774468" y="2706274"/>
            <a:ext cx="495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H</a:t>
            </a:r>
            <a:endParaRPr lang="zh-CN" altLang="en-US" b="1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A88134D2-C445-4EAA-81F3-F7D978169341}"/>
              </a:ext>
            </a:extLst>
          </p:cNvPr>
          <p:cNvSpPr txBox="1"/>
          <p:nvPr/>
        </p:nvSpPr>
        <p:spPr>
          <a:xfrm>
            <a:off x="2082049" y="1406934"/>
            <a:ext cx="495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C</a:t>
            </a:r>
            <a:endParaRPr lang="zh-CN" altLang="en-US" b="1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A03151C4-D197-4BDB-B81C-0172D875D849}"/>
              </a:ext>
            </a:extLst>
          </p:cNvPr>
          <p:cNvSpPr txBox="1"/>
          <p:nvPr/>
        </p:nvSpPr>
        <p:spPr>
          <a:xfrm>
            <a:off x="522454" y="4956370"/>
            <a:ext cx="30189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频域复数张量 </a:t>
            </a:r>
            <a:r>
              <a:rPr lang="en-US" altLang="zh-CN" dirty="0"/>
              <a:t>x (B, C, H, W)</a:t>
            </a:r>
            <a:endParaRPr lang="zh-CN" altLang="en-US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020C2EE-ADDA-4374-9BE8-2DF3A788C5EB}"/>
              </a:ext>
            </a:extLst>
          </p:cNvPr>
          <p:cNvSpPr txBox="1"/>
          <p:nvPr/>
        </p:nvSpPr>
        <p:spPr>
          <a:xfrm>
            <a:off x="775529" y="5461982"/>
            <a:ext cx="30189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注意维度</a:t>
            </a:r>
            <a:r>
              <a:rPr lang="zh-CN" altLang="en-US" dirty="0">
                <a:solidFill>
                  <a:srgbClr val="C00000"/>
                </a:solidFill>
              </a:rPr>
              <a:t>旋转</a:t>
            </a:r>
            <a:r>
              <a:rPr lang="zh-CN" altLang="en-US" dirty="0"/>
              <a:t>了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7686E71-4C94-43D1-89FD-50A81AC05726}"/>
              </a:ext>
            </a:extLst>
          </p:cNvPr>
          <p:cNvSpPr/>
          <p:nvPr/>
        </p:nvSpPr>
        <p:spPr>
          <a:xfrm>
            <a:off x="6007493" y="2126488"/>
            <a:ext cx="2643083" cy="2616386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552033E1-1BCD-46B8-924C-A45530089F04}"/>
              </a:ext>
            </a:extLst>
          </p:cNvPr>
          <p:cNvSpPr txBox="1"/>
          <p:nvPr/>
        </p:nvSpPr>
        <p:spPr>
          <a:xfrm>
            <a:off x="5755732" y="4622164"/>
            <a:ext cx="1802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o</a:t>
            </a:r>
            <a:endParaRPr lang="zh-CN" altLang="en-US" b="1" dirty="0"/>
          </a:p>
        </p:txBody>
      </p: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E7716946-06BE-4FBC-ADF1-427976F7B12D}"/>
              </a:ext>
            </a:extLst>
          </p:cNvPr>
          <p:cNvCxnSpPr>
            <a:cxnSpLocks/>
          </p:cNvCxnSpPr>
          <p:nvPr/>
        </p:nvCxnSpPr>
        <p:spPr>
          <a:xfrm>
            <a:off x="7349056" y="2975812"/>
            <a:ext cx="6675" cy="934424"/>
          </a:xfrm>
          <a:prstGeom prst="straightConnector1">
            <a:avLst/>
          </a:prstGeom>
          <a:ln w="12700">
            <a:solidFill>
              <a:srgbClr val="FF0000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B9A07173-4013-41EB-846D-9F356CBE2898}"/>
              </a:ext>
            </a:extLst>
          </p:cNvPr>
          <p:cNvCxnSpPr>
            <a:cxnSpLocks/>
          </p:cNvCxnSpPr>
          <p:nvPr/>
        </p:nvCxnSpPr>
        <p:spPr>
          <a:xfrm flipH="1">
            <a:off x="6889635" y="3434681"/>
            <a:ext cx="916623" cy="8343"/>
          </a:xfrm>
          <a:prstGeom prst="straightConnector1">
            <a:avLst/>
          </a:prstGeom>
          <a:ln w="12700">
            <a:solidFill>
              <a:srgbClr val="FF0000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本框 32">
            <a:extLst>
              <a:ext uri="{FF2B5EF4-FFF2-40B4-BE49-F238E27FC236}">
                <a16:creationId xmlns:a16="http://schemas.microsoft.com/office/drawing/2014/main" id="{16D250D7-3057-4535-BF7E-863CE05FE709}"/>
              </a:ext>
            </a:extLst>
          </p:cNvPr>
          <p:cNvSpPr txBox="1"/>
          <p:nvPr/>
        </p:nvSpPr>
        <p:spPr>
          <a:xfrm>
            <a:off x="7116917" y="1209719"/>
            <a:ext cx="10957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对称轴</a:t>
            </a:r>
          </a:p>
        </p:txBody>
      </p:sp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15E5353E-B0E1-4D07-BD83-AEC64ED2EC9E}"/>
              </a:ext>
            </a:extLst>
          </p:cNvPr>
          <p:cNvCxnSpPr>
            <a:cxnSpLocks/>
          </p:cNvCxnSpPr>
          <p:nvPr/>
        </p:nvCxnSpPr>
        <p:spPr>
          <a:xfrm>
            <a:off x="2682240" y="1867408"/>
            <a:ext cx="3325253" cy="121845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矩形 37">
            <a:extLst>
              <a:ext uri="{FF2B5EF4-FFF2-40B4-BE49-F238E27FC236}">
                <a16:creationId xmlns:a16="http://schemas.microsoft.com/office/drawing/2014/main" id="{C92BAF63-4E15-4815-BBBD-B7597C1EA269}"/>
              </a:ext>
            </a:extLst>
          </p:cNvPr>
          <p:cNvSpPr/>
          <p:nvPr/>
        </p:nvSpPr>
        <p:spPr>
          <a:xfrm>
            <a:off x="6016652" y="2134832"/>
            <a:ext cx="1420693" cy="260804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237E6C12-8C80-47EE-8F86-8834653C562C}"/>
              </a:ext>
            </a:extLst>
          </p:cNvPr>
          <p:cNvCxnSpPr/>
          <p:nvPr/>
        </p:nvCxnSpPr>
        <p:spPr>
          <a:xfrm>
            <a:off x="7138832" y="4622164"/>
            <a:ext cx="9159" cy="83981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1C417738-C919-4BCB-A08E-87689BC8DDAD}"/>
              </a:ext>
            </a:extLst>
          </p:cNvPr>
          <p:cNvCxnSpPr>
            <a:cxnSpLocks/>
          </p:cNvCxnSpPr>
          <p:nvPr/>
        </p:nvCxnSpPr>
        <p:spPr>
          <a:xfrm flipH="1">
            <a:off x="5600371" y="3918580"/>
            <a:ext cx="1070015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5EDBE761-4E92-4556-9D7D-BB1BCBFF563C}"/>
              </a:ext>
            </a:extLst>
          </p:cNvPr>
          <p:cNvSpPr txBox="1"/>
          <p:nvPr/>
        </p:nvSpPr>
        <p:spPr>
          <a:xfrm>
            <a:off x="9097882" y="4088244"/>
            <a:ext cx="17106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</a:rPr>
              <a:t>其他区域置零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59738A8F-1846-414D-A8CA-59EAC5295EC8}"/>
              </a:ext>
            </a:extLst>
          </p:cNvPr>
          <p:cNvSpPr txBox="1"/>
          <p:nvPr/>
        </p:nvSpPr>
        <p:spPr>
          <a:xfrm>
            <a:off x="4393163" y="3733914"/>
            <a:ext cx="13230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</a:rPr>
              <a:t>截断频率</a:t>
            </a:r>
            <a:r>
              <a:rPr lang="en-US" altLang="zh-CN" b="1" dirty="0">
                <a:solidFill>
                  <a:srgbClr val="C00000"/>
                </a:solidFill>
              </a:rPr>
              <a:t>2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966E5083-9532-4E3E-BFA3-581FDCD63BD7}"/>
              </a:ext>
            </a:extLst>
          </p:cNvPr>
          <p:cNvSpPr txBox="1"/>
          <p:nvPr/>
        </p:nvSpPr>
        <p:spPr>
          <a:xfrm>
            <a:off x="3438947" y="1867408"/>
            <a:ext cx="16151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挑出一个</a:t>
            </a:r>
            <a:r>
              <a:rPr lang="en-US" altLang="zh-CN" dirty="0"/>
              <a:t>C</a:t>
            </a:r>
            <a:r>
              <a:rPr lang="zh-CN" altLang="en-US" dirty="0"/>
              <a:t>看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DACCF65-B93A-4A97-8DFC-8DBA6908D707}"/>
              </a:ext>
            </a:extLst>
          </p:cNvPr>
          <p:cNvSpPr/>
          <p:nvPr/>
        </p:nvSpPr>
        <p:spPr>
          <a:xfrm>
            <a:off x="6016652" y="2143175"/>
            <a:ext cx="2615012" cy="259969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AB87C353-8391-443D-8D88-1034219A8EC5}"/>
              </a:ext>
            </a:extLst>
          </p:cNvPr>
          <p:cNvGrpSpPr/>
          <p:nvPr/>
        </p:nvGrpSpPr>
        <p:grpSpPr>
          <a:xfrm>
            <a:off x="6023002" y="2143175"/>
            <a:ext cx="2623193" cy="2599699"/>
            <a:chOff x="6016652" y="2143175"/>
            <a:chExt cx="2623193" cy="2599699"/>
          </a:xfrm>
        </p:grpSpPr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0A5F1C44-9962-43B8-AD32-DF5301A0EFF0}"/>
                </a:ext>
              </a:extLst>
            </p:cNvPr>
            <p:cNvSpPr/>
            <p:nvPr/>
          </p:nvSpPr>
          <p:spPr>
            <a:xfrm>
              <a:off x="7523205" y="2143175"/>
              <a:ext cx="1109424" cy="82429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97D3B0A0-1B51-441B-8DE5-9D66B5A6FA80}"/>
                </a:ext>
              </a:extLst>
            </p:cNvPr>
            <p:cNvSpPr/>
            <p:nvPr/>
          </p:nvSpPr>
          <p:spPr>
            <a:xfrm>
              <a:off x="7530421" y="3912923"/>
              <a:ext cx="1109424" cy="82429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60D898FA-68A7-44B2-8424-FDBEF46C1F19}"/>
                </a:ext>
              </a:extLst>
            </p:cNvPr>
            <p:cNvSpPr/>
            <p:nvPr/>
          </p:nvSpPr>
          <p:spPr>
            <a:xfrm>
              <a:off x="6025320" y="3918580"/>
              <a:ext cx="1109424" cy="82429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10988F3B-7654-4AE8-9A9C-81EBEA67CFAA}"/>
                </a:ext>
              </a:extLst>
            </p:cNvPr>
            <p:cNvSpPr/>
            <p:nvPr/>
          </p:nvSpPr>
          <p:spPr>
            <a:xfrm>
              <a:off x="6016652" y="2151518"/>
              <a:ext cx="1109424" cy="82429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3BB5A7B6-88DE-4D67-9F22-355D6E9B9201}"/>
              </a:ext>
            </a:extLst>
          </p:cNvPr>
          <p:cNvCxnSpPr/>
          <p:nvPr/>
        </p:nvCxnSpPr>
        <p:spPr>
          <a:xfrm>
            <a:off x="5501349" y="3434681"/>
            <a:ext cx="4018020" cy="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ACF740F9-7131-4EF4-BD6E-0307A9A2F34F}"/>
              </a:ext>
            </a:extLst>
          </p:cNvPr>
          <p:cNvCxnSpPr>
            <a:cxnSpLocks/>
          </p:cNvCxnSpPr>
          <p:nvPr/>
        </p:nvCxnSpPr>
        <p:spPr>
          <a:xfrm>
            <a:off x="7329034" y="1638419"/>
            <a:ext cx="18912" cy="3502617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框 28">
            <a:extLst>
              <a:ext uri="{FF2B5EF4-FFF2-40B4-BE49-F238E27FC236}">
                <a16:creationId xmlns:a16="http://schemas.microsoft.com/office/drawing/2014/main" id="{181AD92B-F8B8-4968-ADCC-2B490D54EDF5}"/>
              </a:ext>
            </a:extLst>
          </p:cNvPr>
          <p:cNvSpPr txBox="1"/>
          <p:nvPr/>
        </p:nvSpPr>
        <p:spPr>
          <a:xfrm>
            <a:off x="6723764" y="5656207"/>
            <a:ext cx="13230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</a:rPr>
              <a:t>截断频率</a:t>
            </a:r>
            <a:r>
              <a:rPr lang="en-US" altLang="zh-CN" b="1" dirty="0">
                <a:solidFill>
                  <a:srgbClr val="C00000"/>
                </a:solidFill>
              </a:rPr>
              <a:t>1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41837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B106840B-AF03-49F7-B778-3DC70955B1D8}"/>
              </a:ext>
            </a:extLst>
          </p:cNvPr>
          <p:cNvSpPr txBox="1"/>
          <p:nvPr/>
        </p:nvSpPr>
        <p:spPr>
          <a:xfrm>
            <a:off x="225630" y="95003"/>
            <a:ext cx="57255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傅里叶神经算子 </a:t>
            </a:r>
            <a:r>
              <a:rPr lang="en-US" altLang="zh-CN" sz="2400" b="1" dirty="0"/>
              <a:t>FNO</a:t>
            </a:r>
            <a:endParaRPr lang="zh-CN" altLang="en-US" sz="2400" b="1" dirty="0"/>
          </a:p>
        </p:txBody>
      </p:sp>
      <p:sp>
        <p:nvSpPr>
          <p:cNvPr id="20" name="立方体 19">
            <a:extLst>
              <a:ext uri="{FF2B5EF4-FFF2-40B4-BE49-F238E27FC236}">
                <a16:creationId xmlns:a16="http://schemas.microsoft.com/office/drawing/2014/main" id="{1946B0BA-B1F7-4F78-B863-43AB16CF7688}"/>
              </a:ext>
            </a:extLst>
          </p:cNvPr>
          <p:cNvSpPr/>
          <p:nvPr/>
        </p:nvSpPr>
        <p:spPr>
          <a:xfrm>
            <a:off x="1041519" y="1687932"/>
            <a:ext cx="1738780" cy="2795862"/>
          </a:xfrm>
          <a:prstGeom prst="cube">
            <a:avLst>
              <a:gd name="adj" fmla="val 43110"/>
            </a:avLst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A03151C4-D197-4BDB-B81C-0172D875D849}"/>
              </a:ext>
            </a:extLst>
          </p:cNvPr>
          <p:cNvSpPr txBox="1"/>
          <p:nvPr/>
        </p:nvSpPr>
        <p:spPr>
          <a:xfrm>
            <a:off x="411023" y="5112104"/>
            <a:ext cx="35771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频域复数张量 </a:t>
            </a:r>
            <a:r>
              <a:rPr lang="en-US" altLang="zh-CN" dirty="0"/>
              <a:t>x (B, C, H, W/2 + 1)</a:t>
            </a:r>
            <a:endParaRPr lang="zh-CN" altLang="en-US" dirty="0"/>
          </a:p>
        </p:txBody>
      </p:sp>
      <p:sp>
        <p:nvSpPr>
          <p:cNvPr id="45" name="立方体 44">
            <a:extLst>
              <a:ext uri="{FF2B5EF4-FFF2-40B4-BE49-F238E27FC236}">
                <a16:creationId xmlns:a16="http://schemas.microsoft.com/office/drawing/2014/main" id="{7FA20C62-81A5-460A-ADB1-B22F51EAFC6B}"/>
              </a:ext>
            </a:extLst>
          </p:cNvPr>
          <p:cNvSpPr/>
          <p:nvPr/>
        </p:nvSpPr>
        <p:spPr>
          <a:xfrm>
            <a:off x="1046640" y="2031717"/>
            <a:ext cx="1414620" cy="2452077"/>
          </a:xfrm>
          <a:prstGeom prst="cube">
            <a:avLst>
              <a:gd name="adj" fmla="val 30076"/>
            </a:avLst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F489079-CCBF-4DB3-B8A6-6823B775FCF6}"/>
              </a:ext>
            </a:extLst>
          </p:cNvPr>
          <p:cNvSpPr txBox="1"/>
          <p:nvPr/>
        </p:nvSpPr>
        <p:spPr>
          <a:xfrm>
            <a:off x="2284999" y="4042648"/>
            <a:ext cx="495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W</a:t>
            </a:r>
            <a:endParaRPr lang="zh-CN" altLang="en-US" b="1" dirty="0"/>
          </a:p>
        </p:txBody>
      </p:sp>
      <p:sp>
        <p:nvSpPr>
          <p:cNvPr id="15" name="平行四边形 14">
            <a:extLst>
              <a:ext uri="{FF2B5EF4-FFF2-40B4-BE49-F238E27FC236}">
                <a16:creationId xmlns:a16="http://schemas.microsoft.com/office/drawing/2014/main" id="{53213600-9937-4B30-9340-74179D81C419}"/>
              </a:ext>
            </a:extLst>
          </p:cNvPr>
          <p:cNvSpPr/>
          <p:nvPr/>
        </p:nvSpPr>
        <p:spPr>
          <a:xfrm rot="5400000" flipV="1">
            <a:off x="1660565" y="3850527"/>
            <a:ext cx="1018887" cy="247648"/>
          </a:xfrm>
          <a:prstGeom prst="parallelogram">
            <a:avLst>
              <a:gd name="adj" fmla="val 10252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平行四边形 27">
            <a:extLst>
              <a:ext uri="{FF2B5EF4-FFF2-40B4-BE49-F238E27FC236}">
                <a16:creationId xmlns:a16="http://schemas.microsoft.com/office/drawing/2014/main" id="{E54026D9-FE3D-409D-A4A8-C32909BC9113}"/>
              </a:ext>
            </a:extLst>
          </p:cNvPr>
          <p:cNvSpPr/>
          <p:nvPr/>
        </p:nvSpPr>
        <p:spPr>
          <a:xfrm rot="5400000" flipV="1">
            <a:off x="2168491" y="3333261"/>
            <a:ext cx="1018887" cy="189487"/>
          </a:xfrm>
          <a:prstGeom prst="parallelogram">
            <a:avLst>
              <a:gd name="adj" fmla="val 10252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平行四边形 28">
            <a:extLst>
              <a:ext uri="{FF2B5EF4-FFF2-40B4-BE49-F238E27FC236}">
                <a16:creationId xmlns:a16="http://schemas.microsoft.com/office/drawing/2014/main" id="{6DD0AE01-613D-4563-8C60-CBB0779E68EC}"/>
              </a:ext>
            </a:extLst>
          </p:cNvPr>
          <p:cNvSpPr/>
          <p:nvPr/>
        </p:nvSpPr>
        <p:spPr>
          <a:xfrm rot="5400000" flipV="1">
            <a:off x="1660567" y="2593227"/>
            <a:ext cx="1018886" cy="247650"/>
          </a:xfrm>
          <a:prstGeom prst="parallelogram">
            <a:avLst>
              <a:gd name="adj" fmla="val 9579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平行四边形 29">
            <a:extLst>
              <a:ext uri="{FF2B5EF4-FFF2-40B4-BE49-F238E27FC236}">
                <a16:creationId xmlns:a16="http://schemas.microsoft.com/office/drawing/2014/main" id="{34A706DC-37E3-434B-8066-355B90EE32AC}"/>
              </a:ext>
            </a:extLst>
          </p:cNvPr>
          <p:cNvSpPr/>
          <p:nvPr/>
        </p:nvSpPr>
        <p:spPr>
          <a:xfrm rot="5400000" flipV="1">
            <a:off x="2168491" y="2129301"/>
            <a:ext cx="1018887" cy="189487"/>
          </a:xfrm>
          <a:prstGeom prst="parallelogram">
            <a:avLst>
              <a:gd name="adj" fmla="val 10252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B9F2C115-9E23-4564-917D-32DC791BF33F}"/>
              </a:ext>
            </a:extLst>
          </p:cNvPr>
          <p:cNvSpPr txBox="1"/>
          <p:nvPr/>
        </p:nvSpPr>
        <p:spPr>
          <a:xfrm>
            <a:off x="2774468" y="2706274"/>
            <a:ext cx="495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H</a:t>
            </a:r>
            <a:endParaRPr lang="zh-CN" altLang="en-US" b="1" dirty="0"/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6E581FC6-8991-400A-BB48-2CDBEBCB000F}"/>
              </a:ext>
            </a:extLst>
          </p:cNvPr>
          <p:cNvSpPr txBox="1"/>
          <p:nvPr/>
        </p:nvSpPr>
        <p:spPr>
          <a:xfrm>
            <a:off x="2082049" y="1406934"/>
            <a:ext cx="495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C</a:t>
            </a:r>
            <a:endParaRPr lang="zh-CN" altLang="en-US" b="1" dirty="0"/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BD9E2A3E-4352-4F52-BAA6-46A4F1648003}"/>
              </a:ext>
            </a:extLst>
          </p:cNvPr>
          <p:cNvSpPr/>
          <p:nvPr/>
        </p:nvSpPr>
        <p:spPr>
          <a:xfrm>
            <a:off x="1041519" y="2446020"/>
            <a:ext cx="997044" cy="7696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724BA5E2-4EE1-4DCC-9179-C22DAA04A912}"/>
              </a:ext>
            </a:extLst>
          </p:cNvPr>
          <p:cNvSpPr/>
          <p:nvPr/>
        </p:nvSpPr>
        <p:spPr>
          <a:xfrm>
            <a:off x="1045427" y="3724820"/>
            <a:ext cx="997044" cy="7696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平行四边形 51">
            <a:extLst>
              <a:ext uri="{FF2B5EF4-FFF2-40B4-BE49-F238E27FC236}">
                <a16:creationId xmlns:a16="http://schemas.microsoft.com/office/drawing/2014/main" id="{38D7BBD3-DCC9-4A27-AC47-0A94A07C2EBD}"/>
              </a:ext>
            </a:extLst>
          </p:cNvPr>
          <p:cNvSpPr/>
          <p:nvPr/>
        </p:nvSpPr>
        <p:spPr>
          <a:xfrm rot="10800000" flipH="1" flipV="1">
            <a:off x="1040305" y="2191415"/>
            <a:ext cx="1244477" cy="247648"/>
          </a:xfrm>
          <a:prstGeom prst="parallelogram">
            <a:avLst>
              <a:gd name="adj" fmla="val 10252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平行四边形 52">
            <a:extLst>
              <a:ext uri="{FF2B5EF4-FFF2-40B4-BE49-F238E27FC236}">
                <a16:creationId xmlns:a16="http://schemas.microsoft.com/office/drawing/2014/main" id="{08E55171-009C-42D1-808F-0DCF4E86D222}"/>
              </a:ext>
            </a:extLst>
          </p:cNvPr>
          <p:cNvSpPr/>
          <p:nvPr/>
        </p:nvSpPr>
        <p:spPr>
          <a:xfrm rot="10800000" flipH="1" flipV="1">
            <a:off x="1577337" y="1698429"/>
            <a:ext cx="1195341" cy="209802"/>
          </a:xfrm>
          <a:prstGeom prst="parallelogram">
            <a:avLst>
              <a:gd name="adj" fmla="val 10252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立方体 53">
            <a:extLst>
              <a:ext uri="{FF2B5EF4-FFF2-40B4-BE49-F238E27FC236}">
                <a16:creationId xmlns:a16="http://schemas.microsoft.com/office/drawing/2014/main" id="{D951131D-3C27-4177-B313-77A28E14D3AF}"/>
              </a:ext>
            </a:extLst>
          </p:cNvPr>
          <p:cNvSpPr/>
          <p:nvPr/>
        </p:nvSpPr>
        <p:spPr>
          <a:xfrm>
            <a:off x="4032369" y="1687932"/>
            <a:ext cx="1738780" cy="2795862"/>
          </a:xfrm>
          <a:prstGeom prst="cube">
            <a:avLst>
              <a:gd name="adj" fmla="val 43110"/>
            </a:avLst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5" name="立方体 54">
            <a:extLst>
              <a:ext uri="{FF2B5EF4-FFF2-40B4-BE49-F238E27FC236}">
                <a16:creationId xmlns:a16="http://schemas.microsoft.com/office/drawing/2014/main" id="{92E4902D-3FDD-4436-AF07-B55818040099}"/>
              </a:ext>
            </a:extLst>
          </p:cNvPr>
          <p:cNvSpPr/>
          <p:nvPr/>
        </p:nvSpPr>
        <p:spPr>
          <a:xfrm>
            <a:off x="4037490" y="2031717"/>
            <a:ext cx="1414620" cy="2452077"/>
          </a:xfrm>
          <a:prstGeom prst="cube">
            <a:avLst>
              <a:gd name="adj" fmla="val 30076"/>
            </a:avLst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29345154-D991-43EC-9813-A01C75F8FC39}"/>
              </a:ext>
            </a:extLst>
          </p:cNvPr>
          <p:cNvSpPr txBox="1"/>
          <p:nvPr/>
        </p:nvSpPr>
        <p:spPr>
          <a:xfrm>
            <a:off x="5275849" y="4042648"/>
            <a:ext cx="495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W</a:t>
            </a:r>
            <a:endParaRPr lang="zh-CN" altLang="en-US" b="1" dirty="0"/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D91E8EC4-338C-4613-A855-3A2058553CE1}"/>
              </a:ext>
            </a:extLst>
          </p:cNvPr>
          <p:cNvSpPr txBox="1"/>
          <p:nvPr/>
        </p:nvSpPr>
        <p:spPr>
          <a:xfrm>
            <a:off x="5765318" y="2706274"/>
            <a:ext cx="495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H</a:t>
            </a:r>
            <a:endParaRPr lang="zh-CN" altLang="en-US" b="1" dirty="0"/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E042D142-3FA7-45B0-BCEF-E2017BF86F9D}"/>
              </a:ext>
            </a:extLst>
          </p:cNvPr>
          <p:cNvSpPr txBox="1"/>
          <p:nvPr/>
        </p:nvSpPr>
        <p:spPr>
          <a:xfrm>
            <a:off x="5072899" y="1406934"/>
            <a:ext cx="495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C</a:t>
            </a:r>
            <a:endParaRPr lang="zh-CN" altLang="en-US" b="1" dirty="0"/>
          </a:p>
        </p:txBody>
      </p:sp>
      <p:sp>
        <p:nvSpPr>
          <p:cNvPr id="72" name="立方体 71">
            <a:extLst>
              <a:ext uri="{FF2B5EF4-FFF2-40B4-BE49-F238E27FC236}">
                <a16:creationId xmlns:a16="http://schemas.microsoft.com/office/drawing/2014/main" id="{727EF150-0A7F-4738-9E98-6788673BB944}"/>
              </a:ext>
            </a:extLst>
          </p:cNvPr>
          <p:cNvSpPr/>
          <p:nvPr/>
        </p:nvSpPr>
        <p:spPr>
          <a:xfrm>
            <a:off x="4032369" y="1698429"/>
            <a:ext cx="1732949" cy="2785365"/>
          </a:xfrm>
          <a:prstGeom prst="cube">
            <a:avLst>
              <a:gd name="adj" fmla="val 4258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1" name="组合 70">
            <a:extLst>
              <a:ext uri="{FF2B5EF4-FFF2-40B4-BE49-F238E27FC236}">
                <a16:creationId xmlns:a16="http://schemas.microsoft.com/office/drawing/2014/main" id="{EADB534C-848A-4039-95E7-025EAB78E90C}"/>
              </a:ext>
            </a:extLst>
          </p:cNvPr>
          <p:cNvGrpSpPr/>
          <p:nvPr/>
        </p:nvGrpSpPr>
        <p:grpSpPr>
          <a:xfrm>
            <a:off x="4037505" y="1698429"/>
            <a:ext cx="1732373" cy="2796011"/>
            <a:chOff x="4088305" y="1698429"/>
            <a:chExt cx="1732373" cy="2796011"/>
          </a:xfrm>
        </p:grpSpPr>
        <p:grpSp>
          <p:nvGrpSpPr>
            <p:cNvPr id="59" name="组合 58">
              <a:extLst>
                <a:ext uri="{FF2B5EF4-FFF2-40B4-BE49-F238E27FC236}">
                  <a16:creationId xmlns:a16="http://schemas.microsoft.com/office/drawing/2014/main" id="{24195B40-529B-43D7-8844-AE5D408935C9}"/>
                </a:ext>
              </a:extLst>
            </p:cNvPr>
            <p:cNvGrpSpPr/>
            <p:nvPr/>
          </p:nvGrpSpPr>
          <p:grpSpPr>
            <a:xfrm>
              <a:off x="5078711" y="1714601"/>
              <a:ext cx="726493" cy="2769193"/>
              <a:chOff x="2044972" y="1693937"/>
              <a:chExt cx="726493" cy="2769193"/>
            </a:xfrm>
          </p:grpSpPr>
          <p:sp>
            <p:nvSpPr>
              <p:cNvPr id="61" name="平行四边形 60">
                <a:extLst>
                  <a:ext uri="{FF2B5EF4-FFF2-40B4-BE49-F238E27FC236}">
                    <a16:creationId xmlns:a16="http://schemas.microsoft.com/office/drawing/2014/main" id="{56E7BEDB-8E0A-45DA-A954-E8AB9E76FEDB}"/>
                  </a:ext>
                </a:extLst>
              </p:cNvPr>
              <p:cNvSpPr/>
              <p:nvPr/>
            </p:nvSpPr>
            <p:spPr>
              <a:xfrm rot="5400000" flipV="1">
                <a:off x="1659352" y="3829863"/>
                <a:ext cx="1018887" cy="247648"/>
              </a:xfrm>
              <a:prstGeom prst="parallelogram">
                <a:avLst>
                  <a:gd name="adj" fmla="val 102525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2" name="平行四边形 61">
                <a:extLst>
                  <a:ext uri="{FF2B5EF4-FFF2-40B4-BE49-F238E27FC236}">
                    <a16:creationId xmlns:a16="http://schemas.microsoft.com/office/drawing/2014/main" id="{D8584693-D191-4FF8-9E79-BF3F565D501A}"/>
                  </a:ext>
                </a:extLst>
              </p:cNvPr>
              <p:cNvSpPr/>
              <p:nvPr/>
            </p:nvSpPr>
            <p:spPr>
              <a:xfrm rot="5400000" flipV="1">
                <a:off x="2167278" y="3312597"/>
                <a:ext cx="1018887" cy="189487"/>
              </a:xfrm>
              <a:prstGeom prst="parallelogram">
                <a:avLst>
                  <a:gd name="adj" fmla="val 102525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3" name="平行四边形 62">
                <a:extLst>
                  <a:ext uri="{FF2B5EF4-FFF2-40B4-BE49-F238E27FC236}">
                    <a16:creationId xmlns:a16="http://schemas.microsoft.com/office/drawing/2014/main" id="{7FC54AC4-36BD-49F9-A38D-9F7015966874}"/>
                  </a:ext>
                </a:extLst>
              </p:cNvPr>
              <p:cNvSpPr/>
              <p:nvPr/>
            </p:nvSpPr>
            <p:spPr>
              <a:xfrm rot="5400000" flipV="1">
                <a:off x="1659354" y="2572563"/>
                <a:ext cx="1018886" cy="247650"/>
              </a:xfrm>
              <a:prstGeom prst="parallelogram">
                <a:avLst>
                  <a:gd name="adj" fmla="val 95794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4" name="平行四边形 63">
                <a:extLst>
                  <a:ext uri="{FF2B5EF4-FFF2-40B4-BE49-F238E27FC236}">
                    <a16:creationId xmlns:a16="http://schemas.microsoft.com/office/drawing/2014/main" id="{3CE5F444-9FE6-47A4-B092-156FBE40EE76}"/>
                  </a:ext>
                </a:extLst>
              </p:cNvPr>
              <p:cNvSpPr/>
              <p:nvPr/>
            </p:nvSpPr>
            <p:spPr>
              <a:xfrm rot="5400000" flipV="1">
                <a:off x="2167278" y="2108637"/>
                <a:ext cx="1018887" cy="189487"/>
              </a:xfrm>
              <a:prstGeom prst="parallelogram">
                <a:avLst>
                  <a:gd name="adj" fmla="val 102525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67" name="矩形 66">
              <a:extLst>
                <a:ext uri="{FF2B5EF4-FFF2-40B4-BE49-F238E27FC236}">
                  <a16:creationId xmlns:a16="http://schemas.microsoft.com/office/drawing/2014/main" id="{08543290-A5DB-4BDA-80F6-8E7CB16A5967}"/>
                </a:ext>
              </a:extLst>
            </p:cNvPr>
            <p:cNvSpPr/>
            <p:nvPr/>
          </p:nvSpPr>
          <p:spPr>
            <a:xfrm>
              <a:off x="4089519" y="2446020"/>
              <a:ext cx="997044" cy="76962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8" name="矩形 67">
              <a:extLst>
                <a:ext uri="{FF2B5EF4-FFF2-40B4-BE49-F238E27FC236}">
                  <a16:creationId xmlns:a16="http://schemas.microsoft.com/office/drawing/2014/main" id="{058454C2-9848-463F-9BC8-277F03EEEC8B}"/>
                </a:ext>
              </a:extLst>
            </p:cNvPr>
            <p:cNvSpPr/>
            <p:nvPr/>
          </p:nvSpPr>
          <p:spPr>
            <a:xfrm>
              <a:off x="4093427" y="3724820"/>
              <a:ext cx="997044" cy="76962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平行四边形 68">
              <a:extLst>
                <a:ext uri="{FF2B5EF4-FFF2-40B4-BE49-F238E27FC236}">
                  <a16:creationId xmlns:a16="http://schemas.microsoft.com/office/drawing/2014/main" id="{5A7DC948-6998-4967-9AE3-BE66BAB2F1CF}"/>
                </a:ext>
              </a:extLst>
            </p:cNvPr>
            <p:cNvSpPr/>
            <p:nvPr/>
          </p:nvSpPr>
          <p:spPr>
            <a:xfrm rot="10800000" flipH="1" flipV="1">
              <a:off x="4088305" y="2191415"/>
              <a:ext cx="1244477" cy="247648"/>
            </a:xfrm>
            <a:prstGeom prst="parallelogram">
              <a:avLst>
                <a:gd name="adj" fmla="val 102525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" name="平行四边形 69">
              <a:extLst>
                <a:ext uri="{FF2B5EF4-FFF2-40B4-BE49-F238E27FC236}">
                  <a16:creationId xmlns:a16="http://schemas.microsoft.com/office/drawing/2014/main" id="{25E74B4B-3C67-4FCB-81F7-1D95373B2E53}"/>
                </a:ext>
              </a:extLst>
            </p:cNvPr>
            <p:cNvSpPr/>
            <p:nvPr/>
          </p:nvSpPr>
          <p:spPr>
            <a:xfrm rot="10800000" flipH="1" flipV="1">
              <a:off x="4625337" y="1698429"/>
              <a:ext cx="1195341" cy="209802"/>
            </a:xfrm>
            <a:prstGeom prst="parallelogram">
              <a:avLst>
                <a:gd name="adj" fmla="val 102525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3" name="箭头: 右 72">
            <a:extLst>
              <a:ext uri="{FF2B5EF4-FFF2-40B4-BE49-F238E27FC236}">
                <a16:creationId xmlns:a16="http://schemas.microsoft.com/office/drawing/2014/main" id="{B1EAE399-8697-42E7-8401-51AF663EE684}"/>
              </a:ext>
            </a:extLst>
          </p:cNvPr>
          <p:cNvSpPr/>
          <p:nvPr/>
        </p:nvSpPr>
        <p:spPr>
          <a:xfrm>
            <a:off x="3105150" y="3282902"/>
            <a:ext cx="606967" cy="18415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AAB7DEEF-7B44-4731-BCA6-272E6BAE94F0}"/>
              </a:ext>
            </a:extLst>
          </p:cNvPr>
          <p:cNvSpPr txBox="1"/>
          <p:nvPr/>
        </p:nvSpPr>
        <p:spPr>
          <a:xfrm>
            <a:off x="3076002" y="3573269"/>
            <a:ext cx="725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</a:rPr>
              <a:t>置零</a:t>
            </a:r>
          </a:p>
        </p:txBody>
      </p:sp>
    </p:spTree>
    <p:extLst>
      <p:ext uri="{BB962C8B-B14F-4D97-AF65-F5344CB8AC3E}">
        <p14:creationId xmlns:p14="http://schemas.microsoft.com/office/powerpoint/2010/main" val="350159347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B106840B-AF03-49F7-B778-3DC70955B1D8}"/>
              </a:ext>
            </a:extLst>
          </p:cNvPr>
          <p:cNvSpPr txBox="1"/>
          <p:nvPr/>
        </p:nvSpPr>
        <p:spPr>
          <a:xfrm>
            <a:off x="225630" y="95003"/>
            <a:ext cx="57255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傅里叶神经算子 </a:t>
            </a:r>
            <a:r>
              <a:rPr lang="en-US" altLang="zh-CN" sz="2400" b="1" dirty="0"/>
              <a:t>FNO</a:t>
            </a:r>
            <a:endParaRPr lang="zh-CN" altLang="en-US" sz="2400" b="1" dirty="0"/>
          </a:p>
        </p:txBody>
      </p:sp>
      <p:sp>
        <p:nvSpPr>
          <p:cNvPr id="20" name="立方体 19">
            <a:extLst>
              <a:ext uri="{FF2B5EF4-FFF2-40B4-BE49-F238E27FC236}">
                <a16:creationId xmlns:a16="http://schemas.microsoft.com/office/drawing/2014/main" id="{1946B0BA-B1F7-4F78-B863-43AB16CF7688}"/>
              </a:ext>
            </a:extLst>
          </p:cNvPr>
          <p:cNvSpPr/>
          <p:nvPr/>
        </p:nvSpPr>
        <p:spPr>
          <a:xfrm>
            <a:off x="1041519" y="1687932"/>
            <a:ext cx="1738780" cy="2795862"/>
          </a:xfrm>
          <a:prstGeom prst="cube">
            <a:avLst>
              <a:gd name="adj" fmla="val 43110"/>
            </a:avLst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A03151C4-D197-4BDB-B81C-0172D875D849}"/>
              </a:ext>
            </a:extLst>
          </p:cNvPr>
          <p:cNvSpPr txBox="1"/>
          <p:nvPr/>
        </p:nvSpPr>
        <p:spPr>
          <a:xfrm>
            <a:off x="411023" y="5112104"/>
            <a:ext cx="35771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频域复数张量 </a:t>
            </a:r>
            <a:r>
              <a:rPr lang="en-US" altLang="zh-CN" dirty="0"/>
              <a:t>x (B, C, H, W/2 + 1)</a:t>
            </a:r>
            <a:endParaRPr lang="zh-CN" altLang="en-US" dirty="0"/>
          </a:p>
        </p:txBody>
      </p:sp>
      <p:sp>
        <p:nvSpPr>
          <p:cNvPr id="45" name="立方体 44">
            <a:extLst>
              <a:ext uri="{FF2B5EF4-FFF2-40B4-BE49-F238E27FC236}">
                <a16:creationId xmlns:a16="http://schemas.microsoft.com/office/drawing/2014/main" id="{7FA20C62-81A5-460A-ADB1-B22F51EAFC6B}"/>
              </a:ext>
            </a:extLst>
          </p:cNvPr>
          <p:cNvSpPr/>
          <p:nvPr/>
        </p:nvSpPr>
        <p:spPr>
          <a:xfrm>
            <a:off x="1046640" y="2031717"/>
            <a:ext cx="1414620" cy="2452077"/>
          </a:xfrm>
          <a:prstGeom prst="cube">
            <a:avLst>
              <a:gd name="adj" fmla="val 30076"/>
            </a:avLst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F489079-CCBF-4DB3-B8A6-6823B775FCF6}"/>
              </a:ext>
            </a:extLst>
          </p:cNvPr>
          <p:cNvSpPr txBox="1"/>
          <p:nvPr/>
        </p:nvSpPr>
        <p:spPr>
          <a:xfrm>
            <a:off x="2284999" y="4042648"/>
            <a:ext cx="495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W</a:t>
            </a:r>
            <a:endParaRPr lang="zh-CN" altLang="en-US" b="1" dirty="0"/>
          </a:p>
        </p:txBody>
      </p: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F770FE9A-10E5-4123-B2FD-2DF6B8837FEC}"/>
              </a:ext>
            </a:extLst>
          </p:cNvPr>
          <p:cNvGrpSpPr/>
          <p:nvPr/>
        </p:nvGrpSpPr>
        <p:grpSpPr>
          <a:xfrm>
            <a:off x="2046185" y="1714601"/>
            <a:ext cx="726493" cy="2769193"/>
            <a:chOff x="2044972" y="1693937"/>
            <a:chExt cx="726493" cy="2769193"/>
          </a:xfrm>
        </p:grpSpPr>
        <p:sp>
          <p:nvSpPr>
            <p:cNvPr id="15" name="平行四边形 14">
              <a:extLst>
                <a:ext uri="{FF2B5EF4-FFF2-40B4-BE49-F238E27FC236}">
                  <a16:creationId xmlns:a16="http://schemas.microsoft.com/office/drawing/2014/main" id="{53213600-9937-4B30-9340-74179D81C419}"/>
                </a:ext>
              </a:extLst>
            </p:cNvPr>
            <p:cNvSpPr/>
            <p:nvPr/>
          </p:nvSpPr>
          <p:spPr>
            <a:xfrm rot="5400000" flipV="1">
              <a:off x="1659352" y="3829863"/>
              <a:ext cx="1018887" cy="247648"/>
            </a:xfrm>
            <a:prstGeom prst="parallelogram">
              <a:avLst>
                <a:gd name="adj" fmla="val 102525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平行四边形 27">
              <a:extLst>
                <a:ext uri="{FF2B5EF4-FFF2-40B4-BE49-F238E27FC236}">
                  <a16:creationId xmlns:a16="http://schemas.microsoft.com/office/drawing/2014/main" id="{E54026D9-FE3D-409D-A4A8-C32909BC9113}"/>
                </a:ext>
              </a:extLst>
            </p:cNvPr>
            <p:cNvSpPr/>
            <p:nvPr/>
          </p:nvSpPr>
          <p:spPr>
            <a:xfrm rot="5400000" flipV="1">
              <a:off x="2167278" y="3312597"/>
              <a:ext cx="1018887" cy="189487"/>
            </a:xfrm>
            <a:prstGeom prst="parallelogram">
              <a:avLst>
                <a:gd name="adj" fmla="val 102525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平行四边形 28">
              <a:extLst>
                <a:ext uri="{FF2B5EF4-FFF2-40B4-BE49-F238E27FC236}">
                  <a16:creationId xmlns:a16="http://schemas.microsoft.com/office/drawing/2014/main" id="{6DD0AE01-613D-4563-8C60-CBB0779E68EC}"/>
                </a:ext>
              </a:extLst>
            </p:cNvPr>
            <p:cNvSpPr/>
            <p:nvPr/>
          </p:nvSpPr>
          <p:spPr>
            <a:xfrm rot="5400000" flipV="1">
              <a:off x="1659354" y="2572563"/>
              <a:ext cx="1018886" cy="247650"/>
            </a:xfrm>
            <a:prstGeom prst="parallelogram">
              <a:avLst>
                <a:gd name="adj" fmla="val 95794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平行四边形 29">
              <a:extLst>
                <a:ext uri="{FF2B5EF4-FFF2-40B4-BE49-F238E27FC236}">
                  <a16:creationId xmlns:a16="http://schemas.microsoft.com/office/drawing/2014/main" id="{34A706DC-37E3-434B-8066-355B90EE32AC}"/>
                </a:ext>
              </a:extLst>
            </p:cNvPr>
            <p:cNvSpPr/>
            <p:nvPr/>
          </p:nvSpPr>
          <p:spPr>
            <a:xfrm rot="5400000" flipV="1">
              <a:off x="2167278" y="2108637"/>
              <a:ext cx="1018887" cy="189487"/>
            </a:xfrm>
            <a:prstGeom prst="parallelogram">
              <a:avLst>
                <a:gd name="adj" fmla="val 102525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8" name="文本框 47">
            <a:extLst>
              <a:ext uri="{FF2B5EF4-FFF2-40B4-BE49-F238E27FC236}">
                <a16:creationId xmlns:a16="http://schemas.microsoft.com/office/drawing/2014/main" id="{B9F2C115-9E23-4564-917D-32DC791BF33F}"/>
              </a:ext>
            </a:extLst>
          </p:cNvPr>
          <p:cNvSpPr txBox="1"/>
          <p:nvPr/>
        </p:nvSpPr>
        <p:spPr>
          <a:xfrm>
            <a:off x="2774468" y="2706274"/>
            <a:ext cx="495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H</a:t>
            </a:r>
            <a:endParaRPr lang="zh-CN" altLang="en-US" b="1" dirty="0"/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6E581FC6-8991-400A-BB48-2CDBEBCB000F}"/>
              </a:ext>
            </a:extLst>
          </p:cNvPr>
          <p:cNvSpPr txBox="1"/>
          <p:nvPr/>
        </p:nvSpPr>
        <p:spPr>
          <a:xfrm>
            <a:off x="2082049" y="1406934"/>
            <a:ext cx="495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IC</a:t>
            </a:r>
            <a:endParaRPr lang="zh-CN" altLang="en-US" b="1" dirty="0"/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BD9E2A3E-4352-4F52-BAA6-46A4F1648003}"/>
              </a:ext>
            </a:extLst>
          </p:cNvPr>
          <p:cNvSpPr/>
          <p:nvPr/>
        </p:nvSpPr>
        <p:spPr>
          <a:xfrm>
            <a:off x="1041519" y="2446020"/>
            <a:ext cx="997044" cy="7696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724BA5E2-4EE1-4DCC-9179-C22DAA04A912}"/>
              </a:ext>
            </a:extLst>
          </p:cNvPr>
          <p:cNvSpPr/>
          <p:nvPr/>
        </p:nvSpPr>
        <p:spPr>
          <a:xfrm>
            <a:off x="1045427" y="3724820"/>
            <a:ext cx="997044" cy="7696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平行四边形 51">
            <a:extLst>
              <a:ext uri="{FF2B5EF4-FFF2-40B4-BE49-F238E27FC236}">
                <a16:creationId xmlns:a16="http://schemas.microsoft.com/office/drawing/2014/main" id="{38D7BBD3-DCC9-4A27-AC47-0A94A07C2EBD}"/>
              </a:ext>
            </a:extLst>
          </p:cNvPr>
          <p:cNvSpPr/>
          <p:nvPr/>
        </p:nvSpPr>
        <p:spPr>
          <a:xfrm rot="10800000" flipH="1" flipV="1">
            <a:off x="1040305" y="2191415"/>
            <a:ext cx="1244477" cy="247648"/>
          </a:xfrm>
          <a:prstGeom prst="parallelogram">
            <a:avLst>
              <a:gd name="adj" fmla="val 10252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平行四边形 52">
            <a:extLst>
              <a:ext uri="{FF2B5EF4-FFF2-40B4-BE49-F238E27FC236}">
                <a16:creationId xmlns:a16="http://schemas.microsoft.com/office/drawing/2014/main" id="{08E55171-009C-42D1-808F-0DCF4E86D222}"/>
              </a:ext>
            </a:extLst>
          </p:cNvPr>
          <p:cNvSpPr/>
          <p:nvPr/>
        </p:nvSpPr>
        <p:spPr>
          <a:xfrm rot="10800000" flipH="1" flipV="1">
            <a:off x="1577337" y="1698429"/>
            <a:ext cx="1195341" cy="209802"/>
          </a:xfrm>
          <a:prstGeom prst="parallelogram">
            <a:avLst>
              <a:gd name="adj" fmla="val 10252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立方体 53">
            <a:extLst>
              <a:ext uri="{FF2B5EF4-FFF2-40B4-BE49-F238E27FC236}">
                <a16:creationId xmlns:a16="http://schemas.microsoft.com/office/drawing/2014/main" id="{D951131D-3C27-4177-B313-77A28E14D3AF}"/>
              </a:ext>
            </a:extLst>
          </p:cNvPr>
          <p:cNvSpPr/>
          <p:nvPr/>
        </p:nvSpPr>
        <p:spPr>
          <a:xfrm>
            <a:off x="4032369" y="1687932"/>
            <a:ext cx="1738780" cy="2795862"/>
          </a:xfrm>
          <a:prstGeom prst="cube">
            <a:avLst>
              <a:gd name="adj" fmla="val 43110"/>
            </a:avLst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5" name="立方体 54">
            <a:extLst>
              <a:ext uri="{FF2B5EF4-FFF2-40B4-BE49-F238E27FC236}">
                <a16:creationId xmlns:a16="http://schemas.microsoft.com/office/drawing/2014/main" id="{92E4902D-3FDD-4436-AF07-B55818040099}"/>
              </a:ext>
            </a:extLst>
          </p:cNvPr>
          <p:cNvSpPr/>
          <p:nvPr/>
        </p:nvSpPr>
        <p:spPr>
          <a:xfrm>
            <a:off x="4037490" y="2031717"/>
            <a:ext cx="1414620" cy="2452077"/>
          </a:xfrm>
          <a:prstGeom prst="cube">
            <a:avLst>
              <a:gd name="adj" fmla="val 30076"/>
            </a:avLst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29345154-D991-43EC-9813-A01C75F8FC39}"/>
              </a:ext>
            </a:extLst>
          </p:cNvPr>
          <p:cNvSpPr txBox="1"/>
          <p:nvPr/>
        </p:nvSpPr>
        <p:spPr>
          <a:xfrm>
            <a:off x="5275849" y="4042648"/>
            <a:ext cx="495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W</a:t>
            </a:r>
            <a:endParaRPr lang="zh-CN" altLang="en-US" b="1" dirty="0"/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D91E8EC4-338C-4613-A855-3A2058553CE1}"/>
              </a:ext>
            </a:extLst>
          </p:cNvPr>
          <p:cNvSpPr txBox="1"/>
          <p:nvPr/>
        </p:nvSpPr>
        <p:spPr>
          <a:xfrm>
            <a:off x="5765318" y="2706274"/>
            <a:ext cx="495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H</a:t>
            </a:r>
            <a:endParaRPr lang="zh-CN" altLang="en-US" b="1" dirty="0"/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E042D142-3FA7-45B0-BCEF-E2017BF86F9D}"/>
              </a:ext>
            </a:extLst>
          </p:cNvPr>
          <p:cNvSpPr txBox="1"/>
          <p:nvPr/>
        </p:nvSpPr>
        <p:spPr>
          <a:xfrm>
            <a:off x="5072899" y="1406934"/>
            <a:ext cx="495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IC</a:t>
            </a:r>
            <a:endParaRPr lang="zh-CN" altLang="en-US" b="1" dirty="0"/>
          </a:p>
        </p:txBody>
      </p:sp>
      <p:sp>
        <p:nvSpPr>
          <p:cNvPr id="72" name="立方体 71">
            <a:extLst>
              <a:ext uri="{FF2B5EF4-FFF2-40B4-BE49-F238E27FC236}">
                <a16:creationId xmlns:a16="http://schemas.microsoft.com/office/drawing/2014/main" id="{727EF150-0A7F-4738-9E98-6788673BB944}"/>
              </a:ext>
            </a:extLst>
          </p:cNvPr>
          <p:cNvSpPr/>
          <p:nvPr/>
        </p:nvSpPr>
        <p:spPr>
          <a:xfrm>
            <a:off x="4032369" y="1698429"/>
            <a:ext cx="1732949" cy="2785365"/>
          </a:xfrm>
          <a:prstGeom prst="cube">
            <a:avLst>
              <a:gd name="adj" fmla="val 4258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1" name="组合 70">
            <a:extLst>
              <a:ext uri="{FF2B5EF4-FFF2-40B4-BE49-F238E27FC236}">
                <a16:creationId xmlns:a16="http://schemas.microsoft.com/office/drawing/2014/main" id="{EADB534C-848A-4039-95E7-025EAB78E90C}"/>
              </a:ext>
            </a:extLst>
          </p:cNvPr>
          <p:cNvGrpSpPr/>
          <p:nvPr/>
        </p:nvGrpSpPr>
        <p:grpSpPr>
          <a:xfrm>
            <a:off x="4037505" y="1698429"/>
            <a:ext cx="1732373" cy="2796011"/>
            <a:chOff x="4088305" y="1698429"/>
            <a:chExt cx="1732373" cy="2796011"/>
          </a:xfrm>
        </p:grpSpPr>
        <p:grpSp>
          <p:nvGrpSpPr>
            <p:cNvPr id="59" name="组合 58">
              <a:extLst>
                <a:ext uri="{FF2B5EF4-FFF2-40B4-BE49-F238E27FC236}">
                  <a16:creationId xmlns:a16="http://schemas.microsoft.com/office/drawing/2014/main" id="{24195B40-529B-43D7-8844-AE5D408935C9}"/>
                </a:ext>
              </a:extLst>
            </p:cNvPr>
            <p:cNvGrpSpPr/>
            <p:nvPr/>
          </p:nvGrpSpPr>
          <p:grpSpPr>
            <a:xfrm>
              <a:off x="5078711" y="1714601"/>
              <a:ext cx="726493" cy="2769193"/>
              <a:chOff x="2044972" y="1693937"/>
              <a:chExt cx="726493" cy="2769193"/>
            </a:xfrm>
          </p:grpSpPr>
          <p:sp>
            <p:nvSpPr>
              <p:cNvPr id="61" name="平行四边形 60">
                <a:extLst>
                  <a:ext uri="{FF2B5EF4-FFF2-40B4-BE49-F238E27FC236}">
                    <a16:creationId xmlns:a16="http://schemas.microsoft.com/office/drawing/2014/main" id="{56E7BEDB-8E0A-45DA-A954-E8AB9E76FEDB}"/>
                  </a:ext>
                </a:extLst>
              </p:cNvPr>
              <p:cNvSpPr/>
              <p:nvPr/>
            </p:nvSpPr>
            <p:spPr>
              <a:xfrm rot="5400000" flipV="1">
                <a:off x="1659352" y="3829863"/>
                <a:ext cx="1018887" cy="247648"/>
              </a:xfrm>
              <a:prstGeom prst="parallelogram">
                <a:avLst>
                  <a:gd name="adj" fmla="val 102525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2" name="平行四边形 61">
                <a:extLst>
                  <a:ext uri="{FF2B5EF4-FFF2-40B4-BE49-F238E27FC236}">
                    <a16:creationId xmlns:a16="http://schemas.microsoft.com/office/drawing/2014/main" id="{D8584693-D191-4FF8-9E79-BF3F565D501A}"/>
                  </a:ext>
                </a:extLst>
              </p:cNvPr>
              <p:cNvSpPr/>
              <p:nvPr/>
            </p:nvSpPr>
            <p:spPr>
              <a:xfrm rot="5400000" flipV="1">
                <a:off x="2167278" y="3312597"/>
                <a:ext cx="1018887" cy="189487"/>
              </a:xfrm>
              <a:prstGeom prst="parallelogram">
                <a:avLst>
                  <a:gd name="adj" fmla="val 102525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3" name="平行四边形 62">
                <a:extLst>
                  <a:ext uri="{FF2B5EF4-FFF2-40B4-BE49-F238E27FC236}">
                    <a16:creationId xmlns:a16="http://schemas.microsoft.com/office/drawing/2014/main" id="{7FC54AC4-36BD-49F9-A38D-9F7015966874}"/>
                  </a:ext>
                </a:extLst>
              </p:cNvPr>
              <p:cNvSpPr/>
              <p:nvPr/>
            </p:nvSpPr>
            <p:spPr>
              <a:xfrm rot="5400000" flipV="1">
                <a:off x="1659354" y="2572563"/>
                <a:ext cx="1018886" cy="247650"/>
              </a:xfrm>
              <a:prstGeom prst="parallelogram">
                <a:avLst>
                  <a:gd name="adj" fmla="val 95794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4" name="平行四边形 63">
                <a:extLst>
                  <a:ext uri="{FF2B5EF4-FFF2-40B4-BE49-F238E27FC236}">
                    <a16:creationId xmlns:a16="http://schemas.microsoft.com/office/drawing/2014/main" id="{3CE5F444-9FE6-47A4-B092-156FBE40EE76}"/>
                  </a:ext>
                </a:extLst>
              </p:cNvPr>
              <p:cNvSpPr/>
              <p:nvPr/>
            </p:nvSpPr>
            <p:spPr>
              <a:xfrm rot="5400000" flipV="1">
                <a:off x="2167278" y="2108637"/>
                <a:ext cx="1018887" cy="189487"/>
              </a:xfrm>
              <a:prstGeom prst="parallelogram">
                <a:avLst>
                  <a:gd name="adj" fmla="val 102525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67" name="矩形 66">
              <a:extLst>
                <a:ext uri="{FF2B5EF4-FFF2-40B4-BE49-F238E27FC236}">
                  <a16:creationId xmlns:a16="http://schemas.microsoft.com/office/drawing/2014/main" id="{08543290-A5DB-4BDA-80F6-8E7CB16A5967}"/>
                </a:ext>
              </a:extLst>
            </p:cNvPr>
            <p:cNvSpPr/>
            <p:nvPr/>
          </p:nvSpPr>
          <p:spPr>
            <a:xfrm>
              <a:off x="4089519" y="2446020"/>
              <a:ext cx="997044" cy="76962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8" name="矩形 67">
              <a:extLst>
                <a:ext uri="{FF2B5EF4-FFF2-40B4-BE49-F238E27FC236}">
                  <a16:creationId xmlns:a16="http://schemas.microsoft.com/office/drawing/2014/main" id="{058454C2-9848-463F-9BC8-277F03EEEC8B}"/>
                </a:ext>
              </a:extLst>
            </p:cNvPr>
            <p:cNvSpPr/>
            <p:nvPr/>
          </p:nvSpPr>
          <p:spPr>
            <a:xfrm>
              <a:off x="4093427" y="3724820"/>
              <a:ext cx="997044" cy="76962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平行四边形 68">
              <a:extLst>
                <a:ext uri="{FF2B5EF4-FFF2-40B4-BE49-F238E27FC236}">
                  <a16:creationId xmlns:a16="http://schemas.microsoft.com/office/drawing/2014/main" id="{5A7DC948-6998-4967-9AE3-BE66BAB2F1CF}"/>
                </a:ext>
              </a:extLst>
            </p:cNvPr>
            <p:cNvSpPr/>
            <p:nvPr/>
          </p:nvSpPr>
          <p:spPr>
            <a:xfrm rot="10800000" flipH="1" flipV="1">
              <a:off x="4088305" y="2191415"/>
              <a:ext cx="1244477" cy="247648"/>
            </a:xfrm>
            <a:prstGeom prst="parallelogram">
              <a:avLst>
                <a:gd name="adj" fmla="val 102525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" name="平行四边形 69">
              <a:extLst>
                <a:ext uri="{FF2B5EF4-FFF2-40B4-BE49-F238E27FC236}">
                  <a16:creationId xmlns:a16="http://schemas.microsoft.com/office/drawing/2014/main" id="{25E74B4B-3C67-4FCB-81F7-1D95373B2E53}"/>
                </a:ext>
              </a:extLst>
            </p:cNvPr>
            <p:cNvSpPr/>
            <p:nvPr/>
          </p:nvSpPr>
          <p:spPr>
            <a:xfrm rot="10800000" flipH="1" flipV="1">
              <a:off x="4625337" y="1698429"/>
              <a:ext cx="1195341" cy="209802"/>
            </a:xfrm>
            <a:prstGeom prst="parallelogram">
              <a:avLst>
                <a:gd name="adj" fmla="val 102525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3" name="箭头: 右 72">
            <a:extLst>
              <a:ext uri="{FF2B5EF4-FFF2-40B4-BE49-F238E27FC236}">
                <a16:creationId xmlns:a16="http://schemas.microsoft.com/office/drawing/2014/main" id="{B1EAE399-8697-42E7-8401-51AF663EE684}"/>
              </a:ext>
            </a:extLst>
          </p:cNvPr>
          <p:cNvSpPr/>
          <p:nvPr/>
        </p:nvSpPr>
        <p:spPr>
          <a:xfrm>
            <a:off x="3105150" y="3282902"/>
            <a:ext cx="606967" cy="18415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AAB7DEEF-7B44-4731-BCA6-272E6BAE94F0}"/>
              </a:ext>
            </a:extLst>
          </p:cNvPr>
          <p:cNvSpPr txBox="1"/>
          <p:nvPr/>
        </p:nvSpPr>
        <p:spPr>
          <a:xfrm>
            <a:off x="3076002" y="3573269"/>
            <a:ext cx="725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</a:rPr>
              <a:t>置零</a:t>
            </a:r>
          </a:p>
        </p:txBody>
      </p:sp>
      <p:sp>
        <p:nvSpPr>
          <p:cNvPr id="42" name="箭头: 右 41">
            <a:extLst>
              <a:ext uri="{FF2B5EF4-FFF2-40B4-BE49-F238E27FC236}">
                <a16:creationId xmlns:a16="http://schemas.microsoft.com/office/drawing/2014/main" id="{36A82EA9-9309-4F40-A4F2-28B058DF4F7A}"/>
              </a:ext>
            </a:extLst>
          </p:cNvPr>
          <p:cNvSpPr/>
          <p:nvPr/>
        </p:nvSpPr>
        <p:spPr>
          <a:xfrm>
            <a:off x="6260618" y="3243854"/>
            <a:ext cx="606967" cy="18415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D61A8D09-D894-4440-A6E3-C407B80EDAE2}"/>
              </a:ext>
            </a:extLst>
          </p:cNvPr>
          <p:cNvSpPr txBox="1"/>
          <p:nvPr/>
        </p:nvSpPr>
        <p:spPr>
          <a:xfrm>
            <a:off x="6025947" y="3527544"/>
            <a:ext cx="11169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</a:rPr>
              <a:t>压缩通道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0568AE9D-3820-451F-BDA6-8A812E831D47}"/>
              </a:ext>
            </a:extLst>
          </p:cNvPr>
          <p:cNvGrpSpPr/>
          <p:nvPr/>
        </p:nvGrpSpPr>
        <p:grpSpPr>
          <a:xfrm>
            <a:off x="7233287" y="1381607"/>
            <a:ext cx="1738781" cy="3112833"/>
            <a:chOff x="8287387" y="1381607"/>
            <a:chExt cx="1738781" cy="3112833"/>
          </a:xfrm>
        </p:grpSpPr>
        <p:sp>
          <p:nvSpPr>
            <p:cNvPr id="75" name="文本框 74">
              <a:extLst>
                <a:ext uri="{FF2B5EF4-FFF2-40B4-BE49-F238E27FC236}">
                  <a16:creationId xmlns:a16="http://schemas.microsoft.com/office/drawing/2014/main" id="{36455505-4D60-4F54-958D-74B7CB4B1984}"/>
                </a:ext>
              </a:extLst>
            </p:cNvPr>
            <p:cNvSpPr txBox="1"/>
            <p:nvPr/>
          </p:nvSpPr>
          <p:spPr>
            <a:xfrm>
              <a:off x="9041399" y="4042648"/>
              <a:ext cx="4953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W</a:t>
              </a:r>
              <a:endParaRPr lang="zh-CN" altLang="en-US" b="1" dirty="0"/>
            </a:p>
          </p:txBody>
        </p:sp>
        <p:sp>
          <p:nvSpPr>
            <p:cNvPr id="76" name="文本框 75">
              <a:extLst>
                <a:ext uri="{FF2B5EF4-FFF2-40B4-BE49-F238E27FC236}">
                  <a16:creationId xmlns:a16="http://schemas.microsoft.com/office/drawing/2014/main" id="{9E98B642-2A3E-41FF-BB30-DA632C291616}"/>
                </a:ext>
              </a:extLst>
            </p:cNvPr>
            <p:cNvSpPr txBox="1"/>
            <p:nvPr/>
          </p:nvSpPr>
          <p:spPr>
            <a:xfrm>
              <a:off x="9530868" y="2706274"/>
              <a:ext cx="4953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H</a:t>
              </a:r>
              <a:endParaRPr lang="zh-CN" altLang="en-US" b="1" dirty="0"/>
            </a:p>
          </p:txBody>
        </p:sp>
        <p:sp>
          <p:nvSpPr>
            <p:cNvPr id="77" name="文本框 76">
              <a:extLst>
                <a:ext uri="{FF2B5EF4-FFF2-40B4-BE49-F238E27FC236}">
                  <a16:creationId xmlns:a16="http://schemas.microsoft.com/office/drawing/2014/main" id="{9AB96EF1-8032-441B-9EBF-0F28C528785E}"/>
                </a:ext>
              </a:extLst>
            </p:cNvPr>
            <p:cNvSpPr txBox="1"/>
            <p:nvPr/>
          </p:nvSpPr>
          <p:spPr>
            <a:xfrm>
              <a:off x="8933948" y="1381607"/>
              <a:ext cx="58600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OC</a:t>
              </a:r>
              <a:endParaRPr lang="zh-CN" altLang="en-US" b="1" dirty="0"/>
            </a:p>
          </p:txBody>
        </p:sp>
        <p:sp>
          <p:nvSpPr>
            <p:cNvPr id="78" name="立方体 77">
              <a:extLst>
                <a:ext uri="{FF2B5EF4-FFF2-40B4-BE49-F238E27FC236}">
                  <a16:creationId xmlns:a16="http://schemas.microsoft.com/office/drawing/2014/main" id="{8A3EB7B8-45A8-49C9-A82D-5DE2036C66BF}"/>
                </a:ext>
              </a:extLst>
            </p:cNvPr>
            <p:cNvSpPr/>
            <p:nvPr/>
          </p:nvSpPr>
          <p:spPr>
            <a:xfrm>
              <a:off x="8297646" y="1698429"/>
              <a:ext cx="1233222" cy="2785365"/>
            </a:xfrm>
            <a:prstGeom prst="cube">
              <a:avLst>
                <a:gd name="adj" fmla="val 60096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8" name="平行四边形 87">
              <a:extLst>
                <a:ext uri="{FF2B5EF4-FFF2-40B4-BE49-F238E27FC236}">
                  <a16:creationId xmlns:a16="http://schemas.microsoft.com/office/drawing/2014/main" id="{570260D8-25F3-4ACA-A1A3-1385BB60F8C1}"/>
                </a:ext>
              </a:extLst>
            </p:cNvPr>
            <p:cNvSpPr/>
            <p:nvPr/>
          </p:nvSpPr>
          <p:spPr>
            <a:xfrm rot="5400000" flipV="1">
              <a:off x="8407841" y="3850527"/>
              <a:ext cx="1018887" cy="247648"/>
            </a:xfrm>
            <a:prstGeom prst="parallelogram">
              <a:avLst>
                <a:gd name="adj" fmla="val 102525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9" name="平行四边形 88">
              <a:extLst>
                <a:ext uri="{FF2B5EF4-FFF2-40B4-BE49-F238E27FC236}">
                  <a16:creationId xmlns:a16="http://schemas.microsoft.com/office/drawing/2014/main" id="{19C3297E-C1C9-4654-B546-9FC92A3F9FC2}"/>
                </a:ext>
              </a:extLst>
            </p:cNvPr>
            <p:cNvSpPr/>
            <p:nvPr/>
          </p:nvSpPr>
          <p:spPr>
            <a:xfrm rot="5400000" flipV="1">
              <a:off x="8915767" y="3333261"/>
              <a:ext cx="1018887" cy="189487"/>
            </a:xfrm>
            <a:prstGeom prst="parallelogram">
              <a:avLst>
                <a:gd name="adj" fmla="val 102525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0" name="平行四边形 89">
              <a:extLst>
                <a:ext uri="{FF2B5EF4-FFF2-40B4-BE49-F238E27FC236}">
                  <a16:creationId xmlns:a16="http://schemas.microsoft.com/office/drawing/2014/main" id="{562AF89E-67B8-4704-BCB5-2978603CCD3A}"/>
                </a:ext>
              </a:extLst>
            </p:cNvPr>
            <p:cNvSpPr/>
            <p:nvPr/>
          </p:nvSpPr>
          <p:spPr>
            <a:xfrm rot="5400000" flipV="1">
              <a:off x="8407843" y="2593227"/>
              <a:ext cx="1018886" cy="247650"/>
            </a:xfrm>
            <a:prstGeom prst="parallelogram">
              <a:avLst>
                <a:gd name="adj" fmla="val 95794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1" name="平行四边形 90">
              <a:extLst>
                <a:ext uri="{FF2B5EF4-FFF2-40B4-BE49-F238E27FC236}">
                  <a16:creationId xmlns:a16="http://schemas.microsoft.com/office/drawing/2014/main" id="{F8088AFB-A487-4E9B-AB59-E85D33D21AEF}"/>
                </a:ext>
              </a:extLst>
            </p:cNvPr>
            <p:cNvSpPr/>
            <p:nvPr/>
          </p:nvSpPr>
          <p:spPr>
            <a:xfrm rot="5400000" flipV="1">
              <a:off x="8915767" y="2129301"/>
              <a:ext cx="1018887" cy="189487"/>
            </a:xfrm>
            <a:prstGeom prst="parallelogram">
              <a:avLst>
                <a:gd name="adj" fmla="val 102525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1" name="矩形 80">
              <a:extLst>
                <a:ext uri="{FF2B5EF4-FFF2-40B4-BE49-F238E27FC236}">
                  <a16:creationId xmlns:a16="http://schemas.microsoft.com/office/drawing/2014/main" id="{CA39A986-679C-420F-B3E1-CD81BE8530B8}"/>
                </a:ext>
              </a:extLst>
            </p:cNvPr>
            <p:cNvSpPr/>
            <p:nvPr/>
          </p:nvSpPr>
          <p:spPr>
            <a:xfrm>
              <a:off x="8287387" y="2446020"/>
              <a:ext cx="513925" cy="76962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2" name="矩形 81">
              <a:extLst>
                <a:ext uri="{FF2B5EF4-FFF2-40B4-BE49-F238E27FC236}">
                  <a16:creationId xmlns:a16="http://schemas.microsoft.com/office/drawing/2014/main" id="{4F3479EE-0619-4A3B-96F6-C150218723C3}"/>
                </a:ext>
              </a:extLst>
            </p:cNvPr>
            <p:cNvSpPr/>
            <p:nvPr/>
          </p:nvSpPr>
          <p:spPr>
            <a:xfrm>
              <a:off x="8297645" y="3724820"/>
              <a:ext cx="507575" cy="76962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3" name="平行四边形 82">
              <a:extLst>
                <a:ext uri="{FF2B5EF4-FFF2-40B4-BE49-F238E27FC236}">
                  <a16:creationId xmlns:a16="http://schemas.microsoft.com/office/drawing/2014/main" id="{13848C69-9B3B-4740-83D2-93DBFF03BDA5}"/>
                </a:ext>
              </a:extLst>
            </p:cNvPr>
            <p:cNvSpPr/>
            <p:nvPr/>
          </p:nvSpPr>
          <p:spPr>
            <a:xfrm rot="10800000" flipH="1" flipV="1">
              <a:off x="8305635" y="2155733"/>
              <a:ext cx="749886" cy="264203"/>
            </a:xfrm>
            <a:prstGeom prst="parallelogram">
              <a:avLst>
                <a:gd name="adj" fmla="val 102525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4" name="平行四边形 83">
              <a:extLst>
                <a:ext uri="{FF2B5EF4-FFF2-40B4-BE49-F238E27FC236}">
                  <a16:creationId xmlns:a16="http://schemas.microsoft.com/office/drawing/2014/main" id="{FB74DB5E-169E-438F-8CF4-D230451F2502}"/>
                </a:ext>
              </a:extLst>
            </p:cNvPr>
            <p:cNvSpPr/>
            <p:nvPr/>
          </p:nvSpPr>
          <p:spPr>
            <a:xfrm rot="10800000" flipH="1" flipV="1">
              <a:off x="8801312" y="1698429"/>
              <a:ext cx="734116" cy="209802"/>
            </a:xfrm>
            <a:prstGeom prst="parallelogram">
              <a:avLst>
                <a:gd name="adj" fmla="val 102525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8521074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B106840B-AF03-49F7-B778-3DC70955B1D8}"/>
              </a:ext>
            </a:extLst>
          </p:cNvPr>
          <p:cNvSpPr txBox="1"/>
          <p:nvPr/>
        </p:nvSpPr>
        <p:spPr>
          <a:xfrm>
            <a:off x="225630" y="95003"/>
            <a:ext cx="57255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傅里叶神经算子 </a:t>
            </a:r>
            <a:r>
              <a:rPr lang="en-US" altLang="zh-CN" sz="2400" b="1" dirty="0"/>
              <a:t>FNO</a:t>
            </a:r>
            <a:endParaRPr lang="zh-CN" altLang="en-US" sz="2400" b="1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A03151C4-D197-4BDB-B81C-0172D875D849}"/>
              </a:ext>
            </a:extLst>
          </p:cNvPr>
          <p:cNvSpPr txBox="1"/>
          <p:nvPr/>
        </p:nvSpPr>
        <p:spPr>
          <a:xfrm>
            <a:off x="411023" y="5112104"/>
            <a:ext cx="23194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压缩后频域复数张量 </a:t>
            </a:r>
            <a:endParaRPr lang="en-US" altLang="zh-CN" dirty="0"/>
          </a:p>
          <a:p>
            <a:r>
              <a:rPr lang="en-US" altLang="zh-CN" dirty="0"/>
              <a:t> (B, OC, H, W/2 + 1)</a:t>
            </a:r>
            <a:endParaRPr lang="zh-CN" altLang="en-US" dirty="0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0568AE9D-3820-451F-BDA6-8A812E831D47}"/>
              </a:ext>
            </a:extLst>
          </p:cNvPr>
          <p:cNvGrpSpPr/>
          <p:nvPr/>
        </p:nvGrpSpPr>
        <p:grpSpPr>
          <a:xfrm>
            <a:off x="1226187" y="1381607"/>
            <a:ext cx="1738781" cy="3112833"/>
            <a:chOff x="8287387" y="1381607"/>
            <a:chExt cx="1738781" cy="3112833"/>
          </a:xfrm>
        </p:grpSpPr>
        <p:sp>
          <p:nvSpPr>
            <p:cNvPr id="75" name="文本框 74">
              <a:extLst>
                <a:ext uri="{FF2B5EF4-FFF2-40B4-BE49-F238E27FC236}">
                  <a16:creationId xmlns:a16="http://schemas.microsoft.com/office/drawing/2014/main" id="{36455505-4D60-4F54-958D-74B7CB4B1984}"/>
                </a:ext>
              </a:extLst>
            </p:cNvPr>
            <p:cNvSpPr txBox="1"/>
            <p:nvPr/>
          </p:nvSpPr>
          <p:spPr>
            <a:xfrm>
              <a:off x="9041399" y="4042648"/>
              <a:ext cx="4953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W</a:t>
              </a:r>
              <a:endParaRPr lang="zh-CN" altLang="en-US" b="1" dirty="0"/>
            </a:p>
          </p:txBody>
        </p:sp>
        <p:sp>
          <p:nvSpPr>
            <p:cNvPr id="76" name="文本框 75">
              <a:extLst>
                <a:ext uri="{FF2B5EF4-FFF2-40B4-BE49-F238E27FC236}">
                  <a16:creationId xmlns:a16="http://schemas.microsoft.com/office/drawing/2014/main" id="{9E98B642-2A3E-41FF-BB30-DA632C291616}"/>
                </a:ext>
              </a:extLst>
            </p:cNvPr>
            <p:cNvSpPr txBox="1"/>
            <p:nvPr/>
          </p:nvSpPr>
          <p:spPr>
            <a:xfrm>
              <a:off x="9530868" y="2706274"/>
              <a:ext cx="4953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H</a:t>
              </a:r>
              <a:endParaRPr lang="zh-CN" altLang="en-US" b="1" dirty="0"/>
            </a:p>
          </p:txBody>
        </p:sp>
        <p:sp>
          <p:nvSpPr>
            <p:cNvPr id="77" name="文本框 76">
              <a:extLst>
                <a:ext uri="{FF2B5EF4-FFF2-40B4-BE49-F238E27FC236}">
                  <a16:creationId xmlns:a16="http://schemas.microsoft.com/office/drawing/2014/main" id="{9AB96EF1-8032-441B-9EBF-0F28C528785E}"/>
                </a:ext>
              </a:extLst>
            </p:cNvPr>
            <p:cNvSpPr txBox="1"/>
            <p:nvPr/>
          </p:nvSpPr>
          <p:spPr>
            <a:xfrm>
              <a:off x="8933948" y="1381607"/>
              <a:ext cx="58600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OC</a:t>
              </a:r>
              <a:endParaRPr lang="zh-CN" altLang="en-US" b="1" dirty="0"/>
            </a:p>
          </p:txBody>
        </p:sp>
        <p:sp>
          <p:nvSpPr>
            <p:cNvPr id="78" name="立方体 77">
              <a:extLst>
                <a:ext uri="{FF2B5EF4-FFF2-40B4-BE49-F238E27FC236}">
                  <a16:creationId xmlns:a16="http://schemas.microsoft.com/office/drawing/2014/main" id="{8A3EB7B8-45A8-49C9-A82D-5DE2036C66BF}"/>
                </a:ext>
              </a:extLst>
            </p:cNvPr>
            <p:cNvSpPr/>
            <p:nvPr/>
          </p:nvSpPr>
          <p:spPr>
            <a:xfrm>
              <a:off x="8297646" y="1698429"/>
              <a:ext cx="1233222" cy="2785365"/>
            </a:xfrm>
            <a:prstGeom prst="cube">
              <a:avLst>
                <a:gd name="adj" fmla="val 60096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8" name="平行四边形 87">
              <a:extLst>
                <a:ext uri="{FF2B5EF4-FFF2-40B4-BE49-F238E27FC236}">
                  <a16:creationId xmlns:a16="http://schemas.microsoft.com/office/drawing/2014/main" id="{570260D8-25F3-4ACA-A1A3-1385BB60F8C1}"/>
                </a:ext>
              </a:extLst>
            </p:cNvPr>
            <p:cNvSpPr/>
            <p:nvPr/>
          </p:nvSpPr>
          <p:spPr>
            <a:xfrm rot="5400000" flipV="1">
              <a:off x="8407841" y="3850527"/>
              <a:ext cx="1018887" cy="247648"/>
            </a:xfrm>
            <a:prstGeom prst="parallelogram">
              <a:avLst>
                <a:gd name="adj" fmla="val 102525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9" name="平行四边形 88">
              <a:extLst>
                <a:ext uri="{FF2B5EF4-FFF2-40B4-BE49-F238E27FC236}">
                  <a16:creationId xmlns:a16="http://schemas.microsoft.com/office/drawing/2014/main" id="{19C3297E-C1C9-4654-B546-9FC92A3F9FC2}"/>
                </a:ext>
              </a:extLst>
            </p:cNvPr>
            <p:cNvSpPr/>
            <p:nvPr/>
          </p:nvSpPr>
          <p:spPr>
            <a:xfrm rot="5400000" flipV="1">
              <a:off x="8915767" y="3333261"/>
              <a:ext cx="1018887" cy="189487"/>
            </a:xfrm>
            <a:prstGeom prst="parallelogram">
              <a:avLst>
                <a:gd name="adj" fmla="val 102525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0" name="平行四边形 89">
              <a:extLst>
                <a:ext uri="{FF2B5EF4-FFF2-40B4-BE49-F238E27FC236}">
                  <a16:creationId xmlns:a16="http://schemas.microsoft.com/office/drawing/2014/main" id="{562AF89E-67B8-4704-BCB5-2978603CCD3A}"/>
                </a:ext>
              </a:extLst>
            </p:cNvPr>
            <p:cNvSpPr/>
            <p:nvPr/>
          </p:nvSpPr>
          <p:spPr>
            <a:xfrm rot="5400000" flipV="1">
              <a:off x="8407843" y="2593227"/>
              <a:ext cx="1018886" cy="247650"/>
            </a:xfrm>
            <a:prstGeom prst="parallelogram">
              <a:avLst>
                <a:gd name="adj" fmla="val 95794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1" name="平行四边形 90">
              <a:extLst>
                <a:ext uri="{FF2B5EF4-FFF2-40B4-BE49-F238E27FC236}">
                  <a16:creationId xmlns:a16="http://schemas.microsoft.com/office/drawing/2014/main" id="{F8088AFB-A487-4E9B-AB59-E85D33D21AEF}"/>
                </a:ext>
              </a:extLst>
            </p:cNvPr>
            <p:cNvSpPr/>
            <p:nvPr/>
          </p:nvSpPr>
          <p:spPr>
            <a:xfrm rot="5400000" flipV="1">
              <a:off x="8915767" y="2129301"/>
              <a:ext cx="1018887" cy="189487"/>
            </a:xfrm>
            <a:prstGeom prst="parallelogram">
              <a:avLst>
                <a:gd name="adj" fmla="val 102525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1" name="矩形 80">
              <a:extLst>
                <a:ext uri="{FF2B5EF4-FFF2-40B4-BE49-F238E27FC236}">
                  <a16:creationId xmlns:a16="http://schemas.microsoft.com/office/drawing/2014/main" id="{CA39A986-679C-420F-B3E1-CD81BE8530B8}"/>
                </a:ext>
              </a:extLst>
            </p:cNvPr>
            <p:cNvSpPr/>
            <p:nvPr/>
          </p:nvSpPr>
          <p:spPr>
            <a:xfrm>
              <a:off x="8287387" y="2446020"/>
              <a:ext cx="513925" cy="76962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2" name="矩形 81">
              <a:extLst>
                <a:ext uri="{FF2B5EF4-FFF2-40B4-BE49-F238E27FC236}">
                  <a16:creationId xmlns:a16="http://schemas.microsoft.com/office/drawing/2014/main" id="{4F3479EE-0619-4A3B-96F6-C150218723C3}"/>
                </a:ext>
              </a:extLst>
            </p:cNvPr>
            <p:cNvSpPr/>
            <p:nvPr/>
          </p:nvSpPr>
          <p:spPr>
            <a:xfrm>
              <a:off x="8297645" y="3724820"/>
              <a:ext cx="507575" cy="76962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3" name="平行四边形 82">
              <a:extLst>
                <a:ext uri="{FF2B5EF4-FFF2-40B4-BE49-F238E27FC236}">
                  <a16:creationId xmlns:a16="http://schemas.microsoft.com/office/drawing/2014/main" id="{13848C69-9B3B-4740-83D2-93DBFF03BDA5}"/>
                </a:ext>
              </a:extLst>
            </p:cNvPr>
            <p:cNvSpPr/>
            <p:nvPr/>
          </p:nvSpPr>
          <p:spPr>
            <a:xfrm rot="10800000" flipH="1" flipV="1">
              <a:off x="8305635" y="2155733"/>
              <a:ext cx="749886" cy="264203"/>
            </a:xfrm>
            <a:prstGeom prst="parallelogram">
              <a:avLst>
                <a:gd name="adj" fmla="val 102525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4" name="平行四边形 83">
              <a:extLst>
                <a:ext uri="{FF2B5EF4-FFF2-40B4-BE49-F238E27FC236}">
                  <a16:creationId xmlns:a16="http://schemas.microsoft.com/office/drawing/2014/main" id="{FB74DB5E-169E-438F-8CF4-D230451F2502}"/>
                </a:ext>
              </a:extLst>
            </p:cNvPr>
            <p:cNvSpPr/>
            <p:nvPr/>
          </p:nvSpPr>
          <p:spPr>
            <a:xfrm rot="10800000" flipH="1" flipV="1">
              <a:off x="8801312" y="1698429"/>
              <a:ext cx="734116" cy="209802"/>
            </a:xfrm>
            <a:prstGeom prst="parallelogram">
              <a:avLst>
                <a:gd name="adj" fmla="val 102525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8" name="箭头: 右 57">
            <a:extLst>
              <a:ext uri="{FF2B5EF4-FFF2-40B4-BE49-F238E27FC236}">
                <a16:creationId xmlns:a16="http://schemas.microsoft.com/office/drawing/2014/main" id="{D4C4DC65-E984-44B2-9076-08514419DBD9}"/>
              </a:ext>
            </a:extLst>
          </p:cNvPr>
          <p:cNvSpPr/>
          <p:nvPr/>
        </p:nvSpPr>
        <p:spPr>
          <a:xfrm>
            <a:off x="4592022" y="3429000"/>
            <a:ext cx="2162523" cy="2286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A2E1082-E285-4BFD-82B4-ADCBAABC86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4179" y="2490761"/>
            <a:ext cx="2832571" cy="680137"/>
          </a:xfrm>
          <a:prstGeom prst="rect">
            <a:avLst/>
          </a:prstGeom>
        </p:spPr>
      </p:pic>
      <p:sp>
        <p:nvSpPr>
          <p:cNvPr id="60" name="文本框 59">
            <a:extLst>
              <a:ext uri="{FF2B5EF4-FFF2-40B4-BE49-F238E27FC236}">
                <a16:creationId xmlns:a16="http://schemas.microsoft.com/office/drawing/2014/main" id="{FB7EAFA6-0D56-4EEC-B402-0DD355BB7474}"/>
              </a:ext>
            </a:extLst>
          </p:cNvPr>
          <p:cNvSpPr txBox="1"/>
          <p:nvPr/>
        </p:nvSpPr>
        <p:spPr>
          <a:xfrm>
            <a:off x="5010644" y="3657600"/>
            <a:ext cx="12509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 err="1"/>
              <a:t>iFFT</a:t>
            </a:r>
            <a:endParaRPr lang="zh-CN" altLang="en-US" sz="2400" b="1" dirty="0"/>
          </a:p>
        </p:txBody>
      </p:sp>
      <p:sp>
        <p:nvSpPr>
          <p:cNvPr id="79" name="立方体 78">
            <a:extLst>
              <a:ext uri="{FF2B5EF4-FFF2-40B4-BE49-F238E27FC236}">
                <a16:creationId xmlns:a16="http://schemas.microsoft.com/office/drawing/2014/main" id="{1CD46EEE-8F0F-474F-A332-D95CBA1BFF1C}"/>
              </a:ext>
            </a:extLst>
          </p:cNvPr>
          <p:cNvSpPr/>
          <p:nvPr/>
        </p:nvSpPr>
        <p:spPr>
          <a:xfrm>
            <a:off x="8226048" y="1701901"/>
            <a:ext cx="1233222" cy="2785365"/>
          </a:xfrm>
          <a:prstGeom prst="cube">
            <a:avLst>
              <a:gd name="adj" fmla="val 60096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CF8063EC-B706-4521-B77F-DB5E62569EF4}"/>
              </a:ext>
            </a:extLst>
          </p:cNvPr>
          <p:cNvSpPr txBox="1"/>
          <p:nvPr/>
        </p:nvSpPr>
        <p:spPr>
          <a:xfrm>
            <a:off x="8226048" y="4499004"/>
            <a:ext cx="495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W</a:t>
            </a:r>
            <a:endParaRPr lang="zh-CN" altLang="en-US" b="1" dirty="0"/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C3D359A1-B518-4A64-A188-BE1AB329E5FD}"/>
              </a:ext>
            </a:extLst>
          </p:cNvPr>
          <p:cNvSpPr txBox="1"/>
          <p:nvPr/>
        </p:nvSpPr>
        <p:spPr>
          <a:xfrm>
            <a:off x="9474682" y="2706274"/>
            <a:ext cx="495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H</a:t>
            </a:r>
            <a:endParaRPr lang="zh-CN" altLang="en-US" b="1" dirty="0"/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83C245DF-9522-4093-8080-4250BEA1E5EF}"/>
              </a:ext>
            </a:extLst>
          </p:cNvPr>
          <p:cNvSpPr txBox="1"/>
          <p:nvPr/>
        </p:nvSpPr>
        <p:spPr>
          <a:xfrm>
            <a:off x="8940781" y="1381607"/>
            <a:ext cx="5860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OC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117765165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B9EC36A5-16E2-4DA4-B641-B608EDFDD122}"/>
              </a:ext>
            </a:extLst>
          </p:cNvPr>
          <p:cNvSpPr/>
          <p:nvPr/>
        </p:nvSpPr>
        <p:spPr>
          <a:xfrm>
            <a:off x="2438400" y="2243282"/>
            <a:ext cx="6584189" cy="2449368"/>
          </a:xfrm>
          <a:prstGeom prst="roundRect">
            <a:avLst/>
          </a:prstGeom>
          <a:ln w="28575">
            <a:prstDash val="dash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106840B-AF03-49F7-B778-3DC70955B1D8}"/>
              </a:ext>
            </a:extLst>
          </p:cNvPr>
          <p:cNvSpPr txBox="1"/>
          <p:nvPr/>
        </p:nvSpPr>
        <p:spPr>
          <a:xfrm>
            <a:off x="225630" y="95003"/>
            <a:ext cx="57255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傅里叶神经算子 </a:t>
            </a:r>
            <a:r>
              <a:rPr lang="en-US" altLang="zh-CN" sz="2400" b="1" dirty="0"/>
              <a:t>FNO</a:t>
            </a:r>
            <a:endParaRPr lang="zh-CN" altLang="en-US" sz="2400" b="1" dirty="0"/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E9CA6058-7351-42C8-B504-C74FFB197922}"/>
              </a:ext>
            </a:extLst>
          </p:cNvPr>
          <p:cNvGrpSpPr/>
          <p:nvPr/>
        </p:nvGrpSpPr>
        <p:grpSpPr>
          <a:xfrm>
            <a:off x="3429119" y="2359507"/>
            <a:ext cx="4756031" cy="2047393"/>
            <a:chOff x="1987669" y="1381607"/>
            <a:chExt cx="7244749" cy="3112833"/>
          </a:xfrm>
        </p:grpSpPr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3D2C38D3-CF02-4717-BA97-183B62B82A66}"/>
                </a:ext>
              </a:extLst>
            </p:cNvPr>
            <p:cNvGrpSpPr/>
            <p:nvPr/>
          </p:nvGrpSpPr>
          <p:grpSpPr>
            <a:xfrm>
              <a:off x="1987669" y="1413284"/>
              <a:ext cx="2228249" cy="3076860"/>
              <a:chOff x="1689219" y="1406934"/>
              <a:chExt cx="2228249" cy="3076860"/>
            </a:xfrm>
          </p:grpSpPr>
          <p:sp>
            <p:nvSpPr>
              <p:cNvPr id="24" name="立方体 23">
                <a:extLst>
                  <a:ext uri="{FF2B5EF4-FFF2-40B4-BE49-F238E27FC236}">
                    <a16:creationId xmlns:a16="http://schemas.microsoft.com/office/drawing/2014/main" id="{BD1C0ED0-3D45-48E0-800B-17580B65775C}"/>
                  </a:ext>
                </a:extLst>
              </p:cNvPr>
              <p:cNvSpPr/>
              <p:nvPr/>
            </p:nvSpPr>
            <p:spPr>
              <a:xfrm>
                <a:off x="1689219" y="1687932"/>
                <a:ext cx="1738780" cy="2795862"/>
              </a:xfrm>
              <a:prstGeom prst="cube">
                <a:avLst>
                  <a:gd name="adj" fmla="val 43110"/>
                </a:avLst>
              </a:prstGeom>
              <a:solidFill>
                <a:schemeClr val="accent3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25" name="立方体 24">
                <a:extLst>
                  <a:ext uri="{FF2B5EF4-FFF2-40B4-BE49-F238E27FC236}">
                    <a16:creationId xmlns:a16="http://schemas.microsoft.com/office/drawing/2014/main" id="{76251513-C0AF-4249-AFD3-31063C98D2EB}"/>
                  </a:ext>
                </a:extLst>
              </p:cNvPr>
              <p:cNvSpPr/>
              <p:nvPr/>
            </p:nvSpPr>
            <p:spPr>
              <a:xfrm>
                <a:off x="1694340" y="2031717"/>
                <a:ext cx="1414620" cy="2452077"/>
              </a:xfrm>
              <a:prstGeom prst="cube">
                <a:avLst>
                  <a:gd name="adj" fmla="val 30076"/>
                </a:avLst>
              </a:prstGeom>
              <a:solidFill>
                <a:schemeClr val="accent6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/>
              </a:p>
            </p:txBody>
          </p:sp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C47C5A81-9636-4488-9DB4-2D487A55A306}"/>
                  </a:ext>
                </a:extLst>
              </p:cNvPr>
              <p:cNvSpPr txBox="1"/>
              <p:nvPr/>
            </p:nvSpPr>
            <p:spPr>
              <a:xfrm>
                <a:off x="2932699" y="4042647"/>
                <a:ext cx="495299" cy="4211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b="1" dirty="0"/>
                  <a:t>W</a:t>
                </a:r>
                <a:endParaRPr lang="zh-CN" altLang="en-US" sz="1200" b="1" dirty="0"/>
              </a:p>
            </p:txBody>
          </p:sp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F894D9A0-99FC-4331-9F1D-1E05EF42E475}"/>
                  </a:ext>
                </a:extLst>
              </p:cNvPr>
              <p:cNvSpPr txBox="1"/>
              <p:nvPr/>
            </p:nvSpPr>
            <p:spPr>
              <a:xfrm>
                <a:off x="3422169" y="2706275"/>
                <a:ext cx="495299" cy="4211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b="1" dirty="0"/>
                  <a:t>H</a:t>
                </a:r>
                <a:endParaRPr lang="zh-CN" altLang="en-US" sz="1200" b="1" dirty="0"/>
              </a:p>
            </p:txBody>
          </p:sp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7E84619C-0EF1-4EC1-86B7-1B87B53B1D04}"/>
                  </a:ext>
                </a:extLst>
              </p:cNvPr>
              <p:cNvSpPr txBox="1"/>
              <p:nvPr/>
            </p:nvSpPr>
            <p:spPr>
              <a:xfrm>
                <a:off x="2729749" y="1406934"/>
                <a:ext cx="495299" cy="4211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b="1" dirty="0"/>
                  <a:t>IC</a:t>
                </a:r>
                <a:endParaRPr lang="zh-CN" altLang="en-US" sz="1200" b="1" dirty="0"/>
              </a:p>
            </p:txBody>
          </p:sp>
        </p:grpSp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46AD48DA-81B0-42A6-9A4E-1567AD9F0350}"/>
                </a:ext>
              </a:extLst>
            </p:cNvPr>
            <p:cNvGrpSpPr/>
            <p:nvPr/>
          </p:nvGrpSpPr>
          <p:grpSpPr>
            <a:xfrm>
              <a:off x="4680069" y="1406934"/>
              <a:ext cx="2228249" cy="3087506"/>
              <a:chOff x="4680069" y="1406934"/>
              <a:chExt cx="2228249" cy="3087506"/>
            </a:xfrm>
          </p:grpSpPr>
          <p:sp>
            <p:nvSpPr>
              <p:cNvPr id="39" name="立方体 38">
                <a:extLst>
                  <a:ext uri="{FF2B5EF4-FFF2-40B4-BE49-F238E27FC236}">
                    <a16:creationId xmlns:a16="http://schemas.microsoft.com/office/drawing/2014/main" id="{86890016-D568-43D8-87FC-19A618A32F59}"/>
                  </a:ext>
                </a:extLst>
              </p:cNvPr>
              <p:cNvSpPr/>
              <p:nvPr/>
            </p:nvSpPr>
            <p:spPr>
              <a:xfrm>
                <a:off x="4680069" y="1687932"/>
                <a:ext cx="1738780" cy="2795862"/>
              </a:xfrm>
              <a:prstGeom prst="cube">
                <a:avLst>
                  <a:gd name="adj" fmla="val 43110"/>
                </a:avLst>
              </a:prstGeom>
              <a:solidFill>
                <a:schemeClr val="accent3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40" name="立方体 39">
                <a:extLst>
                  <a:ext uri="{FF2B5EF4-FFF2-40B4-BE49-F238E27FC236}">
                    <a16:creationId xmlns:a16="http://schemas.microsoft.com/office/drawing/2014/main" id="{067CD96B-F214-4CE0-A107-B16ACBAB7F07}"/>
                  </a:ext>
                </a:extLst>
              </p:cNvPr>
              <p:cNvSpPr/>
              <p:nvPr/>
            </p:nvSpPr>
            <p:spPr>
              <a:xfrm>
                <a:off x="4685190" y="2031717"/>
                <a:ext cx="1414620" cy="2452077"/>
              </a:xfrm>
              <a:prstGeom prst="cube">
                <a:avLst>
                  <a:gd name="adj" fmla="val 30076"/>
                </a:avLst>
              </a:prstGeom>
              <a:solidFill>
                <a:schemeClr val="accent6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/>
              </a:p>
            </p:txBody>
          </p:sp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7C0795CD-9CA2-43F6-922C-4023831B1E72}"/>
                  </a:ext>
                </a:extLst>
              </p:cNvPr>
              <p:cNvSpPr txBox="1"/>
              <p:nvPr/>
            </p:nvSpPr>
            <p:spPr>
              <a:xfrm>
                <a:off x="5923549" y="4042647"/>
                <a:ext cx="495299" cy="4211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b="1" dirty="0"/>
                  <a:t>W</a:t>
                </a:r>
                <a:endParaRPr lang="zh-CN" altLang="en-US" sz="1200" b="1" dirty="0"/>
              </a:p>
            </p:txBody>
          </p:sp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117C7078-6811-481A-8BE1-2E3992E4715C}"/>
                  </a:ext>
                </a:extLst>
              </p:cNvPr>
              <p:cNvSpPr txBox="1"/>
              <p:nvPr/>
            </p:nvSpPr>
            <p:spPr>
              <a:xfrm>
                <a:off x="6413019" y="2706275"/>
                <a:ext cx="495299" cy="4211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b="1" dirty="0"/>
                  <a:t>H</a:t>
                </a:r>
                <a:endParaRPr lang="zh-CN" altLang="en-US" sz="1200" b="1" dirty="0"/>
              </a:p>
            </p:txBody>
          </p:sp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D7076564-6579-4507-AE5C-4A7859B609B5}"/>
                  </a:ext>
                </a:extLst>
              </p:cNvPr>
              <p:cNvSpPr txBox="1"/>
              <p:nvPr/>
            </p:nvSpPr>
            <p:spPr>
              <a:xfrm>
                <a:off x="5720599" y="1406934"/>
                <a:ext cx="495299" cy="4211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b="1" dirty="0"/>
                  <a:t>IC</a:t>
                </a:r>
                <a:endParaRPr lang="zh-CN" altLang="en-US" sz="1200" b="1" dirty="0"/>
              </a:p>
            </p:txBody>
          </p:sp>
          <p:sp>
            <p:nvSpPr>
              <p:cNvPr id="44" name="立方体 43">
                <a:extLst>
                  <a:ext uri="{FF2B5EF4-FFF2-40B4-BE49-F238E27FC236}">
                    <a16:creationId xmlns:a16="http://schemas.microsoft.com/office/drawing/2014/main" id="{6AD46A1C-3970-42EA-BDEA-67F52C978B46}"/>
                  </a:ext>
                </a:extLst>
              </p:cNvPr>
              <p:cNvSpPr/>
              <p:nvPr/>
            </p:nvSpPr>
            <p:spPr>
              <a:xfrm>
                <a:off x="4680069" y="1698429"/>
                <a:ext cx="1732949" cy="2785365"/>
              </a:xfrm>
              <a:prstGeom prst="cube">
                <a:avLst>
                  <a:gd name="adj" fmla="val 42589"/>
                </a:avLst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/>
              </a:p>
            </p:txBody>
          </p:sp>
          <p:grpSp>
            <p:nvGrpSpPr>
              <p:cNvPr id="45" name="组合 44">
                <a:extLst>
                  <a:ext uri="{FF2B5EF4-FFF2-40B4-BE49-F238E27FC236}">
                    <a16:creationId xmlns:a16="http://schemas.microsoft.com/office/drawing/2014/main" id="{79ECAF60-B18D-4CB0-BA61-49C4020E97ED}"/>
                  </a:ext>
                </a:extLst>
              </p:cNvPr>
              <p:cNvGrpSpPr/>
              <p:nvPr/>
            </p:nvGrpSpPr>
            <p:grpSpPr>
              <a:xfrm>
                <a:off x="4685205" y="1698429"/>
                <a:ext cx="1732373" cy="2796011"/>
                <a:chOff x="4088305" y="1698429"/>
                <a:chExt cx="1732373" cy="2796011"/>
              </a:xfrm>
            </p:grpSpPr>
            <p:grpSp>
              <p:nvGrpSpPr>
                <p:cNvPr id="46" name="组合 45">
                  <a:extLst>
                    <a:ext uri="{FF2B5EF4-FFF2-40B4-BE49-F238E27FC236}">
                      <a16:creationId xmlns:a16="http://schemas.microsoft.com/office/drawing/2014/main" id="{09156697-9FC3-4691-82BF-B3BE76ACB015}"/>
                    </a:ext>
                  </a:extLst>
                </p:cNvPr>
                <p:cNvGrpSpPr/>
                <p:nvPr/>
              </p:nvGrpSpPr>
              <p:grpSpPr>
                <a:xfrm>
                  <a:off x="5078710" y="1714601"/>
                  <a:ext cx="726494" cy="2769193"/>
                  <a:chOff x="2044971" y="1693937"/>
                  <a:chExt cx="726494" cy="2769193"/>
                </a:xfrm>
              </p:grpSpPr>
              <p:sp>
                <p:nvSpPr>
                  <p:cNvPr id="51" name="平行四边形 50">
                    <a:extLst>
                      <a:ext uri="{FF2B5EF4-FFF2-40B4-BE49-F238E27FC236}">
                        <a16:creationId xmlns:a16="http://schemas.microsoft.com/office/drawing/2014/main" id="{F458F24F-7FB5-499A-B4CA-E0EFCCCDAB4A}"/>
                      </a:ext>
                    </a:extLst>
                  </p:cNvPr>
                  <p:cNvSpPr/>
                  <p:nvPr/>
                </p:nvSpPr>
                <p:spPr>
                  <a:xfrm rot="5400000" flipV="1">
                    <a:off x="1659352" y="3829863"/>
                    <a:ext cx="1018887" cy="247648"/>
                  </a:xfrm>
                  <a:prstGeom prst="parallelogram">
                    <a:avLst>
                      <a:gd name="adj" fmla="val 102525"/>
                    </a:avLst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1200"/>
                  </a:p>
                </p:txBody>
              </p:sp>
              <p:sp>
                <p:nvSpPr>
                  <p:cNvPr id="52" name="平行四边形 51">
                    <a:extLst>
                      <a:ext uri="{FF2B5EF4-FFF2-40B4-BE49-F238E27FC236}">
                        <a16:creationId xmlns:a16="http://schemas.microsoft.com/office/drawing/2014/main" id="{E7862BC4-3A0A-4D59-B4AA-343AA76467B9}"/>
                      </a:ext>
                    </a:extLst>
                  </p:cNvPr>
                  <p:cNvSpPr/>
                  <p:nvPr/>
                </p:nvSpPr>
                <p:spPr>
                  <a:xfrm rot="5400000" flipV="1">
                    <a:off x="2167278" y="3312597"/>
                    <a:ext cx="1018887" cy="189487"/>
                  </a:xfrm>
                  <a:prstGeom prst="parallelogram">
                    <a:avLst>
                      <a:gd name="adj" fmla="val 102525"/>
                    </a:avLst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1200"/>
                  </a:p>
                </p:txBody>
              </p:sp>
              <p:sp>
                <p:nvSpPr>
                  <p:cNvPr id="53" name="平行四边形 52">
                    <a:extLst>
                      <a:ext uri="{FF2B5EF4-FFF2-40B4-BE49-F238E27FC236}">
                        <a16:creationId xmlns:a16="http://schemas.microsoft.com/office/drawing/2014/main" id="{1C5A224E-E4A6-4B6C-9A67-E258D51EC5F1}"/>
                      </a:ext>
                    </a:extLst>
                  </p:cNvPr>
                  <p:cNvSpPr/>
                  <p:nvPr/>
                </p:nvSpPr>
                <p:spPr>
                  <a:xfrm rot="5400000" flipV="1">
                    <a:off x="1659353" y="2572563"/>
                    <a:ext cx="1018886" cy="247649"/>
                  </a:xfrm>
                  <a:prstGeom prst="parallelogram">
                    <a:avLst>
                      <a:gd name="adj" fmla="val 95794"/>
                    </a:avLst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1200"/>
                  </a:p>
                </p:txBody>
              </p:sp>
              <p:sp>
                <p:nvSpPr>
                  <p:cNvPr id="54" name="平行四边形 53">
                    <a:extLst>
                      <a:ext uri="{FF2B5EF4-FFF2-40B4-BE49-F238E27FC236}">
                        <a16:creationId xmlns:a16="http://schemas.microsoft.com/office/drawing/2014/main" id="{0F75947C-DDAC-4D7D-A8EE-09293D97BE26}"/>
                      </a:ext>
                    </a:extLst>
                  </p:cNvPr>
                  <p:cNvSpPr/>
                  <p:nvPr/>
                </p:nvSpPr>
                <p:spPr>
                  <a:xfrm rot="5400000" flipV="1">
                    <a:off x="2167278" y="2108637"/>
                    <a:ext cx="1018887" cy="189487"/>
                  </a:xfrm>
                  <a:prstGeom prst="parallelogram">
                    <a:avLst>
                      <a:gd name="adj" fmla="val 102525"/>
                    </a:avLst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1200"/>
                  </a:p>
                </p:txBody>
              </p:sp>
            </p:grpSp>
            <p:sp>
              <p:nvSpPr>
                <p:cNvPr id="47" name="矩形 46">
                  <a:extLst>
                    <a:ext uri="{FF2B5EF4-FFF2-40B4-BE49-F238E27FC236}">
                      <a16:creationId xmlns:a16="http://schemas.microsoft.com/office/drawing/2014/main" id="{CCACB99A-000F-4B4D-925C-9C6EB2D22323}"/>
                    </a:ext>
                  </a:extLst>
                </p:cNvPr>
                <p:cNvSpPr/>
                <p:nvPr/>
              </p:nvSpPr>
              <p:spPr>
                <a:xfrm>
                  <a:off x="4089519" y="2446020"/>
                  <a:ext cx="997045" cy="769620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00"/>
                </a:p>
              </p:txBody>
            </p:sp>
            <p:sp>
              <p:nvSpPr>
                <p:cNvPr id="48" name="矩形 47">
                  <a:extLst>
                    <a:ext uri="{FF2B5EF4-FFF2-40B4-BE49-F238E27FC236}">
                      <a16:creationId xmlns:a16="http://schemas.microsoft.com/office/drawing/2014/main" id="{40184F78-6F5B-47ED-BE31-4AF9CC1EE80B}"/>
                    </a:ext>
                  </a:extLst>
                </p:cNvPr>
                <p:cNvSpPr/>
                <p:nvPr/>
              </p:nvSpPr>
              <p:spPr>
                <a:xfrm>
                  <a:off x="4093427" y="3724820"/>
                  <a:ext cx="997044" cy="769620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00"/>
                </a:p>
              </p:txBody>
            </p:sp>
            <p:sp>
              <p:nvSpPr>
                <p:cNvPr id="49" name="平行四边形 48">
                  <a:extLst>
                    <a:ext uri="{FF2B5EF4-FFF2-40B4-BE49-F238E27FC236}">
                      <a16:creationId xmlns:a16="http://schemas.microsoft.com/office/drawing/2014/main" id="{FEEE2902-68BD-4670-9D73-D8DD0C442B62}"/>
                    </a:ext>
                  </a:extLst>
                </p:cNvPr>
                <p:cNvSpPr/>
                <p:nvPr/>
              </p:nvSpPr>
              <p:spPr>
                <a:xfrm rot="10800000" flipH="1" flipV="1">
                  <a:off x="4088305" y="2191415"/>
                  <a:ext cx="1244478" cy="247648"/>
                </a:xfrm>
                <a:prstGeom prst="parallelogram">
                  <a:avLst>
                    <a:gd name="adj" fmla="val 102525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00"/>
                </a:p>
              </p:txBody>
            </p:sp>
            <p:sp>
              <p:nvSpPr>
                <p:cNvPr id="50" name="平行四边形 49">
                  <a:extLst>
                    <a:ext uri="{FF2B5EF4-FFF2-40B4-BE49-F238E27FC236}">
                      <a16:creationId xmlns:a16="http://schemas.microsoft.com/office/drawing/2014/main" id="{485E6FBF-F10B-4BA5-9B05-79C1556DA8CF}"/>
                    </a:ext>
                  </a:extLst>
                </p:cNvPr>
                <p:cNvSpPr/>
                <p:nvPr/>
              </p:nvSpPr>
              <p:spPr>
                <a:xfrm rot="10800000" flipH="1" flipV="1">
                  <a:off x="4625336" y="1698429"/>
                  <a:ext cx="1195342" cy="209802"/>
                </a:xfrm>
                <a:prstGeom prst="parallelogram">
                  <a:avLst>
                    <a:gd name="adj" fmla="val 102525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00"/>
                </a:p>
              </p:txBody>
            </p:sp>
          </p:grpSp>
        </p:grp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2C88BE93-0BE5-4F1A-B75C-555EC055D8DB}"/>
                </a:ext>
              </a:extLst>
            </p:cNvPr>
            <p:cNvGrpSpPr/>
            <p:nvPr/>
          </p:nvGrpSpPr>
          <p:grpSpPr>
            <a:xfrm>
              <a:off x="3842744" y="3282902"/>
              <a:ext cx="791179" cy="692077"/>
              <a:chOff x="3645894" y="3282902"/>
              <a:chExt cx="791179" cy="692076"/>
            </a:xfrm>
          </p:grpSpPr>
          <p:sp>
            <p:nvSpPr>
              <p:cNvPr id="55" name="箭头: 右 54">
                <a:extLst>
                  <a:ext uri="{FF2B5EF4-FFF2-40B4-BE49-F238E27FC236}">
                    <a16:creationId xmlns:a16="http://schemas.microsoft.com/office/drawing/2014/main" id="{02621A6A-580B-4DEE-888E-8E986474C44C}"/>
                  </a:ext>
                </a:extLst>
              </p:cNvPr>
              <p:cNvSpPr/>
              <p:nvPr/>
            </p:nvSpPr>
            <p:spPr>
              <a:xfrm>
                <a:off x="3752850" y="3282902"/>
                <a:ext cx="606967" cy="184150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/>
              </a:p>
            </p:txBody>
          </p:sp>
          <p:sp>
            <p:nvSpPr>
              <p:cNvPr id="56" name="文本框 55">
                <a:extLst>
                  <a:ext uri="{FF2B5EF4-FFF2-40B4-BE49-F238E27FC236}">
                    <a16:creationId xmlns:a16="http://schemas.microsoft.com/office/drawing/2014/main" id="{38AC6407-733C-4E34-83DF-B0E536F0FC7F}"/>
                  </a:ext>
                </a:extLst>
              </p:cNvPr>
              <p:cNvSpPr txBox="1"/>
              <p:nvPr/>
            </p:nvSpPr>
            <p:spPr>
              <a:xfrm>
                <a:off x="3645894" y="3553834"/>
                <a:ext cx="791179" cy="4211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200" b="1" dirty="0">
                    <a:solidFill>
                      <a:srgbClr val="C00000"/>
                    </a:solidFill>
                  </a:rPr>
                  <a:t>置零</a:t>
                </a:r>
              </a:p>
            </p:txBody>
          </p:sp>
        </p:grpSp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57BA1F16-FDAB-4590-AF8D-FA903779ED3A}"/>
                </a:ext>
              </a:extLst>
            </p:cNvPr>
            <p:cNvGrpSpPr/>
            <p:nvPr/>
          </p:nvGrpSpPr>
          <p:grpSpPr>
            <a:xfrm>
              <a:off x="6355680" y="3243854"/>
              <a:ext cx="1233223" cy="704092"/>
              <a:chOff x="6622380" y="3243854"/>
              <a:chExt cx="1233223" cy="704092"/>
            </a:xfrm>
          </p:grpSpPr>
          <p:sp>
            <p:nvSpPr>
              <p:cNvPr id="57" name="箭头: 右 56">
                <a:extLst>
                  <a:ext uri="{FF2B5EF4-FFF2-40B4-BE49-F238E27FC236}">
                    <a16:creationId xmlns:a16="http://schemas.microsoft.com/office/drawing/2014/main" id="{0244A624-02CD-4B0A-B286-559667DD40FE}"/>
                  </a:ext>
                </a:extLst>
              </p:cNvPr>
              <p:cNvSpPr/>
              <p:nvPr/>
            </p:nvSpPr>
            <p:spPr>
              <a:xfrm>
                <a:off x="6908318" y="3243854"/>
                <a:ext cx="606967" cy="184150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/>
              </a:p>
            </p:txBody>
          </p:sp>
          <p:sp>
            <p:nvSpPr>
              <p:cNvPr id="59" name="文本框 58">
                <a:extLst>
                  <a:ext uri="{FF2B5EF4-FFF2-40B4-BE49-F238E27FC236}">
                    <a16:creationId xmlns:a16="http://schemas.microsoft.com/office/drawing/2014/main" id="{D22A6ED9-E1AE-430A-9017-C741E8B5A6EF}"/>
                  </a:ext>
                </a:extLst>
              </p:cNvPr>
              <p:cNvSpPr txBox="1"/>
              <p:nvPr/>
            </p:nvSpPr>
            <p:spPr>
              <a:xfrm>
                <a:off x="6622380" y="3526800"/>
                <a:ext cx="1233223" cy="4211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200" b="1" dirty="0">
                    <a:solidFill>
                      <a:srgbClr val="C00000"/>
                    </a:solidFill>
                  </a:rPr>
                  <a:t>压缩通道</a:t>
                </a:r>
              </a:p>
            </p:txBody>
          </p:sp>
        </p:grpSp>
        <p:grpSp>
          <p:nvGrpSpPr>
            <p:cNvPr id="61" name="组合 60">
              <a:extLst>
                <a:ext uri="{FF2B5EF4-FFF2-40B4-BE49-F238E27FC236}">
                  <a16:creationId xmlns:a16="http://schemas.microsoft.com/office/drawing/2014/main" id="{CD5CFB2A-7DC4-483A-BB40-7CCC43A5826C}"/>
                </a:ext>
              </a:extLst>
            </p:cNvPr>
            <p:cNvGrpSpPr/>
            <p:nvPr/>
          </p:nvGrpSpPr>
          <p:grpSpPr>
            <a:xfrm>
              <a:off x="7493637" y="1381607"/>
              <a:ext cx="1738781" cy="3112833"/>
              <a:chOff x="8287387" y="1381607"/>
              <a:chExt cx="1738781" cy="3112833"/>
            </a:xfrm>
          </p:grpSpPr>
          <p:sp>
            <p:nvSpPr>
              <p:cNvPr id="62" name="文本框 61">
                <a:extLst>
                  <a:ext uri="{FF2B5EF4-FFF2-40B4-BE49-F238E27FC236}">
                    <a16:creationId xmlns:a16="http://schemas.microsoft.com/office/drawing/2014/main" id="{FD57A393-D0F6-4892-ADA7-0FA40EF2AAD9}"/>
                  </a:ext>
                </a:extLst>
              </p:cNvPr>
              <p:cNvSpPr txBox="1"/>
              <p:nvPr/>
            </p:nvSpPr>
            <p:spPr>
              <a:xfrm>
                <a:off x="9041399" y="4042647"/>
                <a:ext cx="495301" cy="4211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b="1" dirty="0"/>
                  <a:t>W</a:t>
                </a:r>
                <a:endParaRPr lang="zh-CN" altLang="en-US" sz="1200" b="1" dirty="0"/>
              </a:p>
            </p:txBody>
          </p:sp>
          <p:sp>
            <p:nvSpPr>
              <p:cNvPr id="63" name="文本框 62">
                <a:extLst>
                  <a:ext uri="{FF2B5EF4-FFF2-40B4-BE49-F238E27FC236}">
                    <a16:creationId xmlns:a16="http://schemas.microsoft.com/office/drawing/2014/main" id="{5ECB5852-F7E4-46A4-9F9B-7E8F2E45A87E}"/>
                  </a:ext>
                </a:extLst>
              </p:cNvPr>
              <p:cNvSpPr txBox="1"/>
              <p:nvPr/>
            </p:nvSpPr>
            <p:spPr>
              <a:xfrm>
                <a:off x="9530867" y="2706273"/>
                <a:ext cx="495301" cy="4211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b="1" dirty="0"/>
                  <a:t>H</a:t>
                </a:r>
                <a:endParaRPr lang="zh-CN" altLang="en-US" sz="1200" b="1" dirty="0"/>
              </a:p>
            </p:txBody>
          </p:sp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D5F5481D-8E3C-4B70-9682-E3F94F791410}"/>
                  </a:ext>
                </a:extLst>
              </p:cNvPr>
              <p:cNvSpPr txBox="1"/>
              <p:nvPr/>
            </p:nvSpPr>
            <p:spPr>
              <a:xfrm>
                <a:off x="8933947" y="1381607"/>
                <a:ext cx="586004" cy="7019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b="1" dirty="0"/>
                  <a:t>OC</a:t>
                </a:r>
                <a:endParaRPr lang="zh-CN" altLang="en-US" sz="1200" b="1" dirty="0"/>
              </a:p>
            </p:txBody>
          </p:sp>
          <p:sp>
            <p:nvSpPr>
              <p:cNvPr id="65" name="立方体 64">
                <a:extLst>
                  <a:ext uri="{FF2B5EF4-FFF2-40B4-BE49-F238E27FC236}">
                    <a16:creationId xmlns:a16="http://schemas.microsoft.com/office/drawing/2014/main" id="{7E7234DE-EC61-4AE7-808C-4DCF45828C0D}"/>
                  </a:ext>
                </a:extLst>
              </p:cNvPr>
              <p:cNvSpPr/>
              <p:nvPr/>
            </p:nvSpPr>
            <p:spPr>
              <a:xfrm>
                <a:off x="8297646" y="1698429"/>
                <a:ext cx="1233222" cy="2785365"/>
              </a:xfrm>
              <a:prstGeom prst="cube">
                <a:avLst>
                  <a:gd name="adj" fmla="val 60096"/>
                </a:avLst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66" name="平行四边形 65">
                <a:extLst>
                  <a:ext uri="{FF2B5EF4-FFF2-40B4-BE49-F238E27FC236}">
                    <a16:creationId xmlns:a16="http://schemas.microsoft.com/office/drawing/2014/main" id="{E596D850-683B-4F3A-8394-577EE005AEA0}"/>
                  </a:ext>
                </a:extLst>
              </p:cNvPr>
              <p:cNvSpPr/>
              <p:nvPr/>
            </p:nvSpPr>
            <p:spPr>
              <a:xfrm rot="5400000" flipV="1">
                <a:off x="8407841" y="3850527"/>
                <a:ext cx="1018887" cy="247648"/>
              </a:xfrm>
              <a:prstGeom prst="parallelogram">
                <a:avLst>
                  <a:gd name="adj" fmla="val 102525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/>
              </a:p>
            </p:txBody>
          </p:sp>
          <p:sp>
            <p:nvSpPr>
              <p:cNvPr id="67" name="平行四边形 66">
                <a:extLst>
                  <a:ext uri="{FF2B5EF4-FFF2-40B4-BE49-F238E27FC236}">
                    <a16:creationId xmlns:a16="http://schemas.microsoft.com/office/drawing/2014/main" id="{DB7324D6-46AA-4277-BD07-05CA6A7EB52A}"/>
                  </a:ext>
                </a:extLst>
              </p:cNvPr>
              <p:cNvSpPr/>
              <p:nvPr/>
            </p:nvSpPr>
            <p:spPr>
              <a:xfrm rot="5400000" flipV="1">
                <a:off x="8915767" y="3333261"/>
                <a:ext cx="1018887" cy="189487"/>
              </a:xfrm>
              <a:prstGeom prst="parallelogram">
                <a:avLst>
                  <a:gd name="adj" fmla="val 102525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/>
              </a:p>
            </p:txBody>
          </p:sp>
          <p:sp>
            <p:nvSpPr>
              <p:cNvPr id="68" name="平行四边形 67">
                <a:extLst>
                  <a:ext uri="{FF2B5EF4-FFF2-40B4-BE49-F238E27FC236}">
                    <a16:creationId xmlns:a16="http://schemas.microsoft.com/office/drawing/2014/main" id="{C675C01D-76A2-4731-92B4-09E5E934ADF7}"/>
                  </a:ext>
                </a:extLst>
              </p:cNvPr>
              <p:cNvSpPr/>
              <p:nvPr/>
            </p:nvSpPr>
            <p:spPr>
              <a:xfrm rot="5400000" flipV="1">
                <a:off x="8407843" y="2593227"/>
                <a:ext cx="1018886" cy="247650"/>
              </a:xfrm>
              <a:prstGeom prst="parallelogram">
                <a:avLst>
                  <a:gd name="adj" fmla="val 95794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/>
              </a:p>
            </p:txBody>
          </p:sp>
          <p:sp>
            <p:nvSpPr>
              <p:cNvPr id="69" name="平行四边形 68">
                <a:extLst>
                  <a:ext uri="{FF2B5EF4-FFF2-40B4-BE49-F238E27FC236}">
                    <a16:creationId xmlns:a16="http://schemas.microsoft.com/office/drawing/2014/main" id="{D18681F2-6238-4296-AB99-B765336A0A62}"/>
                  </a:ext>
                </a:extLst>
              </p:cNvPr>
              <p:cNvSpPr/>
              <p:nvPr/>
            </p:nvSpPr>
            <p:spPr>
              <a:xfrm rot="5400000" flipV="1">
                <a:off x="8915767" y="2129301"/>
                <a:ext cx="1018887" cy="189487"/>
              </a:xfrm>
              <a:prstGeom prst="parallelogram">
                <a:avLst>
                  <a:gd name="adj" fmla="val 102525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/>
              </a:p>
            </p:txBody>
          </p:sp>
          <p:sp>
            <p:nvSpPr>
              <p:cNvPr id="70" name="矩形 69">
                <a:extLst>
                  <a:ext uri="{FF2B5EF4-FFF2-40B4-BE49-F238E27FC236}">
                    <a16:creationId xmlns:a16="http://schemas.microsoft.com/office/drawing/2014/main" id="{8CDFBFDC-5687-455E-93C3-109FD6346DB1}"/>
                  </a:ext>
                </a:extLst>
              </p:cNvPr>
              <p:cNvSpPr/>
              <p:nvPr/>
            </p:nvSpPr>
            <p:spPr>
              <a:xfrm>
                <a:off x="8287387" y="2446020"/>
                <a:ext cx="513925" cy="76962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/>
              </a:p>
            </p:txBody>
          </p:sp>
          <p:sp>
            <p:nvSpPr>
              <p:cNvPr id="71" name="矩形 70">
                <a:extLst>
                  <a:ext uri="{FF2B5EF4-FFF2-40B4-BE49-F238E27FC236}">
                    <a16:creationId xmlns:a16="http://schemas.microsoft.com/office/drawing/2014/main" id="{522370EF-E0D5-4DD0-A71A-1D33715A0A10}"/>
                  </a:ext>
                </a:extLst>
              </p:cNvPr>
              <p:cNvSpPr/>
              <p:nvPr/>
            </p:nvSpPr>
            <p:spPr>
              <a:xfrm>
                <a:off x="8297645" y="3724820"/>
                <a:ext cx="507575" cy="76962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/>
              </a:p>
            </p:txBody>
          </p:sp>
          <p:sp>
            <p:nvSpPr>
              <p:cNvPr id="72" name="平行四边形 71">
                <a:extLst>
                  <a:ext uri="{FF2B5EF4-FFF2-40B4-BE49-F238E27FC236}">
                    <a16:creationId xmlns:a16="http://schemas.microsoft.com/office/drawing/2014/main" id="{A55E21C1-51A2-4BC8-B793-80C458EB26FA}"/>
                  </a:ext>
                </a:extLst>
              </p:cNvPr>
              <p:cNvSpPr/>
              <p:nvPr/>
            </p:nvSpPr>
            <p:spPr>
              <a:xfrm rot="10800000" flipH="1" flipV="1">
                <a:off x="8305635" y="2155733"/>
                <a:ext cx="749886" cy="264203"/>
              </a:xfrm>
              <a:prstGeom prst="parallelogram">
                <a:avLst>
                  <a:gd name="adj" fmla="val 102525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/>
              </a:p>
            </p:txBody>
          </p:sp>
          <p:sp>
            <p:nvSpPr>
              <p:cNvPr id="73" name="平行四边形 72">
                <a:extLst>
                  <a:ext uri="{FF2B5EF4-FFF2-40B4-BE49-F238E27FC236}">
                    <a16:creationId xmlns:a16="http://schemas.microsoft.com/office/drawing/2014/main" id="{93349526-4FB8-45E8-8C10-272880A0E45B}"/>
                  </a:ext>
                </a:extLst>
              </p:cNvPr>
              <p:cNvSpPr/>
              <p:nvPr/>
            </p:nvSpPr>
            <p:spPr>
              <a:xfrm rot="10800000" flipH="1" flipV="1">
                <a:off x="8801312" y="1698429"/>
                <a:ext cx="734116" cy="209802"/>
              </a:xfrm>
              <a:prstGeom prst="parallelogram">
                <a:avLst>
                  <a:gd name="adj" fmla="val 102525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/>
              </a:p>
            </p:txBody>
          </p:sp>
        </p:grpSp>
      </p:grpSp>
      <p:sp>
        <p:nvSpPr>
          <p:cNvPr id="87" name="立方体 86">
            <a:extLst>
              <a:ext uri="{FF2B5EF4-FFF2-40B4-BE49-F238E27FC236}">
                <a16:creationId xmlns:a16="http://schemas.microsoft.com/office/drawing/2014/main" id="{74716892-7653-4D80-9374-B1671F32E378}"/>
              </a:ext>
            </a:extLst>
          </p:cNvPr>
          <p:cNvSpPr/>
          <p:nvPr/>
        </p:nvSpPr>
        <p:spPr>
          <a:xfrm>
            <a:off x="1028819" y="2547830"/>
            <a:ext cx="1141474" cy="1838913"/>
          </a:xfrm>
          <a:prstGeom prst="cube">
            <a:avLst>
              <a:gd name="adj" fmla="val 43110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/>
          </a:p>
        </p:txBody>
      </p:sp>
      <p:sp>
        <p:nvSpPr>
          <p:cNvPr id="10" name="箭头: 右 9">
            <a:extLst>
              <a:ext uri="{FF2B5EF4-FFF2-40B4-BE49-F238E27FC236}">
                <a16:creationId xmlns:a16="http://schemas.microsoft.com/office/drawing/2014/main" id="{AF695435-A80C-4F1A-BC96-188D55EF6C84}"/>
              </a:ext>
            </a:extLst>
          </p:cNvPr>
          <p:cNvSpPr/>
          <p:nvPr/>
        </p:nvSpPr>
        <p:spPr>
          <a:xfrm>
            <a:off x="2539865" y="3584356"/>
            <a:ext cx="768350" cy="20631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3" name="箭头: 右 92">
            <a:extLst>
              <a:ext uri="{FF2B5EF4-FFF2-40B4-BE49-F238E27FC236}">
                <a16:creationId xmlns:a16="http://schemas.microsoft.com/office/drawing/2014/main" id="{470FECC9-2A87-4F59-ACB0-449382D403FC}"/>
              </a:ext>
            </a:extLst>
          </p:cNvPr>
          <p:cNvSpPr/>
          <p:nvPr/>
        </p:nvSpPr>
        <p:spPr>
          <a:xfrm>
            <a:off x="8128629" y="3542205"/>
            <a:ext cx="768350" cy="20631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BC49910-0161-484A-95FC-13EF20C98D09}"/>
              </a:ext>
            </a:extLst>
          </p:cNvPr>
          <p:cNvSpPr txBox="1"/>
          <p:nvPr/>
        </p:nvSpPr>
        <p:spPr>
          <a:xfrm>
            <a:off x="2597150" y="3230775"/>
            <a:ext cx="768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FFT</a:t>
            </a:r>
            <a:endParaRPr lang="zh-CN" altLang="en-US" b="1" dirty="0"/>
          </a:p>
        </p:txBody>
      </p:sp>
      <p:sp>
        <p:nvSpPr>
          <p:cNvPr id="94" name="文本框 93">
            <a:extLst>
              <a:ext uri="{FF2B5EF4-FFF2-40B4-BE49-F238E27FC236}">
                <a16:creationId xmlns:a16="http://schemas.microsoft.com/office/drawing/2014/main" id="{FF3386B1-6BE3-48E4-B1C9-CCB1C32193BF}"/>
              </a:ext>
            </a:extLst>
          </p:cNvPr>
          <p:cNvSpPr txBox="1"/>
          <p:nvPr/>
        </p:nvSpPr>
        <p:spPr>
          <a:xfrm>
            <a:off x="8165373" y="3240707"/>
            <a:ext cx="768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err="1"/>
              <a:t>iFFT</a:t>
            </a:r>
            <a:endParaRPr lang="zh-CN" altLang="en-US" b="1" dirty="0"/>
          </a:p>
        </p:txBody>
      </p:sp>
      <p:sp>
        <p:nvSpPr>
          <p:cNvPr id="95" name="立方体 94">
            <a:extLst>
              <a:ext uri="{FF2B5EF4-FFF2-40B4-BE49-F238E27FC236}">
                <a16:creationId xmlns:a16="http://schemas.microsoft.com/office/drawing/2014/main" id="{9959BD50-A1FC-4894-AC73-E87C2A705C32}"/>
              </a:ext>
            </a:extLst>
          </p:cNvPr>
          <p:cNvSpPr/>
          <p:nvPr/>
        </p:nvSpPr>
        <p:spPr>
          <a:xfrm>
            <a:off x="9399910" y="2567889"/>
            <a:ext cx="809586" cy="1832009"/>
          </a:xfrm>
          <a:prstGeom prst="cube">
            <a:avLst>
              <a:gd name="adj" fmla="val 60096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647A159-6EB5-4D02-AA37-394F1027428F}"/>
              </a:ext>
            </a:extLst>
          </p:cNvPr>
          <p:cNvSpPr txBox="1"/>
          <p:nvPr/>
        </p:nvSpPr>
        <p:spPr>
          <a:xfrm>
            <a:off x="1051866" y="4406900"/>
            <a:ext cx="21175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输入</a:t>
            </a:r>
            <a:br>
              <a:rPr lang="en-US" altLang="zh-CN" dirty="0"/>
            </a:br>
            <a:r>
              <a:rPr lang="en-US" altLang="zh-CN" dirty="0"/>
              <a:t>x (B, IC, H, W)</a:t>
            </a:r>
            <a:endParaRPr lang="zh-CN" altLang="en-US" dirty="0"/>
          </a:p>
        </p:txBody>
      </p:sp>
      <p:sp>
        <p:nvSpPr>
          <p:cNvPr id="96" name="文本框 95">
            <a:extLst>
              <a:ext uri="{FF2B5EF4-FFF2-40B4-BE49-F238E27FC236}">
                <a16:creationId xmlns:a16="http://schemas.microsoft.com/office/drawing/2014/main" id="{8BC18DFA-2B02-47E4-BE25-D41D0654308C}"/>
              </a:ext>
            </a:extLst>
          </p:cNvPr>
          <p:cNvSpPr txBox="1"/>
          <p:nvPr/>
        </p:nvSpPr>
        <p:spPr>
          <a:xfrm>
            <a:off x="8946327" y="4549775"/>
            <a:ext cx="21175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输出</a:t>
            </a:r>
            <a:br>
              <a:rPr lang="en-US" altLang="zh-CN" dirty="0"/>
            </a:br>
            <a:r>
              <a:rPr lang="en-US" altLang="zh-CN" dirty="0"/>
              <a:t>y (B, OC, H, W)</a:t>
            </a:r>
            <a:endParaRPr lang="zh-CN" altLang="en-US" dirty="0"/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F11D6B78-A708-467A-8BFA-1D06F8E8E9A6}"/>
              </a:ext>
            </a:extLst>
          </p:cNvPr>
          <p:cNvSpPr txBox="1"/>
          <p:nvPr/>
        </p:nvSpPr>
        <p:spPr>
          <a:xfrm>
            <a:off x="4894927" y="5526393"/>
            <a:ext cx="20513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/>
              <a:t>频域路径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955AB29-FBFD-42A2-B746-A4AAF7E636F2}"/>
              </a:ext>
            </a:extLst>
          </p:cNvPr>
          <p:cNvSpPr txBox="1"/>
          <p:nvPr/>
        </p:nvSpPr>
        <p:spPr>
          <a:xfrm>
            <a:off x="4965856" y="5104544"/>
            <a:ext cx="2260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0" dirty="0">
                <a:effectLst/>
                <a:latin typeface="Consolas" panose="020B0609020204030204" pitchFamily="49" charset="0"/>
              </a:rPr>
              <a:t>SpectralConv2d</a:t>
            </a:r>
          </a:p>
        </p:txBody>
      </p:sp>
    </p:spTree>
    <p:extLst>
      <p:ext uri="{BB962C8B-B14F-4D97-AF65-F5344CB8AC3E}">
        <p14:creationId xmlns:p14="http://schemas.microsoft.com/office/powerpoint/2010/main" val="265292313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B106840B-AF03-49F7-B778-3DC70955B1D8}"/>
              </a:ext>
            </a:extLst>
          </p:cNvPr>
          <p:cNvSpPr txBox="1"/>
          <p:nvPr/>
        </p:nvSpPr>
        <p:spPr>
          <a:xfrm>
            <a:off x="225630" y="95003"/>
            <a:ext cx="57255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傅里叶神经算子 </a:t>
            </a:r>
            <a:r>
              <a:rPr lang="en-US" altLang="zh-CN" sz="2400" b="1" dirty="0"/>
              <a:t>FNO</a:t>
            </a:r>
            <a:endParaRPr lang="zh-CN" altLang="en-US" sz="2400" b="1" dirty="0"/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1BE56D4C-2B9F-409A-8F0C-3931EE155E03}"/>
              </a:ext>
            </a:extLst>
          </p:cNvPr>
          <p:cNvGrpSpPr/>
          <p:nvPr/>
        </p:nvGrpSpPr>
        <p:grpSpPr>
          <a:xfrm>
            <a:off x="264185" y="1004765"/>
            <a:ext cx="11600115" cy="5422476"/>
            <a:chOff x="264185" y="1004765"/>
            <a:chExt cx="11600115" cy="5422476"/>
          </a:xfrm>
        </p:grpSpPr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3E2B11AD-620A-4238-8194-D2336D262B9D}"/>
                </a:ext>
              </a:extLst>
            </p:cNvPr>
            <p:cNvSpPr txBox="1"/>
            <p:nvPr/>
          </p:nvSpPr>
          <p:spPr>
            <a:xfrm>
              <a:off x="4868091" y="5774075"/>
              <a:ext cx="26938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/>
                <a:t>完整 </a:t>
              </a:r>
              <a:r>
                <a:rPr lang="en-US" altLang="zh-CN" sz="2400" b="1" dirty="0"/>
                <a:t>FNO Layer</a:t>
              </a:r>
              <a:endParaRPr lang="zh-CN" altLang="en-US" sz="2400" b="1" dirty="0"/>
            </a:p>
          </p:txBody>
        </p:sp>
        <p:grpSp>
          <p:nvGrpSpPr>
            <p:cNvPr id="22" name="组合 21">
              <a:extLst>
                <a:ext uri="{FF2B5EF4-FFF2-40B4-BE49-F238E27FC236}">
                  <a16:creationId xmlns:a16="http://schemas.microsoft.com/office/drawing/2014/main" id="{FB8A3FE2-D14C-4820-8815-5D8469020D7B}"/>
                </a:ext>
              </a:extLst>
            </p:cNvPr>
            <p:cNvGrpSpPr/>
            <p:nvPr/>
          </p:nvGrpSpPr>
          <p:grpSpPr>
            <a:xfrm>
              <a:off x="264185" y="1004765"/>
              <a:ext cx="11600115" cy="5422476"/>
              <a:chOff x="264185" y="1004765"/>
              <a:chExt cx="11600115" cy="5422476"/>
            </a:xfrm>
          </p:grpSpPr>
          <p:grpSp>
            <p:nvGrpSpPr>
              <p:cNvPr id="20" name="组合 19">
                <a:extLst>
                  <a:ext uri="{FF2B5EF4-FFF2-40B4-BE49-F238E27FC236}">
                    <a16:creationId xmlns:a16="http://schemas.microsoft.com/office/drawing/2014/main" id="{91AB29E7-FCA3-47F1-89BA-407DDE961B62}"/>
                  </a:ext>
                </a:extLst>
              </p:cNvPr>
              <p:cNvGrpSpPr/>
              <p:nvPr/>
            </p:nvGrpSpPr>
            <p:grpSpPr>
              <a:xfrm>
                <a:off x="264185" y="1004765"/>
                <a:ext cx="11600115" cy="5422476"/>
                <a:chOff x="264185" y="1004765"/>
                <a:chExt cx="11600115" cy="5422476"/>
              </a:xfrm>
            </p:grpSpPr>
            <p:sp>
              <p:nvSpPr>
                <p:cNvPr id="96" name="文本框 95">
                  <a:extLst>
                    <a:ext uri="{FF2B5EF4-FFF2-40B4-BE49-F238E27FC236}">
                      <a16:creationId xmlns:a16="http://schemas.microsoft.com/office/drawing/2014/main" id="{8BC18DFA-2B02-47E4-BE25-D41D0654308C}"/>
                    </a:ext>
                  </a:extLst>
                </p:cNvPr>
                <p:cNvSpPr txBox="1"/>
                <p:nvPr/>
              </p:nvSpPr>
              <p:spPr>
                <a:xfrm>
                  <a:off x="9746752" y="5675565"/>
                  <a:ext cx="2117548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dirty="0"/>
                    <a:t>输出</a:t>
                  </a:r>
                  <a:br>
                    <a:rPr lang="en-US" altLang="zh-CN" dirty="0"/>
                  </a:br>
                  <a:r>
                    <a:rPr lang="en-US" altLang="zh-CN" dirty="0"/>
                    <a:t>y (B, OC, H, W)</a:t>
                  </a:r>
                  <a:endParaRPr lang="zh-CN" altLang="en-US" dirty="0"/>
                </a:p>
              </p:txBody>
            </p:sp>
            <p:grpSp>
              <p:nvGrpSpPr>
                <p:cNvPr id="19" name="组合 18">
                  <a:extLst>
                    <a:ext uri="{FF2B5EF4-FFF2-40B4-BE49-F238E27FC236}">
                      <a16:creationId xmlns:a16="http://schemas.microsoft.com/office/drawing/2014/main" id="{37CFDB51-585B-4857-B4C8-1EF4407632D2}"/>
                    </a:ext>
                  </a:extLst>
                </p:cNvPr>
                <p:cNvGrpSpPr/>
                <p:nvPr/>
              </p:nvGrpSpPr>
              <p:grpSpPr>
                <a:xfrm>
                  <a:off x="264185" y="1004765"/>
                  <a:ext cx="11376661" cy="5422476"/>
                  <a:chOff x="237489" y="717762"/>
                  <a:chExt cx="11376661" cy="5422476"/>
                </a:xfrm>
              </p:grpSpPr>
              <p:sp>
                <p:nvSpPr>
                  <p:cNvPr id="78" name="矩形: 圆角 77">
                    <a:extLst>
                      <a:ext uri="{FF2B5EF4-FFF2-40B4-BE49-F238E27FC236}">
                        <a16:creationId xmlns:a16="http://schemas.microsoft.com/office/drawing/2014/main" id="{252ED1CB-79C4-491D-B05C-C09441242A63}"/>
                      </a:ext>
                    </a:extLst>
                  </p:cNvPr>
                  <p:cNvSpPr/>
                  <p:nvPr/>
                </p:nvSpPr>
                <p:spPr>
                  <a:xfrm>
                    <a:off x="237489" y="717762"/>
                    <a:ext cx="11376661" cy="4545869"/>
                  </a:xfrm>
                  <a:prstGeom prst="roundRect">
                    <a:avLst/>
                  </a:prstGeom>
                  <a:ln w="28575">
                    <a:prstDash val="dashDot"/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8" name="椭圆 17">
                    <a:extLst>
                      <a:ext uri="{FF2B5EF4-FFF2-40B4-BE49-F238E27FC236}">
                        <a16:creationId xmlns:a16="http://schemas.microsoft.com/office/drawing/2014/main" id="{7412ECF9-8FF6-47D8-B548-210F28783985}"/>
                      </a:ext>
                    </a:extLst>
                  </p:cNvPr>
                  <p:cNvSpPr/>
                  <p:nvPr/>
                </p:nvSpPr>
                <p:spPr>
                  <a:xfrm>
                    <a:off x="8331200" y="3511550"/>
                    <a:ext cx="1244600" cy="1231900"/>
                  </a:xfrm>
                  <a:prstGeom prst="ellipse">
                    <a:avLst/>
                  </a:prstGeom>
                </p:spPr>
                <p:style>
                  <a:lnRef idx="2">
                    <a:schemeClr val="accent3"/>
                  </a:lnRef>
                  <a:fillRef idx="1">
                    <a:schemeClr val="lt1"/>
                  </a:fillRef>
                  <a:effectRef idx="0">
                    <a:schemeClr val="accent3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grpSp>
                <p:nvGrpSpPr>
                  <p:cNvPr id="9" name="组合 8">
                    <a:extLst>
                      <a:ext uri="{FF2B5EF4-FFF2-40B4-BE49-F238E27FC236}">
                        <a16:creationId xmlns:a16="http://schemas.microsoft.com/office/drawing/2014/main" id="{E9CA6058-7351-42C8-B504-C74FFB197922}"/>
                      </a:ext>
                    </a:extLst>
                  </p:cNvPr>
                  <p:cNvGrpSpPr/>
                  <p:nvPr/>
                </p:nvGrpSpPr>
                <p:grpSpPr>
                  <a:xfrm>
                    <a:off x="2228225" y="894275"/>
                    <a:ext cx="4756031" cy="2047393"/>
                    <a:chOff x="1987669" y="1381607"/>
                    <a:chExt cx="7244749" cy="3112833"/>
                  </a:xfrm>
                </p:grpSpPr>
                <p:grpSp>
                  <p:nvGrpSpPr>
                    <p:cNvPr id="6" name="组合 5">
                      <a:extLst>
                        <a:ext uri="{FF2B5EF4-FFF2-40B4-BE49-F238E27FC236}">
                          <a16:creationId xmlns:a16="http://schemas.microsoft.com/office/drawing/2014/main" id="{3D2C38D3-CF02-4717-BA97-183B62B82A6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987669" y="1413284"/>
                      <a:ext cx="2228249" cy="3076860"/>
                      <a:chOff x="1689219" y="1406934"/>
                      <a:chExt cx="2228249" cy="3076860"/>
                    </a:xfrm>
                  </p:grpSpPr>
                  <p:sp>
                    <p:nvSpPr>
                      <p:cNvPr id="24" name="立方体 23">
                        <a:extLst>
                          <a:ext uri="{FF2B5EF4-FFF2-40B4-BE49-F238E27FC236}">
                            <a16:creationId xmlns:a16="http://schemas.microsoft.com/office/drawing/2014/main" id="{BD1C0ED0-3D45-48E0-800B-17580B65775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689219" y="1687932"/>
                        <a:ext cx="1738780" cy="2795862"/>
                      </a:xfrm>
                      <a:prstGeom prst="cube">
                        <a:avLst>
                          <a:gd name="adj" fmla="val 43110"/>
                        </a:avLst>
                      </a:prstGeom>
                      <a:solidFill>
                        <a:schemeClr val="accent3"/>
                      </a:solidFill>
                      <a:ln>
                        <a:noFill/>
                      </a:ln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sz="1200" dirty="0"/>
                      </a:p>
                    </p:txBody>
                  </p:sp>
                  <p:sp>
                    <p:nvSpPr>
                      <p:cNvPr id="25" name="立方体 24">
                        <a:extLst>
                          <a:ext uri="{FF2B5EF4-FFF2-40B4-BE49-F238E27FC236}">
                            <a16:creationId xmlns:a16="http://schemas.microsoft.com/office/drawing/2014/main" id="{76251513-C0AF-4249-AFD3-31063C98D2E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694340" y="2031717"/>
                        <a:ext cx="1414620" cy="2452077"/>
                      </a:xfrm>
                      <a:prstGeom prst="cube">
                        <a:avLst>
                          <a:gd name="adj" fmla="val 30076"/>
                        </a:avLst>
                      </a:prstGeom>
                      <a:solidFill>
                        <a:schemeClr val="accent6">
                          <a:alpha val="50000"/>
                        </a:schemeClr>
                      </a:solidFill>
                      <a:ln>
                        <a:noFill/>
                      </a:ln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sz="1200"/>
                      </a:p>
                    </p:txBody>
                  </p:sp>
                  <p:sp>
                    <p:nvSpPr>
                      <p:cNvPr id="26" name="文本框 25">
                        <a:extLst>
                          <a:ext uri="{FF2B5EF4-FFF2-40B4-BE49-F238E27FC236}">
                            <a16:creationId xmlns:a16="http://schemas.microsoft.com/office/drawing/2014/main" id="{C47C5A81-9636-4488-9DB4-2D487A55A306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2932699" y="4042647"/>
                        <a:ext cx="495299" cy="421146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r>
                          <a:rPr lang="en-US" altLang="zh-CN" sz="1200" b="1" dirty="0"/>
                          <a:t>W</a:t>
                        </a:r>
                        <a:endParaRPr lang="zh-CN" altLang="en-US" sz="1200" b="1" dirty="0"/>
                      </a:p>
                    </p:txBody>
                  </p:sp>
                  <p:sp>
                    <p:nvSpPr>
                      <p:cNvPr id="33" name="文本框 32">
                        <a:extLst>
                          <a:ext uri="{FF2B5EF4-FFF2-40B4-BE49-F238E27FC236}">
                            <a16:creationId xmlns:a16="http://schemas.microsoft.com/office/drawing/2014/main" id="{F894D9A0-99FC-4331-9F1D-1E05EF42E475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3422169" y="2706275"/>
                        <a:ext cx="495299" cy="421146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r>
                          <a:rPr lang="en-US" altLang="zh-CN" sz="1200" b="1" dirty="0"/>
                          <a:t>H</a:t>
                        </a:r>
                        <a:endParaRPr lang="zh-CN" altLang="en-US" sz="1200" b="1" dirty="0"/>
                      </a:p>
                    </p:txBody>
                  </p:sp>
                  <p:sp>
                    <p:nvSpPr>
                      <p:cNvPr id="34" name="文本框 33">
                        <a:extLst>
                          <a:ext uri="{FF2B5EF4-FFF2-40B4-BE49-F238E27FC236}">
                            <a16:creationId xmlns:a16="http://schemas.microsoft.com/office/drawing/2014/main" id="{7E84619C-0EF1-4EC1-86B7-1B87B53B1D04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2729749" y="1406934"/>
                        <a:ext cx="495299" cy="421146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r>
                          <a:rPr lang="en-US" altLang="zh-CN" sz="1200" b="1" dirty="0"/>
                          <a:t>IC</a:t>
                        </a:r>
                        <a:endParaRPr lang="zh-CN" altLang="en-US" sz="1200" b="1" dirty="0"/>
                      </a:p>
                    </p:txBody>
                  </p:sp>
                </p:grpSp>
                <p:grpSp>
                  <p:nvGrpSpPr>
                    <p:cNvPr id="3" name="组合 2">
                      <a:extLst>
                        <a:ext uri="{FF2B5EF4-FFF2-40B4-BE49-F238E27FC236}">
                          <a16:creationId xmlns:a16="http://schemas.microsoft.com/office/drawing/2014/main" id="{46AD48DA-81B0-42A6-9A4E-1567AD9F035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80069" y="1406934"/>
                      <a:ext cx="2228249" cy="3087506"/>
                      <a:chOff x="4680069" y="1406934"/>
                      <a:chExt cx="2228249" cy="3087506"/>
                    </a:xfrm>
                  </p:grpSpPr>
                  <p:sp>
                    <p:nvSpPr>
                      <p:cNvPr id="39" name="立方体 38">
                        <a:extLst>
                          <a:ext uri="{FF2B5EF4-FFF2-40B4-BE49-F238E27FC236}">
                            <a16:creationId xmlns:a16="http://schemas.microsoft.com/office/drawing/2014/main" id="{86890016-D568-43D8-87FC-19A618A32F5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80069" y="1687932"/>
                        <a:ext cx="1738780" cy="2795862"/>
                      </a:xfrm>
                      <a:prstGeom prst="cube">
                        <a:avLst>
                          <a:gd name="adj" fmla="val 43110"/>
                        </a:avLst>
                      </a:prstGeom>
                      <a:solidFill>
                        <a:schemeClr val="accent3"/>
                      </a:solidFill>
                      <a:ln>
                        <a:noFill/>
                      </a:ln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sz="1200" dirty="0"/>
                      </a:p>
                    </p:txBody>
                  </p:sp>
                  <p:sp>
                    <p:nvSpPr>
                      <p:cNvPr id="40" name="立方体 39">
                        <a:extLst>
                          <a:ext uri="{FF2B5EF4-FFF2-40B4-BE49-F238E27FC236}">
                            <a16:creationId xmlns:a16="http://schemas.microsoft.com/office/drawing/2014/main" id="{067CD96B-F214-4CE0-A107-B16ACBAB7F0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85190" y="2031717"/>
                        <a:ext cx="1414620" cy="2452077"/>
                      </a:xfrm>
                      <a:prstGeom prst="cube">
                        <a:avLst>
                          <a:gd name="adj" fmla="val 30076"/>
                        </a:avLst>
                      </a:prstGeom>
                      <a:solidFill>
                        <a:schemeClr val="accent6">
                          <a:alpha val="50000"/>
                        </a:schemeClr>
                      </a:solidFill>
                      <a:ln>
                        <a:noFill/>
                      </a:ln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sz="1200"/>
                      </a:p>
                    </p:txBody>
                  </p:sp>
                  <p:sp>
                    <p:nvSpPr>
                      <p:cNvPr id="41" name="文本框 40">
                        <a:extLst>
                          <a:ext uri="{FF2B5EF4-FFF2-40B4-BE49-F238E27FC236}">
                            <a16:creationId xmlns:a16="http://schemas.microsoft.com/office/drawing/2014/main" id="{7C0795CD-9CA2-43F6-922C-4023831B1E72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5923549" y="4042647"/>
                        <a:ext cx="495299" cy="421146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r>
                          <a:rPr lang="en-US" altLang="zh-CN" sz="1200" b="1" dirty="0"/>
                          <a:t>W</a:t>
                        </a:r>
                        <a:endParaRPr lang="zh-CN" altLang="en-US" sz="1200" b="1" dirty="0"/>
                      </a:p>
                    </p:txBody>
                  </p:sp>
                  <p:sp>
                    <p:nvSpPr>
                      <p:cNvPr id="42" name="文本框 41">
                        <a:extLst>
                          <a:ext uri="{FF2B5EF4-FFF2-40B4-BE49-F238E27FC236}">
                            <a16:creationId xmlns:a16="http://schemas.microsoft.com/office/drawing/2014/main" id="{117C7078-6811-481A-8BE1-2E3992E4715C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6413019" y="2706275"/>
                        <a:ext cx="495299" cy="421146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r>
                          <a:rPr lang="en-US" altLang="zh-CN" sz="1200" b="1" dirty="0"/>
                          <a:t>H</a:t>
                        </a:r>
                        <a:endParaRPr lang="zh-CN" altLang="en-US" sz="1200" b="1" dirty="0"/>
                      </a:p>
                    </p:txBody>
                  </p:sp>
                  <p:sp>
                    <p:nvSpPr>
                      <p:cNvPr id="43" name="文本框 42">
                        <a:extLst>
                          <a:ext uri="{FF2B5EF4-FFF2-40B4-BE49-F238E27FC236}">
                            <a16:creationId xmlns:a16="http://schemas.microsoft.com/office/drawing/2014/main" id="{D7076564-6579-4507-AE5C-4A7859B609B5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5720599" y="1406934"/>
                        <a:ext cx="495299" cy="421146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r>
                          <a:rPr lang="en-US" altLang="zh-CN" sz="1200" b="1" dirty="0"/>
                          <a:t>IC</a:t>
                        </a:r>
                        <a:endParaRPr lang="zh-CN" altLang="en-US" sz="1200" b="1" dirty="0"/>
                      </a:p>
                    </p:txBody>
                  </p:sp>
                  <p:sp>
                    <p:nvSpPr>
                      <p:cNvPr id="44" name="立方体 43">
                        <a:extLst>
                          <a:ext uri="{FF2B5EF4-FFF2-40B4-BE49-F238E27FC236}">
                            <a16:creationId xmlns:a16="http://schemas.microsoft.com/office/drawing/2014/main" id="{6AD46A1C-3970-42EA-BDEA-67F52C978B4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80069" y="1698429"/>
                        <a:ext cx="1732949" cy="2785365"/>
                      </a:xfrm>
                      <a:prstGeom prst="cube">
                        <a:avLst>
                          <a:gd name="adj" fmla="val 42589"/>
                        </a:avLst>
                      </a:prstGeom>
                    </p:spPr>
                    <p:style>
                      <a:lnRef idx="2">
                        <a:schemeClr val="dk1"/>
                      </a:lnRef>
                      <a:fillRef idx="1">
                        <a:schemeClr val="lt1"/>
                      </a:fillRef>
                      <a:effectRef idx="0">
                        <a:schemeClr val="dk1"/>
                      </a:effectRef>
                      <a:fontRef idx="minor">
                        <a:schemeClr val="dk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sz="1200"/>
                      </a:p>
                    </p:txBody>
                  </p:sp>
                  <p:grpSp>
                    <p:nvGrpSpPr>
                      <p:cNvPr id="45" name="组合 44">
                        <a:extLst>
                          <a:ext uri="{FF2B5EF4-FFF2-40B4-BE49-F238E27FC236}">
                            <a16:creationId xmlns:a16="http://schemas.microsoft.com/office/drawing/2014/main" id="{79ECAF60-B18D-4CB0-BA61-49C4020E97ED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4685205" y="1698429"/>
                        <a:ext cx="1732373" cy="2796011"/>
                        <a:chOff x="4088305" y="1698429"/>
                        <a:chExt cx="1732373" cy="2796011"/>
                      </a:xfrm>
                    </p:grpSpPr>
                    <p:grpSp>
                      <p:nvGrpSpPr>
                        <p:cNvPr id="46" name="组合 45">
                          <a:extLst>
                            <a:ext uri="{FF2B5EF4-FFF2-40B4-BE49-F238E27FC236}">
                              <a16:creationId xmlns:a16="http://schemas.microsoft.com/office/drawing/2014/main" id="{09156697-9FC3-4691-82BF-B3BE76ACB015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078710" y="1714601"/>
                          <a:ext cx="726494" cy="2769193"/>
                          <a:chOff x="2044971" y="1693937"/>
                          <a:chExt cx="726494" cy="2769193"/>
                        </a:xfrm>
                      </p:grpSpPr>
                      <p:sp>
                        <p:nvSpPr>
                          <p:cNvPr id="51" name="平行四边形 50">
                            <a:extLst>
                              <a:ext uri="{FF2B5EF4-FFF2-40B4-BE49-F238E27FC236}">
                                <a16:creationId xmlns:a16="http://schemas.microsoft.com/office/drawing/2014/main" id="{F458F24F-7FB5-499A-B4CA-E0EFCCCDAB4A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 rot="5400000" flipV="1">
                            <a:off x="1659352" y="3829863"/>
                            <a:ext cx="1018887" cy="247648"/>
                          </a:xfrm>
                          <a:prstGeom prst="parallelogram">
                            <a:avLst>
                              <a:gd name="adj" fmla="val 102525"/>
                            </a:avLst>
                          </a:prstGeom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zh-CN" altLang="en-US" sz="1200"/>
                          </a:p>
                        </p:txBody>
                      </p:sp>
                      <p:sp>
                        <p:nvSpPr>
                          <p:cNvPr id="52" name="平行四边形 51">
                            <a:extLst>
                              <a:ext uri="{FF2B5EF4-FFF2-40B4-BE49-F238E27FC236}">
                                <a16:creationId xmlns:a16="http://schemas.microsoft.com/office/drawing/2014/main" id="{E7862BC4-3A0A-4D59-B4AA-343AA76467B9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 rot="5400000" flipV="1">
                            <a:off x="2167278" y="3312597"/>
                            <a:ext cx="1018887" cy="189487"/>
                          </a:xfrm>
                          <a:prstGeom prst="parallelogram">
                            <a:avLst>
                              <a:gd name="adj" fmla="val 102525"/>
                            </a:avLst>
                          </a:prstGeom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zh-CN" altLang="en-US" sz="1200"/>
                          </a:p>
                        </p:txBody>
                      </p:sp>
                      <p:sp>
                        <p:nvSpPr>
                          <p:cNvPr id="53" name="平行四边形 52">
                            <a:extLst>
                              <a:ext uri="{FF2B5EF4-FFF2-40B4-BE49-F238E27FC236}">
                                <a16:creationId xmlns:a16="http://schemas.microsoft.com/office/drawing/2014/main" id="{1C5A224E-E4A6-4B6C-9A67-E258D51EC5F1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 rot="5400000" flipV="1">
                            <a:off x="1659353" y="2572563"/>
                            <a:ext cx="1018886" cy="247649"/>
                          </a:xfrm>
                          <a:prstGeom prst="parallelogram">
                            <a:avLst>
                              <a:gd name="adj" fmla="val 95794"/>
                            </a:avLst>
                          </a:prstGeom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zh-CN" altLang="en-US" sz="1200"/>
                          </a:p>
                        </p:txBody>
                      </p:sp>
                      <p:sp>
                        <p:nvSpPr>
                          <p:cNvPr id="54" name="平行四边形 53">
                            <a:extLst>
                              <a:ext uri="{FF2B5EF4-FFF2-40B4-BE49-F238E27FC236}">
                                <a16:creationId xmlns:a16="http://schemas.microsoft.com/office/drawing/2014/main" id="{0F75947C-DDAC-4D7D-A8EE-09293D97BE26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 rot="5400000" flipV="1">
                            <a:off x="2167278" y="2108637"/>
                            <a:ext cx="1018887" cy="189487"/>
                          </a:xfrm>
                          <a:prstGeom prst="parallelogram">
                            <a:avLst>
                              <a:gd name="adj" fmla="val 102525"/>
                            </a:avLst>
                          </a:prstGeom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zh-CN" altLang="en-US" sz="1200"/>
                          </a:p>
                        </p:txBody>
                      </p:sp>
                    </p:grpSp>
                    <p:sp>
                      <p:nvSpPr>
                        <p:cNvPr id="47" name="矩形 46">
                          <a:extLst>
                            <a:ext uri="{FF2B5EF4-FFF2-40B4-BE49-F238E27FC236}">
                              <a16:creationId xmlns:a16="http://schemas.microsoft.com/office/drawing/2014/main" id="{CCACB99A-000F-4B4D-925C-9C6EB2D22323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4089519" y="2446020"/>
                          <a:ext cx="997045" cy="769620"/>
                        </a:xfrm>
                        <a:prstGeom prst="rect">
                          <a:avLst/>
                        </a:prstGeom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zh-CN" altLang="en-US" sz="1200"/>
                        </a:p>
                      </p:txBody>
                    </p:sp>
                    <p:sp>
                      <p:nvSpPr>
                        <p:cNvPr id="48" name="矩形 47">
                          <a:extLst>
                            <a:ext uri="{FF2B5EF4-FFF2-40B4-BE49-F238E27FC236}">
                              <a16:creationId xmlns:a16="http://schemas.microsoft.com/office/drawing/2014/main" id="{40184F78-6F5B-47ED-BE31-4AF9CC1EE80B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4093427" y="3724820"/>
                          <a:ext cx="997044" cy="769620"/>
                        </a:xfrm>
                        <a:prstGeom prst="rect">
                          <a:avLst/>
                        </a:prstGeom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zh-CN" altLang="en-US" sz="1200"/>
                        </a:p>
                      </p:txBody>
                    </p:sp>
                    <p:sp>
                      <p:nvSpPr>
                        <p:cNvPr id="49" name="平行四边形 48">
                          <a:extLst>
                            <a:ext uri="{FF2B5EF4-FFF2-40B4-BE49-F238E27FC236}">
                              <a16:creationId xmlns:a16="http://schemas.microsoft.com/office/drawing/2014/main" id="{FEEE2902-68BD-4670-9D73-D8DD0C442B62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10800000" flipH="1" flipV="1">
                          <a:off x="4088305" y="2191415"/>
                          <a:ext cx="1244478" cy="247648"/>
                        </a:xfrm>
                        <a:prstGeom prst="parallelogram">
                          <a:avLst>
                            <a:gd name="adj" fmla="val 102525"/>
                          </a:avLst>
                        </a:prstGeom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zh-CN" altLang="en-US" sz="1200"/>
                        </a:p>
                      </p:txBody>
                    </p:sp>
                    <p:sp>
                      <p:nvSpPr>
                        <p:cNvPr id="50" name="平行四边形 49">
                          <a:extLst>
                            <a:ext uri="{FF2B5EF4-FFF2-40B4-BE49-F238E27FC236}">
                              <a16:creationId xmlns:a16="http://schemas.microsoft.com/office/drawing/2014/main" id="{485E6FBF-F10B-4BA5-9B05-79C1556DA8CF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10800000" flipH="1" flipV="1">
                          <a:off x="4625336" y="1698429"/>
                          <a:ext cx="1195342" cy="209802"/>
                        </a:xfrm>
                        <a:prstGeom prst="parallelogram">
                          <a:avLst>
                            <a:gd name="adj" fmla="val 102525"/>
                          </a:avLst>
                        </a:prstGeom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zh-CN" altLang="en-US" sz="1200"/>
                        </a:p>
                      </p:txBody>
                    </p:sp>
                  </p:grpSp>
                </p:grpSp>
                <p:grpSp>
                  <p:nvGrpSpPr>
                    <p:cNvPr id="7" name="组合 6">
                      <a:extLst>
                        <a:ext uri="{FF2B5EF4-FFF2-40B4-BE49-F238E27FC236}">
                          <a16:creationId xmlns:a16="http://schemas.microsoft.com/office/drawing/2014/main" id="{2C88BE93-0BE5-4F1A-B75C-555EC055D8D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842744" y="3282902"/>
                      <a:ext cx="791179" cy="692077"/>
                      <a:chOff x="3645894" y="3282902"/>
                      <a:chExt cx="791179" cy="692076"/>
                    </a:xfrm>
                  </p:grpSpPr>
                  <p:sp>
                    <p:nvSpPr>
                      <p:cNvPr id="55" name="箭头: 右 54">
                        <a:extLst>
                          <a:ext uri="{FF2B5EF4-FFF2-40B4-BE49-F238E27FC236}">
                            <a16:creationId xmlns:a16="http://schemas.microsoft.com/office/drawing/2014/main" id="{02621A6A-580B-4DEE-888E-8E986474C44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752850" y="3282902"/>
                        <a:ext cx="606967" cy="184150"/>
                      </a:xfrm>
                      <a:prstGeom prst="rightArrow">
                        <a:avLst/>
                      </a:prstGeom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sz="1200"/>
                      </a:p>
                    </p:txBody>
                  </p:sp>
                  <p:sp>
                    <p:nvSpPr>
                      <p:cNvPr id="56" name="文本框 55">
                        <a:extLst>
                          <a:ext uri="{FF2B5EF4-FFF2-40B4-BE49-F238E27FC236}">
                            <a16:creationId xmlns:a16="http://schemas.microsoft.com/office/drawing/2014/main" id="{38AC6407-733C-4E34-83DF-B0E536F0FC7F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3645894" y="3553834"/>
                        <a:ext cx="791179" cy="421144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r>
                          <a:rPr lang="zh-CN" altLang="en-US" sz="1200" b="1" dirty="0">
                            <a:solidFill>
                              <a:srgbClr val="C00000"/>
                            </a:solidFill>
                          </a:rPr>
                          <a:t>置零</a:t>
                        </a:r>
                      </a:p>
                    </p:txBody>
                  </p:sp>
                </p:grpSp>
                <p:grpSp>
                  <p:nvGrpSpPr>
                    <p:cNvPr id="8" name="组合 7">
                      <a:extLst>
                        <a:ext uri="{FF2B5EF4-FFF2-40B4-BE49-F238E27FC236}">
                          <a16:creationId xmlns:a16="http://schemas.microsoft.com/office/drawing/2014/main" id="{57BA1F16-FDAB-4590-AF8D-FA903779ED3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6355680" y="3243854"/>
                      <a:ext cx="1233223" cy="704092"/>
                      <a:chOff x="6622380" y="3243854"/>
                      <a:chExt cx="1233223" cy="704092"/>
                    </a:xfrm>
                  </p:grpSpPr>
                  <p:sp>
                    <p:nvSpPr>
                      <p:cNvPr id="57" name="箭头: 右 56">
                        <a:extLst>
                          <a:ext uri="{FF2B5EF4-FFF2-40B4-BE49-F238E27FC236}">
                            <a16:creationId xmlns:a16="http://schemas.microsoft.com/office/drawing/2014/main" id="{0244A624-02CD-4B0A-B286-559667DD40F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908318" y="3243854"/>
                        <a:ext cx="606967" cy="184150"/>
                      </a:xfrm>
                      <a:prstGeom prst="rightArrow">
                        <a:avLst/>
                      </a:prstGeom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sz="1200"/>
                      </a:p>
                    </p:txBody>
                  </p:sp>
                  <p:sp>
                    <p:nvSpPr>
                      <p:cNvPr id="59" name="文本框 58">
                        <a:extLst>
                          <a:ext uri="{FF2B5EF4-FFF2-40B4-BE49-F238E27FC236}">
                            <a16:creationId xmlns:a16="http://schemas.microsoft.com/office/drawing/2014/main" id="{D22A6ED9-E1AE-430A-9017-C741E8B5A6EF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6622380" y="3526800"/>
                        <a:ext cx="1233223" cy="421146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r>
                          <a:rPr lang="zh-CN" altLang="en-US" sz="1200" b="1" dirty="0">
                            <a:solidFill>
                              <a:srgbClr val="C00000"/>
                            </a:solidFill>
                          </a:rPr>
                          <a:t>压缩通道</a:t>
                        </a:r>
                      </a:p>
                    </p:txBody>
                  </p:sp>
                </p:grpSp>
                <p:grpSp>
                  <p:nvGrpSpPr>
                    <p:cNvPr id="61" name="组合 60">
                      <a:extLst>
                        <a:ext uri="{FF2B5EF4-FFF2-40B4-BE49-F238E27FC236}">
                          <a16:creationId xmlns:a16="http://schemas.microsoft.com/office/drawing/2014/main" id="{CD5CFB2A-7DC4-483A-BB40-7CCC43A5826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493637" y="1381607"/>
                      <a:ext cx="1738781" cy="3112833"/>
                      <a:chOff x="8287387" y="1381607"/>
                      <a:chExt cx="1738781" cy="3112833"/>
                    </a:xfrm>
                  </p:grpSpPr>
                  <p:sp>
                    <p:nvSpPr>
                      <p:cNvPr id="62" name="文本框 61">
                        <a:extLst>
                          <a:ext uri="{FF2B5EF4-FFF2-40B4-BE49-F238E27FC236}">
                            <a16:creationId xmlns:a16="http://schemas.microsoft.com/office/drawing/2014/main" id="{FD57A393-D0F6-4892-ADA7-0FA40EF2AAD9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9041399" y="4042647"/>
                        <a:ext cx="495301" cy="421146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r>
                          <a:rPr lang="en-US" altLang="zh-CN" sz="1200" b="1" dirty="0"/>
                          <a:t>W</a:t>
                        </a:r>
                        <a:endParaRPr lang="zh-CN" altLang="en-US" sz="1200" b="1" dirty="0"/>
                      </a:p>
                    </p:txBody>
                  </p:sp>
                  <p:sp>
                    <p:nvSpPr>
                      <p:cNvPr id="63" name="文本框 62">
                        <a:extLst>
                          <a:ext uri="{FF2B5EF4-FFF2-40B4-BE49-F238E27FC236}">
                            <a16:creationId xmlns:a16="http://schemas.microsoft.com/office/drawing/2014/main" id="{5ECB5852-F7E4-46A4-9F9B-7E8F2E45A87E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9530867" y="2706273"/>
                        <a:ext cx="495301" cy="421146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r>
                          <a:rPr lang="en-US" altLang="zh-CN" sz="1200" b="1" dirty="0"/>
                          <a:t>H</a:t>
                        </a:r>
                        <a:endParaRPr lang="zh-CN" altLang="en-US" sz="1200" b="1" dirty="0"/>
                      </a:p>
                    </p:txBody>
                  </p:sp>
                  <p:sp>
                    <p:nvSpPr>
                      <p:cNvPr id="64" name="文本框 63">
                        <a:extLst>
                          <a:ext uri="{FF2B5EF4-FFF2-40B4-BE49-F238E27FC236}">
                            <a16:creationId xmlns:a16="http://schemas.microsoft.com/office/drawing/2014/main" id="{D5F5481D-8E3C-4B70-9682-E3F94F791410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8933947" y="1381607"/>
                        <a:ext cx="734115" cy="421146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r>
                          <a:rPr lang="en-US" altLang="zh-CN" sz="1200" b="1" dirty="0"/>
                          <a:t>OC</a:t>
                        </a:r>
                        <a:endParaRPr lang="zh-CN" altLang="en-US" sz="1200" b="1" dirty="0"/>
                      </a:p>
                    </p:txBody>
                  </p:sp>
                  <p:sp>
                    <p:nvSpPr>
                      <p:cNvPr id="65" name="立方体 64">
                        <a:extLst>
                          <a:ext uri="{FF2B5EF4-FFF2-40B4-BE49-F238E27FC236}">
                            <a16:creationId xmlns:a16="http://schemas.microsoft.com/office/drawing/2014/main" id="{7E7234DE-EC61-4AE7-808C-4DCF45828C0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297646" y="1698429"/>
                        <a:ext cx="1233222" cy="2785365"/>
                      </a:xfrm>
                      <a:prstGeom prst="cube">
                        <a:avLst>
                          <a:gd name="adj" fmla="val 60096"/>
                        </a:avLst>
                      </a:prstGeom>
                    </p:spPr>
                    <p:style>
                      <a:lnRef idx="2">
                        <a:schemeClr val="dk1"/>
                      </a:lnRef>
                      <a:fillRef idx="1">
                        <a:schemeClr val="lt1"/>
                      </a:fillRef>
                      <a:effectRef idx="0">
                        <a:schemeClr val="dk1"/>
                      </a:effectRef>
                      <a:fontRef idx="minor">
                        <a:schemeClr val="dk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sz="1200" dirty="0"/>
                      </a:p>
                    </p:txBody>
                  </p:sp>
                  <p:sp>
                    <p:nvSpPr>
                      <p:cNvPr id="66" name="平行四边形 65">
                        <a:extLst>
                          <a:ext uri="{FF2B5EF4-FFF2-40B4-BE49-F238E27FC236}">
                            <a16:creationId xmlns:a16="http://schemas.microsoft.com/office/drawing/2014/main" id="{E596D850-683B-4F3A-8394-577EE005AEA0}"/>
                          </a:ext>
                        </a:extLst>
                      </p:cNvPr>
                      <p:cNvSpPr/>
                      <p:nvPr/>
                    </p:nvSpPr>
                    <p:spPr>
                      <a:xfrm rot="5400000" flipV="1">
                        <a:off x="8407841" y="3850527"/>
                        <a:ext cx="1018887" cy="247648"/>
                      </a:xfrm>
                      <a:prstGeom prst="parallelogram">
                        <a:avLst>
                          <a:gd name="adj" fmla="val 102525"/>
                        </a:avLst>
                      </a:prstGeom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sz="1200"/>
                      </a:p>
                    </p:txBody>
                  </p:sp>
                  <p:sp>
                    <p:nvSpPr>
                      <p:cNvPr id="67" name="平行四边形 66">
                        <a:extLst>
                          <a:ext uri="{FF2B5EF4-FFF2-40B4-BE49-F238E27FC236}">
                            <a16:creationId xmlns:a16="http://schemas.microsoft.com/office/drawing/2014/main" id="{DB7324D6-46AA-4277-BD07-05CA6A7EB52A}"/>
                          </a:ext>
                        </a:extLst>
                      </p:cNvPr>
                      <p:cNvSpPr/>
                      <p:nvPr/>
                    </p:nvSpPr>
                    <p:spPr>
                      <a:xfrm rot="5400000" flipV="1">
                        <a:off x="8915767" y="3333261"/>
                        <a:ext cx="1018887" cy="189487"/>
                      </a:xfrm>
                      <a:prstGeom prst="parallelogram">
                        <a:avLst>
                          <a:gd name="adj" fmla="val 102525"/>
                        </a:avLst>
                      </a:prstGeom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sz="1200"/>
                      </a:p>
                    </p:txBody>
                  </p:sp>
                  <p:sp>
                    <p:nvSpPr>
                      <p:cNvPr id="68" name="平行四边形 67">
                        <a:extLst>
                          <a:ext uri="{FF2B5EF4-FFF2-40B4-BE49-F238E27FC236}">
                            <a16:creationId xmlns:a16="http://schemas.microsoft.com/office/drawing/2014/main" id="{C675C01D-76A2-4731-92B4-09E5E934ADF7}"/>
                          </a:ext>
                        </a:extLst>
                      </p:cNvPr>
                      <p:cNvSpPr/>
                      <p:nvPr/>
                    </p:nvSpPr>
                    <p:spPr>
                      <a:xfrm rot="5400000" flipV="1">
                        <a:off x="8407843" y="2593227"/>
                        <a:ext cx="1018886" cy="247650"/>
                      </a:xfrm>
                      <a:prstGeom prst="parallelogram">
                        <a:avLst>
                          <a:gd name="adj" fmla="val 95794"/>
                        </a:avLst>
                      </a:prstGeom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sz="1200"/>
                      </a:p>
                    </p:txBody>
                  </p:sp>
                  <p:sp>
                    <p:nvSpPr>
                      <p:cNvPr id="69" name="平行四边形 68">
                        <a:extLst>
                          <a:ext uri="{FF2B5EF4-FFF2-40B4-BE49-F238E27FC236}">
                            <a16:creationId xmlns:a16="http://schemas.microsoft.com/office/drawing/2014/main" id="{D18681F2-6238-4296-AB99-B765336A0A62}"/>
                          </a:ext>
                        </a:extLst>
                      </p:cNvPr>
                      <p:cNvSpPr/>
                      <p:nvPr/>
                    </p:nvSpPr>
                    <p:spPr>
                      <a:xfrm rot="5400000" flipV="1">
                        <a:off x="8915767" y="2129301"/>
                        <a:ext cx="1018887" cy="189487"/>
                      </a:xfrm>
                      <a:prstGeom prst="parallelogram">
                        <a:avLst>
                          <a:gd name="adj" fmla="val 102525"/>
                        </a:avLst>
                      </a:prstGeom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sz="1200"/>
                      </a:p>
                    </p:txBody>
                  </p:sp>
                  <p:sp>
                    <p:nvSpPr>
                      <p:cNvPr id="70" name="矩形 69">
                        <a:extLst>
                          <a:ext uri="{FF2B5EF4-FFF2-40B4-BE49-F238E27FC236}">
                            <a16:creationId xmlns:a16="http://schemas.microsoft.com/office/drawing/2014/main" id="{8CDFBFDC-5687-455E-93C3-109FD6346DB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287387" y="2446020"/>
                        <a:ext cx="513925" cy="769620"/>
                      </a:xfrm>
                      <a:prstGeom prst="rect">
                        <a:avLst/>
                      </a:prstGeom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sz="1200"/>
                      </a:p>
                    </p:txBody>
                  </p:sp>
                  <p:sp>
                    <p:nvSpPr>
                      <p:cNvPr id="71" name="矩形 70">
                        <a:extLst>
                          <a:ext uri="{FF2B5EF4-FFF2-40B4-BE49-F238E27FC236}">
                            <a16:creationId xmlns:a16="http://schemas.microsoft.com/office/drawing/2014/main" id="{522370EF-E0D5-4DD0-A71A-1D33715A0A1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297645" y="3724820"/>
                        <a:ext cx="507575" cy="769620"/>
                      </a:xfrm>
                      <a:prstGeom prst="rect">
                        <a:avLst/>
                      </a:prstGeom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sz="1200"/>
                      </a:p>
                    </p:txBody>
                  </p:sp>
                  <p:sp>
                    <p:nvSpPr>
                      <p:cNvPr id="72" name="平行四边形 71">
                        <a:extLst>
                          <a:ext uri="{FF2B5EF4-FFF2-40B4-BE49-F238E27FC236}">
                            <a16:creationId xmlns:a16="http://schemas.microsoft.com/office/drawing/2014/main" id="{A55E21C1-51A2-4BC8-B793-80C458EB26FA}"/>
                          </a:ext>
                        </a:extLst>
                      </p:cNvPr>
                      <p:cNvSpPr/>
                      <p:nvPr/>
                    </p:nvSpPr>
                    <p:spPr>
                      <a:xfrm rot="10800000" flipH="1" flipV="1">
                        <a:off x="8305635" y="2155733"/>
                        <a:ext cx="749886" cy="264203"/>
                      </a:xfrm>
                      <a:prstGeom prst="parallelogram">
                        <a:avLst>
                          <a:gd name="adj" fmla="val 102525"/>
                        </a:avLst>
                      </a:prstGeom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sz="1200"/>
                      </a:p>
                    </p:txBody>
                  </p:sp>
                  <p:sp>
                    <p:nvSpPr>
                      <p:cNvPr id="73" name="平行四边形 72">
                        <a:extLst>
                          <a:ext uri="{FF2B5EF4-FFF2-40B4-BE49-F238E27FC236}">
                            <a16:creationId xmlns:a16="http://schemas.microsoft.com/office/drawing/2014/main" id="{93349526-4FB8-45E8-8C10-272880A0E45B}"/>
                          </a:ext>
                        </a:extLst>
                      </p:cNvPr>
                      <p:cNvSpPr/>
                      <p:nvPr/>
                    </p:nvSpPr>
                    <p:spPr>
                      <a:xfrm rot="10800000" flipH="1" flipV="1">
                        <a:off x="8801312" y="1698429"/>
                        <a:ext cx="734116" cy="209802"/>
                      </a:xfrm>
                      <a:prstGeom prst="parallelogram">
                        <a:avLst>
                          <a:gd name="adj" fmla="val 102525"/>
                        </a:avLst>
                      </a:prstGeom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sz="1200"/>
                      </a:p>
                    </p:txBody>
                  </p:sp>
                </p:grpSp>
              </p:grpSp>
              <p:sp>
                <p:nvSpPr>
                  <p:cNvPr id="87" name="立方体 86">
                    <a:extLst>
                      <a:ext uri="{FF2B5EF4-FFF2-40B4-BE49-F238E27FC236}">
                        <a16:creationId xmlns:a16="http://schemas.microsoft.com/office/drawing/2014/main" id="{74716892-7653-4D80-9374-B1671F32E378}"/>
                      </a:ext>
                    </a:extLst>
                  </p:cNvPr>
                  <p:cNvSpPr/>
                  <p:nvPr/>
                </p:nvSpPr>
                <p:spPr>
                  <a:xfrm>
                    <a:off x="891149" y="3183508"/>
                    <a:ext cx="1141474" cy="1838913"/>
                  </a:xfrm>
                  <a:prstGeom prst="cube">
                    <a:avLst>
                      <a:gd name="adj" fmla="val 43110"/>
                    </a:avLst>
                  </a:prstGeom>
                  <a:solidFill>
                    <a:schemeClr val="accent1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1200" dirty="0"/>
                  </a:p>
                </p:txBody>
              </p:sp>
              <p:sp>
                <p:nvSpPr>
                  <p:cNvPr id="10" name="箭头: 右 9">
                    <a:extLst>
                      <a:ext uri="{FF2B5EF4-FFF2-40B4-BE49-F238E27FC236}">
                        <a16:creationId xmlns:a16="http://schemas.microsoft.com/office/drawing/2014/main" id="{AF695435-A80C-4F1A-BC96-188D55EF6C84}"/>
                      </a:ext>
                    </a:extLst>
                  </p:cNvPr>
                  <p:cNvSpPr/>
                  <p:nvPr/>
                </p:nvSpPr>
                <p:spPr>
                  <a:xfrm rot="18917328">
                    <a:off x="1549877" y="2679856"/>
                    <a:ext cx="673059" cy="206311"/>
                  </a:xfrm>
                  <a:prstGeom prst="rightArrow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93" name="箭头: 右 92">
                    <a:extLst>
                      <a:ext uri="{FF2B5EF4-FFF2-40B4-BE49-F238E27FC236}">
                        <a16:creationId xmlns:a16="http://schemas.microsoft.com/office/drawing/2014/main" id="{470FECC9-2A87-4F59-ACB0-449382D403FC}"/>
                      </a:ext>
                    </a:extLst>
                  </p:cNvPr>
                  <p:cNvSpPr/>
                  <p:nvPr/>
                </p:nvSpPr>
                <p:spPr>
                  <a:xfrm rot="3019543">
                    <a:off x="6759192" y="2657715"/>
                    <a:ext cx="581601" cy="206311"/>
                  </a:xfrm>
                  <a:prstGeom prst="rightArrow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11" name="文本框 10">
                    <a:extLst>
                      <a:ext uri="{FF2B5EF4-FFF2-40B4-BE49-F238E27FC236}">
                        <a16:creationId xmlns:a16="http://schemas.microsoft.com/office/drawing/2014/main" id="{2BC49910-0161-484A-95FC-13EF20C98D09}"/>
                      </a:ext>
                    </a:extLst>
                  </p:cNvPr>
                  <p:cNvSpPr txBox="1"/>
                  <p:nvPr/>
                </p:nvSpPr>
                <p:spPr>
                  <a:xfrm>
                    <a:off x="1332417" y="2390782"/>
                    <a:ext cx="768350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b="1" dirty="0"/>
                      <a:t>FFT</a:t>
                    </a:r>
                    <a:endParaRPr lang="zh-CN" altLang="en-US" b="1" dirty="0"/>
                  </a:p>
                </p:txBody>
              </p:sp>
              <p:sp>
                <p:nvSpPr>
                  <p:cNvPr id="94" name="文本框 93">
                    <a:extLst>
                      <a:ext uri="{FF2B5EF4-FFF2-40B4-BE49-F238E27FC236}">
                        <a16:creationId xmlns:a16="http://schemas.microsoft.com/office/drawing/2014/main" id="{FF3386B1-6BE3-48E4-B1C9-CCB1C32193BF}"/>
                      </a:ext>
                    </a:extLst>
                  </p:cNvPr>
                  <p:cNvSpPr txBox="1"/>
                  <p:nvPr/>
                </p:nvSpPr>
                <p:spPr>
                  <a:xfrm>
                    <a:off x="7174097" y="2386822"/>
                    <a:ext cx="768350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b="1" dirty="0" err="1"/>
                      <a:t>iFFT</a:t>
                    </a:r>
                    <a:endParaRPr lang="zh-CN" altLang="en-US" b="1" dirty="0"/>
                  </a:p>
                </p:txBody>
              </p:sp>
              <p:sp>
                <p:nvSpPr>
                  <p:cNvPr id="95" name="立方体 94">
                    <a:extLst>
                      <a:ext uri="{FF2B5EF4-FFF2-40B4-BE49-F238E27FC236}">
                        <a16:creationId xmlns:a16="http://schemas.microsoft.com/office/drawing/2014/main" id="{9959BD50-A1FC-4894-AC73-E87C2A705C32}"/>
                      </a:ext>
                    </a:extLst>
                  </p:cNvPr>
                  <p:cNvSpPr/>
                  <p:nvPr/>
                </p:nvSpPr>
                <p:spPr>
                  <a:xfrm>
                    <a:off x="6769304" y="3128008"/>
                    <a:ext cx="809586" cy="1832009"/>
                  </a:xfrm>
                  <a:prstGeom prst="cube">
                    <a:avLst>
                      <a:gd name="adj" fmla="val 60096"/>
                    </a:avLst>
                  </a:prstGeom>
                  <a:solidFill>
                    <a:schemeClr val="accent1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1200" dirty="0"/>
                  </a:p>
                </p:txBody>
              </p:sp>
              <p:sp>
                <p:nvSpPr>
                  <p:cNvPr id="14" name="文本框 13">
                    <a:extLst>
                      <a:ext uri="{FF2B5EF4-FFF2-40B4-BE49-F238E27FC236}">
                        <a16:creationId xmlns:a16="http://schemas.microsoft.com/office/drawing/2014/main" id="{E647A159-6EB5-4D02-AA37-394F1027428F}"/>
                      </a:ext>
                    </a:extLst>
                  </p:cNvPr>
                  <p:cNvSpPr txBox="1"/>
                  <p:nvPr/>
                </p:nvSpPr>
                <p:spPr>
                  <a:xfrm>
                    <a:off x="873952" y="5493907"/>
                    <a:ext cx="2117548" cy="64633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zh-CN" altLang="en-US" dirty="0"/>
                      <a:t>输入</a:t>
                    </a:r>
                    <a:br>
                      <a:rPr lang="en-US" altLang="zh-CN" dirty="0"/>
                    </a:br>
                    <a:r>
                      <a:rPr lang="en-US" altLang="zh-CN" dirty="0"/>
                      <a:t>x (B, IC, H, W)</a:t>
                    </a:r>
                    <a:endParaRPr lang="zh-CN" altLang="en-US" dirty="0"/>
                  </a:p>
                </p:txBody>
              </p:sp>
              <p:sp>
                <p:nvSpPr>
                  <p:cNvPr id="2" name="箭头: 右 1">
                    <a:extLst>
                      <a:ext uri="{FF2B5EF4-FFF2-40B4-BE49-F238E27FC236}">
                        <a16:creationId xmlns:a16="http://schemas.microsoft.com/office/drawing/2014/main" id="{1EB36E99-3DC7-4C3F-8A10-D3741B4D3C5F}"/>
                      </a:ext>
                    </a:extLst>
                  </p:cNvPr>
                  <p:cNvSpPr/>
                  <p:nvPr/>
                </p:nvSpPr>
                <p:spPr>
                  <a:xfrm>
                    <a:off x="2257544" y="4088866"/>
                    <a:ext cx="3036571" cy="186526"/>
                  </a:xfrm>
                  <a:prstGeom prst="rightArrow">
                    <a:avLst>
                      <a:gd name="adj1" fmla="val 50000"/>
                      <a:gd name="adj2" fmla="val 124896"/>
                    </a:avLst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3" name="文本框 12">
                    <a:extLst>
                      <a:ext uri="{FF2B5EF4-FFF2-40B4-BE49-F238E27FC236}">
                        <a16:creationId xmlns:a16="http://schemas.microsoft.com/office/drawing/2014/main" id="{3DB8BBC9-5CAA-4C8B-A734-0D7E4D45ED06}"/>
                      </a:ext>
                    </a:extLst>
                  </p:cNvPr>
                  <p:cNvSpPr txBox="1"/>
                  <p:nvPr/>
                </p:nvSpPr>
                <p:spPr>
                  <a:xfrm>
                    <a:off x="2810214" y="4239291"/>
                    <a:ext cx="2117548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b="1" dirty="0"/>
                      <a:t>1x1 Conv 2d</a:t>
                    </a:r>
                    <a:endParaRPr lang="zh-CN" altLang="en-US" b="1" dirty="0"/>
                  </a:p>
                </p:txBody>
              </p:sp>
              <p:sp>
                <p:nvSpPr>
                  <p:cNvPr id="15" name="文本框 14">
                    <a:extLst>
                      <a:ext uri="{FF2B5EF4-FFF2-40B4-BE49-F238E27FC236}">
                        <a16:creationId xmlns:a16="http://schemas.microsoft.com/office/drawing/2014/main" id="{282E47A7-EBE1-4642-9D30-43DD91DCB475}"/>
                      </a:ext>
                    </a:extLst>
                  </p:cNvPr>
                  <p:cNvSpPr txBox="1"/>
                  <p:nvPr/>
                </p:nvSpPr>
                <p:spPr>
                  <a:xfrm>
                    <a:off x="3191849" y="4602709"/>
                    <a:ext cx="1435349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zh-CN" altLang="en-US" dirty="0"/>
                      <a:t>空间连接</a:t>
                    </a:r>
                  </a:p>
                </p:txBody>
              </p:sp>
              <p:sp>
                <p:nvSpPr>
                  <p:cNvPr id="74" name="立方体 73">
                    <a:extLst>
                      <a:ext uri="{FF2B5EF4-FFF2-40B4-BE49-F238E27FC236}">
                        <a16:creationId xmlns:a16="http://schemas.microsoft.com/office/drawing/2014/main" id="{2B6B8888-C4ED-4616-914F-C26CF799F0D1}"/>
                      </a:ext>
                    </a:extLst>
                  </p:cNvPr>
                  <p:cNvSpPr/>
                  <p:nvPr/>
                </p:nvSpPr>
                <p:spPr>
                  <a:xfrm>
                    <a:off x="5555582" y="3172861"/>
                    <a:ext cx="809586" cy="1832009"/>
                  </a:xfrm>
                  <a:prstGeom prst="cube">
                    <a:avLst>
                      <a:gd name="adj" fmla="val 60096"/>
                    </a:avLst>
                  </a:prstGeom>
                  <a:solidFill>
                    <a:schemeClr val="accent1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1200" dirty="0"/>
                  </a:p>
                </p:txBody>
              </p:sp>
              <p:sp>
                <p:nvSpPr>
                  <p:cNvPr id="16" name="加号 15">
                    <a:extLst>
                      <a:ext uri="{FF2B5EF4-FFF2-40B4-BE49-F238E27FC236}">
                        <a16:creationId xmlns:a16="http://schemas.microsoft.com/office/drawing/2014/main" id="{D8571A89-525D-416D-B91D-BE1E8968B56F}"/>
                      </a:ext>
                    </a:extLst>
                  </p:cNvPr>
                  <p:cNvSpPr/>
                  <p:nvPr/>
                </p:nvSpPr>
                <p:spPr>
                  <a:xfrm>
                    <a:off x="6426346" y="3988812"/>
                    <a:ext cx="247307" cy="240231"/>
                  </a:xfrm>
                  <a:prstGeom prst="mathPlus">
                    <a:avLst/>
                  </a:prstGeom>
                </p:spPr>
                <p:style>
                  <a:lnRef idx="2">
                    <a:schemeClr val="dk1">
                      <a:shade val="50000"/>
                    </a:schemeClr>
                  </a:lnRef>
                  <a:fillRef idx="1">
                    <a:schemeClr val="dk1"/>
                  </a:fillRef>
                  <a:effectRef idx="0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>
                      <a:ln w="0"/>
                      <a:solidFill>
                        <a:schemeClr val="tx1"/>
                      </a:solidFill>
                      <a:effectLst>
                        <a:outerShdw blurRad="38100" dist="19050" dir="2700000" algn="tl" rotWithShape="0">
                          <a:schemeClr val="dk1">
                            <a:alpha val="40000"/>
                          </a:schemeClr>
                        </a:outerShdw>
                      </a:effectLst>
                    </a:endParaRPr>
                  </a:p>
                </p:txBody>
              </p:sp>
              <p:sp>
                <p:nvSpPr>
                  <p:cNvPr id="75" name="箭头: 右 74">
                    <a:extLst>
                      <a:ext uri="{FF2B5EF4-FFF2-40B4-BE49-F238E27FC236}">
                        <a16:creationId xmlns:a16="http://schemas.microsoft.com/office/drawing/2014/main" id="{D15656EE-75FE-4300-A1A4-2EF1D3FE213C}"/>
                      </a:ext>
                    </a:extLst>
                  </p:cNvPr>
                  <p:cNvSpPr/>
                  <p:nvPr/>
                </p:nvSpPr>
                <p:spPr>
                  <a:xfrm>
                    <a:off x="7782601" y="4052765"/>
                    <a:ext cx="459699" cy="186526"/>
                  </a:xfrm>
                  <a:prstGeom prst="rightArrow">
                    <a:avLst>
                      <a:gd name="adj1" fmla="val 50000"/>
                      <a:gd name="adj2" fmla="val 124896"/>
                    </a:avLst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7" name="文本框 16">
                    <a:extLst>
                      <a:ext uri="{FF2B5EF4-FFF2-40B4-BE49-F238E27FC236}">
                        <a16:creationId xmlns:a16="http://schemas.microsoft.com/office/drawing/2014/main" id="{78D7FA10-E449-447B-874A-D2F3A11D5896}"/>
                      </a:ext>
                    </a:extLst>
                  </p:cNvPr>
                  <p:cNvSpPr txBox="1"/>
                  <p:nvPr/>
                </p:nvSpPr>
                <p:spPr>
                  <a:xfrm>
                    <a:off x="8331200" y="3858963"/>
                    <a:ext cx="1244600" cy="64633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zh-CN" altLang="en-US" b="1" dirty="0"/>
                      <a:t>激活函数</a:t>
                    </a:r>
                    <a:br>
                      <a:rPr lang="en-US" altLang="zh-CN" b="1" dirty="0"/>
                    </a:br>
                    <a:r>
                      <a:rPr lang="en-US" altLang="zh-CN" b="1" dirty="0" err="1"/>
                      <a:t>GeLu</a:t>
                    </a:r>
                    <a:endParaRPr lang="zh-CN" altLang="en-US" b="1" dirty="0"/>
                  </a:p>
                </p:txBody>
              </p:sp>
              <p:sp>
                <p:nvSpPr>
                  <p:cNvPr id="76" name="箭头: 右 75">
                    <a:extLst>
                      <a:ext uri="{FF2B5EF4-FFF2-40B4-BE49-F238E27FC236}">
                        <a16:creationId xmlns:a16="http://schemas.microsoft.com/office/drawing/2014/main" id="{52465B31-373F-4FC7-9AD0-344E11C9794C}"/>
                      </a:ext>
                    </a:extLst>
                  </p:cNvPr>
                  <p:cNvSpPr/>
                  <p:nvPr/>
                </p:nvSpPr>
                <p:spPr>
                  <a:xfrm>
                    <a:off x="9664700" y="4052765"/>
                    <a:ext cx="459699" cy="186526"/>
                  </a:xfrm>
                  <a:prstGeom prst="rightArrow">
                    <a:avLst>
                      <a:gd name="adj1" fmla="val 50000"/>
                      <a:gd name="adj2" fmla="val 124896"/>
                    </a:avLst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7" name="立方体 76">
                    <a:extLst>
                      <a:ext uri="{FF2B5EF4-FFF2-40B4-BE49-F238E27FC236}">
                        <a16:creationId xmlns:a16="http://schemas.microsoft.com/office/drawing/2014/main" id="{56F1F576-787F-4393-9CDB-FEDCF1636264}"/>
                      </a:ext>
                    </a:extLst>
                  </p:cNvPr>
                  <p:cNvSpPr/>
                  <p:nvPr/>
                </p:nvSpPr>
                <p:spPr>
                  <a:xfrm>
                    <a:off x="10319465" y="3128008"/>
                    <a:ext cx="809586" cy="1832009"/>
                  </a:xfrm>
                  <a:prstGeom prst="cube">
                    <a:avLst>
                      <a:gd name="adj" fmla="val 60096"/>
                    </a:avLst>
                  </a:prstGeom>
                  <a:solidFill>
                    <a:schemeClr val="accent1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1200" dirty="0"/>
                  </a:p>
                </p:txBody>
              </p:sp>
            </p:grpSp>
          </p:grpSp>
          <p:sp>
            <p:nvSpPr>
              <p:cNvPr id="79" name="文本框 78">
                <a:extLst>
                  <a:ext uri="{FF2B5EF4-FFF2-40B4-BE49-F238E27FC236}">
                    <a16:creationId xmlns:a16="http://schemas.microsoft.com/office/drawing/2014/main" id="{833DEB2B-15AD-4378-8F63-42D2F57BE3FF}"/>
                  </a:ext>
                </a:extLst>
              </p:cNvPr>
              <p:cNvSpPr txBox="1"/>
              <p:nvPr/>
            </p:nvSpPr>
            <p:spPr>
              <a:xfrm>
                <a:off x="6044426" y="3236423"/>
                <a:ext cx="48193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b="1" dirty="0"/>
                  <a:t>OC</a:t>
                </a:r>
                <a:endParaRPr lang="zh-CN" altLang="en-US" sz="1200" b="1" dirty="0"/>
              </a:p>
            </p:txBody>
          </p:sp>
        </p:grpSp>
        <p:sp>
          <p:nvSpPr>
            <p:cNvPr id="80" name="文本框 79">
              <a:extLst>
                <a:ext uri="{FF2B5EF4-FFF2-40B4-BE49-F238E27FC236}">
                  <a16:creationId xmlns:a16="http://schemas.microsoft.com/office/drawing/2014/main" id="{C024FEF2-4CE6-46D7-B26F-A80EAF3DB062}"/>
                </a:ext>
              </a:extLst>
            </p:cNvPr>
            <p:cNvSpPr txBox="1"/>
            <p:nvPr/>
          </p:nvSpPr>
          <p:spPr>
            <a:xfrm>
              <a:off x="1634540" y="3286798"/>
              <a:ext cx="32515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/>
                <a:t>IC</a:t>
              </a:r>
              <a:endParaRPr lang="zh-CN" altLang="en-US" sz="1200" b="1" dirty="0"/>
            </a:p>
          </p:txBody>
        </p:sp>
        <p:sp>
          <p:nvSpPr>
            <p:cNvPr id="81" name="文本框 80">
              <a:extLst>
                <a:ext uri="{FF2B5EF4-FFF2-40B4-BE49-F238E27FC236}">
                  <a16:creationId xmlns:a16="http://schemas.microsoft.com/office/drawing/2014/main" id="{48E544E1-4571-4522-B9AE-006B219FE9AD}"/>
                </a:ext>
              </a:extLst>
            </p:cNvPr>
            <p:cNvSpPr txBox="1"/>
            <p:nvPr/>
          </p:nvSpPr>
          <p:spPr>
            <a:xfrm>
              <a:off x="7258843" y="3199056"/>
              <a:ext cx="48193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/>
                <a:t>OC</a:t>
              </a:r>
              <a:endParaRPr lang="zh-CN" altLang="en-US" sz="1200" b="1" dirty="0"/>
            </a:p>
          </p:txBody>
        </p:sp>
        <p:sp>
          <p:nvSpPr>
            <p:cNvPr id="82" name="文本框 81">
              <a:extLst>
                <a:ext uri="{FF2B5EF4-FFF2-40B4-BE49-F238E27FC236}">
                  <a16:creationId xmlns:a16="http://schemas.microsoft.com/office/drawing/2014/main" id="{EA9708E9-5722-4C8B-A18B-5F2462CD4A5B}"/>
                </a:ext>
              </a:extLst>
            </p:cNvPr>
            <p:cNvSpPr txBox="1"/>
            <p:nvPr/>
          </p:nvSpPr>
          <p:spPr>
            <a:xfrm>
              <a:off x="10805526" y="3208514"/>
              <a:ext cx="48193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/>
                <a:t>OC</a:t>
              </a:r>
              <a:endParaRPr lang="zh-CN" altLang="en-US" sz="1200" b="1" dirty="0"/>
            </a:p>
          </p:txBody>
        </p:sp>
        <p:sp>
          <p:nvSpPr>
            <p:cNvPr id="83" name="文本框 82">
              <a:extLst>
                <a:ext uri="{FF2B5EF4-FFF2-40B4-BE49-F238E27FC236}">
                  <a16:creationId xmlns:a16="http://schemas.microsoft.com/office/drawing/2014/main" id="{8D57930A-AC46-437A-A343-32CDA8F3610A}"/>
                </a:ext>
              </a:extLst>
            </p:cNvPr>
            <p:cNvSpPr txBox="1"/>
            <p:nvPr/>
          </p:nvSpPr>
          <p:spPr>
            <a:xfrm>
              <a:off x="1761939" y="5017011"/>
              <a:ext cx="32515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/>
                <a:t>W</a:t>
              </a:r>
              <a:endParaRPr lang="zh-CN" altLang="en-US" sz="1200" b="1" dirty="0"/>
            </a:p>
          </p:txBody>
        </p:sp>
        <p:sp>
          <p:nvSpPr>
            <p:cNvPr id="84" name="文本框 83">
              <a:extLst>
                <a:ext uri="{FF2B5EF4-FFF2-40B4-BE49-F238E27FC236}">
                  <a16:creationId xmlns:a16="http://schemas.microsoft.com/office/drawing/2014/main" id="{1D5D52C5-56A7-4EE8-A364-C5C231B89FA6}"/>
                </a:ext>
              </a:extLst>
            </p:cNvPr>
            <p:cNvSpPr txBox="1"/>
            <p:nvPr/>
          </p:nvSpPr>
          <p:spPr>
            <a:xfrm>
              <a:off x="2083266" y="4138043"/>
              <a:ext cx="32515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/>
                <a:t>H</a:t>
              </a:r>
              <a:endParaRPr lang="zh-CN" altLang="en-US" sz="1200" b="1" dirty="0"/>
            </a:p>
          </p:txBody>
        </p:sp>
        <p:sp>
          <p:nvSpPr>
            <p:cNvPr id="85" name="文本框 84">
              <a:extLst>
                <a:ext uri="{FF2B5EF4-FFF2-40B4-BE49-F238E27FC236}">
                  <a16:creationId xmlns:a16="http://schemas.microsoft.com/office/drawing/2014/main" id="{A80A3D81-ECD7-4657-BDDB-FC6C9A729471}"/>
                </a:ext>
              </a:extLst>
            </p:cNvPr>
            <p:cNvSpPr txBox="1"/>
            <p:nvPr/>
          </p:nvSpPr>
          <p:spPr>
            <a:xfrm>
              <a:off x="10904882" y="5015903"/>
              <a:ext cx="32515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/>
                <a:t>W</a:t>
              </a:r>
              <a:endParaRPr lang="zh-CN" altLang="en-US" sz="1200" b="1" dirty="0"/>
            </a:p>
          </p:txBody>
        </p:sp>
        <p:sp>
          <p:nvSpPr>
            <p:cNvPr id="86" name="文本框 85">
              <a:extLst>
                <a:ext uri="{FF2B5EF4-FFF2-40B4-BE49-F238E27FC236}">
                  <a16:creationId xmlns:a16="http://schemas.microsoft.com/office/drawing/2014/main" id="{3167C0C1-8E90-4C74-8CD3-3895C035D58C}"/>
                </a:ext>
              </a:extLst>
            </p:cNvPr>
            <p:cNvSpPr txBox="1"/>
            <p:nvPr/>
          </p:nvSpPr>
          <p:spPr>
            <a:xfrm>
              <a:off x="11226209" y="4136935"/>
              <a:ext cx="32515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/>
                <a:t>H</a:t>
              </a:r>
              <a:endParaRPr lang="zh-CN" altLang="en-US" sz="12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74611534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B106840B-AF03-49F7-B778-3DC70955B1D8}"/>
              </a:ext>
            </a:extLst>
          </p:cNvPr>
          <p:cNvSpPr txBox="1"/>
          <p:nvPr/>
        </p:nvSpPr>
        <p:spPr>
          <a:xfrm>
            <a:off x="225630" y="95003"/>
            <a:ext cx="57255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傅里叶神经算子 </a:t>
            </a:r>
            <a:r>
              <a:rPr lang="en-US" altLang="zh-CN" sz="2400" b="1" dirty="0"/>
              <a:t>FNO</a:t>
            </a:r>
            <a:endParaRPr lang="zh-CN" altLang="en-US" sz="2400" b="1" dirty="0"/>
          </a:p>
        </p:txBody>
      </p: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EC025214-AA47-4A5B-9979-D8C4DC6E6329}"/>
              </a:ext>
            </a:extLst>
          </p:cNvPr>
          <p:cNvGrpSpPr/>
          <p:nvPr/>
        </p:nvGrpSpPr>
        <p:grpSpPr>
          <a:xfrm>
            <a:off x="899717" y="1424041"/>
            <a:ext cx="10313366" cy="3246853"/>
            <a:chOff x="145503" y="2151555"/>
            <a:chExt cx="10313366" cy="3246853"/>
          </a:xfrm>
        </p:grpSpPr>
        <p:sp>
          <p:nvSpPr>
            <p:cNvPr id="79" name="立方体 78">
              <a:extLst>
                <a:ext uri="{FF2B5EF4-FFF2-40B4-BE49-F238E27FC236}">
                  <a16:creationId xmlns:a16="http://schemas.microsoft.com/office/drawing/2014/main" id="{A0688F90-BA72-4D5D-B561-9421037F83C1}"/>
                </a:ext>
              </a:extLst>
            </p:cNvPr>
            <p:cNvSpPr/>
            <p:nvPr/>
          </p:nvSpPr>
          <p:spPr>
            <a:xfrm>
              <a:off x="470657" y="2395924"/>
              <a:ext cx="737419" cy="1838913"/>
            </a:xfrm>
            <a:prstGeom prst="cube">
              <a:avLst>
                <a:gd name="adj" fmla="val 4311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/>
            </a:p>
          </p:txBody>
        </p:sp>
        <p:sp>
          <p:nvSpPr>
            <p:cNvPr id="80" name="立方体 79">
              <a:extLst>
                <a:ext uri="{FF2B5EF4-FFF2-40B4-BE49-F238E27FC236}">
                  <a16:creationId xmlns:a16="http://schemas.microsoft.com/office/drawing/2014/main" id="{BA483C3F-C898-4299-BB72-85738328FE1A}"/>
                </a:ext>
              </a:extLst>
            </p:cNvPr>
            <p:cNvSpPr/>
            <p:nvPr/>
          </p:nvSpPr>
          <p:spPr>
            <a:xfrm>
              <a:off x="2254296" y="2428554"/>
              <a:ext cx="1319208" cy="1838913"/>
            </a:xfrm>
            <a:prstGeom prst="cube">
              <a:avLst>
                <a:gd name="adj" fmla="val 23884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/>
            </a:p>
          </p:txBody>
        </p:sp>
        <p:sp>
          <p:nvSpPr>
            <p:cNvPr id="81" name="文本框 80">
              <a:extLst>
                <a:ext uri="{FF2B5EF4-FFF2-40B4-BE49-F238E27FC236}">
                  <a16:creationId xmlns:a16="http://schemas.microsoft.com/office/drawing/2014/main" id="{C35CD86A-F734-4653-89D4-6FF51864AC26}"/>
                </a:ext>
              </a:extLst>
            </p:cNvPr>
            <p:cNvSpPr txBox="1"/>
            <p:nvPr/>
          </p:nvSpPr>
          <p:spPr>
            <a:xfrm>
              <a:off x="839366" y="2151555"/>
              <a:ext cx="32515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/>
                <a:t>C</a:t>
              </a:r>
              <a:endParaRPr lang="zh-CN" altLang="en-US" sz="1200" b="1" dirty="0"/>
            </a:p>
          </p:txBody>
        </p:sp>
        <p:sp>
          <p:nvSpPr>
            <p:cNvPr id="82" name="文本框 81">
              <a:extLst>
                <a:ext uri="{FF2B5EF4-FFF2-40B4-BE49-F238E27FC236}">
                  <a16:creationId xmlns:a16="http://schemas.microsoft.com/office/drawing/2014/main" id="{E603C989-FC9E-450A-BB7A-8558345C1B92}"/>
                </a:ext>
              </a:extLst>
            </p:cNvPr>
            <p:cNvSpPr txBox="1"/>
            <p:nvPr/>
          </p:nvSpPr>
          <p:spPr>
            <a:xfrm>
              <a:off x="1065642" y="4096336"/>
              <a:ext cx="19775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/>
                <a:t>W</a:t>
              </a:r>
              <a:endParaRPr lang="zh-CN" altLang="en-US" sz="1200" b="1" dirty="0"/>
            </a:p>
          </p:txBody>
        </p:sp>
        <p:sp>
          <p:nvSpPr>
            <p:cNvPr id="83" name="文本框 82">
              <a:extLst>
                <a:ext uri="{FF2B5EF4-FFF2-40B4-BE49-F238E27FC236}">
                  <a16:creationId xmlns:a16="http://schemas.microsoft.com/office/drawing/2014/main" id="{FAB09E4E-BAE3-4E60-83DB-DA0C129F58CA}"/>
                </a:ext>
              </a:extLst>
            </p:cNvPr>
            <p:cNvSpPr txBox="1"/>
            <p:nvPr/>
          </p:nvSpPr>
          <p:spPr>
            <a:xfrm>
              <a:off x="145503" y="3290500"/>
              <a:ext cx="32515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/>
                <a:t>H</a:t>
              </a:r>
              <a:endParaRPr lang="zh-CN" altLang="en-US" sz="1200" b="1" dirty="0"/>
            </a:p>
          </p:txBody>
        </p:sp>
        <p:sp>
          <p:nvSpPr>
            <p:cNvPr id="12" name="箭头: 右 11">
              <a:extLst>
                <a:ext uri="{FF2B5EF4-FFF2-40B4-BE49-F238E27FC236}">
                  <a16:creationId xmlns:a16="http://schemas.microsoft.com/office/drawing/2014/main" id="{2B194746-95C7-4732-AEF1-CADFA4D91739}"/>
                </a:ext>
              </a:extLst>
            </p:cNvPr>
            <p:cNvSpPr/>
            <p:nvPr/>
          </p:nvSpPr>
          <p:spPr>
            <a:xfrm>
              <a:off x="1462794" y="3384724"/>
              <a:ext cx="560654" cy="252120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4" name="文本框 83">
              <a:extLst>
                <a:ext uri="{FF2B5EF4-FFF2-40B4-BE49-F238E27FC236}">
                  <a16:creationId xmlns:a16="http://schemas.microsoft.com/office/drawing/2014/main" id="{DD425CF7-52CB-48F1-AE0A-9F40F48D14DA}"/>
                </a:ext>
              </a:extLst>
            </p:cNvPr>
            <p:cNvSpPr txBox="1"/>
            <p:nvPr/>
          </p:nvSpPr>
          <p:spPr>
            <a:xfrm>
              <a:off x="2781948" y="2188002"/>
              <a:ext cx="79799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/>
                <a:t>High C</a:t>
              </a:r>
              <a:endParaRPr lang="zh-CN" altLang="en-US" sz="1200" b="1" dirty="0"/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2EE76D14-6B8A-4861-9792-B9A652A7851C}"/>
                </a:ext>
              </a:extLst>
            </p:cNvPr>
            <p:cNvSpPr txBox="1"/>
            <p:nvPr/>
          </p:nvSpPr>
          <p:spPr>
            <a:xfrm>
              <a:off x="1260219" y="3007602"/>
              <a:ext cx="91048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FC</a:t>
              </a:r>
              <a:r>
                <a:rPr lang="zh-CN" altLang="en-US" b="1" dirty="0"/>
                <a:t>升维</a:t>
              </a:r>
            </a:p>
          </p:txBody>
        </p:sp>
        <p:sp>
          <p:nvSpPr>
            <p:cNvPr id="85" name="箭头: 右 84">
              <a:extLst>
                <a:ext uri="{FF2B5EF4-FFF2-40B4-BE49-F238E27FC236}">
                  <a16:creationId xmlns:a16="http://schemas.microsoft.com/office/drawing/2014/main" id="{B91058D8-11E6-4671-BE3C-AFEDD711021A}"/>
                </a:ext>
              </a:extLst>
            </p:cNvPr>
            <p:cNvSpPr/>
            <p:nvPr/>
          </p:nvSpPr>
          <p:spPr>
            <a:xfrm>
              <a:off x="3750957" y="3384724"/>
              <a:ext cx="417324" cy="252120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矩形: 圆角 26">
              <a:extLst>
                <a:ext uri="{FF2B5EF4-FFF2-40B4-BE49-F238E27FC236}">
                  <a16:creationId xmlns:a16="http://schemas.microsoft.com/office/drawing/2014/main" id="{C368C6EF-A542-4501-A31B-8D9E1A2228B2}"/>
                </a:ext>
              </a:extLst>
            </p:cNvPr>
            <p:cNvSpPr/>
            <p:nvPr/>
          </p:nvSpPr>
          <p:spPr>
            <a:xfrm>
              <a:off x="4345734" y="3290500"/>
              <a:ext cx="1388286" cy="474220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  <a:ln w="190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/>
                <a:t>FNO Layer</a:t>
              </a:r>
              <a:endParaRPr lang="zh-CN" altLang="en-US" b="1" dirty="0"/>
            </a:p>
          </p:txBody>
        </p:sp>
        <p:sp>
          <p:nvSpPr>
            <p:cNvPr id="88" name="文本框 87">
              <a:extLst>
                <a:ext uri="{FF2B5EF4-FFF2-40B4-BE49-F238E27FC236}">
                  <a16:creationId xmlns:a16="http://schemas.microsoft.com/office/drawing/2014/main" id="{333B436B-DEF6-4F53-A5DE-EF5AEB246DCB}"/>
                </a:ext>
              </a:extLst>
            </p:cNvPr>
            <p:cNvSpPr txBox="1"/>
            <p:nvPr/>
          </p:nvSpPr>
          <p:spPr>
            <a:xfrm>
              <a:off x="4584635" y="3865503"/>
              <a:ext cx="91048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x N</a:t>
              </a:r>
              <a:r>
                <a:rPr lang="zh-CN" altLang="en-US" b="1" dirty="0"/>
                <a:t>层</a:t>
              </a:r>
            </a:p>
          </p:txBody>
        </p:sp>
        <p:sp>
          <p:nvSpPr>
            <p:cNvPr id="89" name="箭头: 右 88">
              <a:extLst>
                <a:ext uri="{FF2B5EF4-FFF2-40B4-BE49-F238E27FC236}">
                  <a16:creationId xmlns:a16="http://schemas.microsoft.com/office/drawing/2014/main" id="{C45AAD4C-16CC-4C13-8EC2-F4D5DB58B54E}"/>
                </a:ext>
              </a:extLst>
            </p:cNvPr>
            <p:cNvSpPr/>
            <p:nvPr/>
          </p:nvSpPr>
          <p:spPr>
            <a:xfrm>
              <a:off x="5961316" y="3384724"/>
              <a:ext cx="417324" cy="252120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0" name="矩形: 圆角 89">
              <a:extLst>
                <a:ext uri="{FF2B5EF4-FFF2-40B4-BE49-F238E27FC236}">
                  <a16:creationId xmlns:a16="http://schemas.microsoft.com/office/drawing/2014/main" id="{DEADAF7B-272C-42D1-ADBE-80EEFC54EF51}"/>
                </a:ext>
              </a:extLst>
            </p:cNvPr>
            <p:cNvSpPr/>
            <p:nvPr/>
          </p:nvSpPr>
          <p:spPr>
            <a:xfrm>
              <a:off x="6605936" y="3231695"/>
              <a:ext cx="1511314" cy="591829"/>
            </a:xfrm>
            <a:prstGeom prst="roundRect">
              <a:avLst/>
            </a:prstGeom>
            <a:solidFill>
              <a:schemeClr val="accent3"/>
            </a:solidFill>
            <a:ln w="190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/>
                <a:t>FC Layer</a:t>
              </a:r>
            </a:p>
            <a:p>
              <a:pPr algn="ctr"/>
              <a:r>
                <a:rPr lang="en-US" altLang="zh-CN" b="1" dirty="0"/>
                <a:t>+ </a:t>
              </a:r>
              <a:r>
                <a:rPr lang="zh-CN" altLang="en-US" b="1" dirty="0"/>
                <a:t>激活函数</a:t>
              </a:r>
            </a:p>
          </p:txBody>
        </p:sp>
        <p:sp>
          <p:nvSpPr>
            <p:cNvPr id="91" name="箭头: 右 90">
              <a:extLst>
                <a:ext uri="{FF2B5EF4-FFF2-40B4-BE49-F238E27FC236}">
                  <a16:creationId xmlns:a16="http://schemas.microsoft.com/office/drawing/2014/main" id="{9C304A34-47D7-486B-A11F-E7DC7F6271D8}"/>
                </a:ext>
              </a:extLst>
            </p:cNvPr>
            <p:cNvSpPr/>
            <p:nvPr/>
          </p:nvSpPr>
          <p:spPr>
            <a:xfrm>
              <a:off x="8349128" y="3376934"/>
              <a:ext cx="417324" cy="252120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2" name="立方体 91">
              <a:extLst>
                <a:ext uri="{FF2B5EF4-FFF2-40B4-BE49-F238E27FC236}">
                  <a16:creationId xmlns:a16="http://schemas.microsoft.com/office/drawing/2014/main" id="{A1E65BD6-4ACC-4333-A9FE-2C995C28222B}"/>
                </a:ext>
              </a:extLst>
            </p:cNvPr>
            <p:cNvSpPr/>
            <p:nvPr/>
          </p:nvSpPr>
          <p:spPr>
            <a:xfrm>
              <a:off x="9202343" y="2395922"/>
              <a:ext cx="737419" cy="1838913"/>
            </a:xfrm>
            <a:prstGeom prst="cube">
              <a:avLst>
                <a:gd name="adj" fmla="val 4311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/>
            </a:p>
          </p:txBody>
        </p:sp>
        <p:sp>
          <p:nvSpPr>
            <p:cNvPr id="97" name="文本框 96">
              <a:extLst>
                <a:ext uri="{FF2B5EF4-FFF2-40B4-BE49-F238E27FC236}">
                  <a16:creationId xmlns:a16="http://schemas.microsoft.com/office/drawing/2014/main" id="{A045C8CC-4454-4FDA-8CE7-733AD7632DC3}"/>
                </a:ext>
              </a:extLst>
            </p:cNvPr>
            <p:cNvSpPr txBox="1"/>
            <p:nvPr/>
          </p:nvSpPr>
          <p:spPr>
            <a:xfrm>
              <a:off x="9575165" y="2177141"/>
              <a:ext cx="32515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/>
                <a:t>C</a:t>
              </a:r>
              <a:endParaRPr lang="zh-CN" altLang="en-US" sz="1200" b="1" dirty="0"/>
            </a:p>
          </p:txBody>
        </p:sp>
        <p:sp>
          <p:nvSpPr>
            <p:cNvPr id="98" name="文本框 97">
              <a:extLst>
                <a:ext uri="{FF2B5EF4-FFF2-40B4-BE49-F238E27FC236}">
                  <a16:creationId xmlns:a16="http://schemas.microsoft.com/office/drawing/2014/main" id="{C5043E87-2DBE-4F09-A9D6-4728A04B20A6}"/>
                </a:ext>
              </a:extLst>
            </p:cNvPr>
            <p:cNvSpPr txBox="1"/>
            <p:nvPr/>
          </p:nvSpPr>
          <p:spPr>
            <a:xfrm>
              <a:off x="9801441" y="4121922"/>
              <a:ext cx="19775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/>
                <a:t>W</a:t>
              </a:r>
              <a:endParaRPr lang="zh-CN" altLang="en-US" sz="1200" b="1" dirty="0"/>
            </a:p>
          </p:txBody>
        </p:sp>
        <p:sp>
          <p:nvSpPr>
            <p:cNvPr id="99" name="文本框 98">
              <a:extLst>
                <a:ext uri="{FF2B5EF4-FFF2-40B4-BE49-F238E27FC236}">
                  <a16:creationId xmlns:a16="http://schemas.microsoft.com/office/drawing/2014/main" id="{588E05ED-F25C-4872-988D-96B5F861917C}"/>
                </a:ext>
              </a:extLst>
            </p:cNvPr>
            <p:cNvSpPr txBox="1"/>
            <p:nvPr/>
          </p:nvSpPr>
          <p:spPr>
            <a:xfrm>
              <a:off x="8881302" y="3316086"/>
              <a:ext cx="32515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/>
                <a:t>H</a:t>
              </a:r>
              <a:endParaRPr lang="zh-CN" altLang="en-US" sz="1200" b="1" dirty="0"/>
            </a:p>
          </p:txBody>
        </p:sp>
        <p:sp>
          <p:nvSpPr>
            <p:cNvPr id="28" name="右大括号 27">
              <a:extLst>
                <a:ext uri="{FF2B5EF4-FFF2-40B4-BE49-F238E27FC236}">
                  <a16:creationId xmlns:a16="http://schemas.microsoft.com/office/drawing/2014/main" id="{B30387EB-4EBE-45E3-9EAC-4B04A1098040}"/>
                </a:ext>
              </a:extLst>
            </p:cNvPr>
            <p:cNvSpPr/>
            <p:nvPr/>
          </p:nvSpPr>
          <p:spPr>
            <a:xfrm rot="5400000">
              <a:off x="6061192" y="442940"/>
              <a:ext cx="417324" cy="8378031"/>
            </a:xfrm>
            <a:prstGeom prst="rightBrac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ln w="28575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A3BA7042-9888-4238-8308-D72049FD94C4}"/>
                </a:ext>
              </a:extLst>
            </p:cNvPr>
            <p:cNvSpPr txBox="1"/>
            <p:nvPr/>
          </p:nvSpPr>
          <p:spPr>
            <a:xfrm>
              <a:off x="5951219" y="5029076"/>
              <a:ext cx="127053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/>
                <a:t>降维</a:t>
              </a:r>
            </a:p>
          </p:txBody>
        </p:sp>
      </p:grpSp>
      <p:sp>
        <p:nvSpPr>
          <p:cNvPr id="100" name="文本框 99">
            <a:extLst>
              <a:ext uri="{FF2B5EF4-FFF2-40B4-BE49-F238E27FC236}">
                <a16:creationId xmlns:a16="http://schemas.microsoft.com/office/drawing/2014/main" id="{8661F3EE-C76C-4B20-B813-41EFF04F7319}"/>
              </a:ext>
            </a:extLst>
          </p:cNvPr>
          <p:cNvSpPr txBox="1"/>
          <p:nvPr/>
        </p:nvSpPr>
        <p:spPr>
          <a:xfrm>
            <a:off x="3829409" y="5191284"/>
            <a:ext cx="16236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常见 </a:t>
            </a:r>
            <a:r>
              <a:rPr lang="en-US" altLang="zh-CN" b="1" dirty="0"/>
              <a:t>FNC net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10510253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203</TotalTime>
  <Words>1385</Words>
  <Application>Microsoft Office PowerPoint</Application>
  <PresentationFormat>宽屏</PresentationFormat>
  <Paragraphs>390</Paragraphs>
  <Slides>30</Slides>
  <Notes>27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36" baseType="lpstr">
      <vt:lpstr>等线</vt:lpstr>
      <vt:lpstr>等线 Light</vt:lpstr>
      <vt:lpstr>Arial</vt:lpstr>
      <vt:lpstr>Cambria Math</vt:lpstr>
      <vt:lpstr>Consolas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恒 吴</dc:creator>
  <cp:lastModifiedBy>恒 吴</cp:lastModifiedBy>
  <cp:revision>25</cp:revision>
  <dcterms:created xsi:type="dcterms:W3CDTF">2026-05-11T07:20:09Z</dcterms:created>
  <dcterms:modified xsi:type="dcterms:W3CDTF">2026-05-20T08:51:33Z</dcterms:modified>
</cp:coreProperties>
</file>